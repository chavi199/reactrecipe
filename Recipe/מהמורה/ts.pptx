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sldIdLst>
    <p:sldId id="256" r:id="rId2"/>
    <p:sldId id="265" r:id="rId3"/>
    <p:sldId id="266" r:id="rId4"/>
    <p:sldId id="267" r:id="rId5"/>
    <p:sldId id="268" r:id="rId6"/>
    <p:sldId id="284" r:id="rId7"/>
    <p:sldId id="269" r:id="rId8"/>
    <p:sldId id="270" r:id="rId9"/>
    <p:sldId id="271" r:id="rId10"/>
    <p:sldId id="272" r:id="rId11"/>
    <p:sldId id="273" r:id="rId12"/>
    <p:sldId id="274" r:id="rId13"/>
    <p:sldId id="275" r:id="rId14"/>
    <p:sldId id="264" r:id="rId15"/>
    <p:sldId id="257" r:id="rId16"/>
    <p:sldId id="258" r:id="rId17"/>
    <p:sldId id="259" r:id="rId18"/>
    <p:sldId id="260" r:id="rId19"/>
    <p:sldId id="276" r:id="rId20"/>
    <p:sldId id="261" r:id="rId21"/>
    <p:sldId id="286" r:id="rId22"/>
    <p:sldId id="287" r:id="rId23"/>
    <p:sldId id="288" r:id="rId24"/>
    <p:sldId id="293" r:id="rId25"/>
    <p:sldId id="279" r:id="rId26"/>
    <p:sldId id="285" r:id="rId27"/>
    <p:sldId id="289" r:id="rId28"/>
    <p:sldId id="290" r:id="rId29"/>
    <p:sldId id="291" r:id="rId30"/>
    <p:sldId id="292" r:id="rId31"/>
    <p:sldId id="294" r:id="rId32"/>
    <p:sldId id="295" r:id="rId33"/>
    <p:sldId id="296" r:id="rId34"/>
    <p:sldId id="297" r:id="rId35"/>
    <p:sldId id="298" r:id="rId36"/>
    <p:sldId id="300" r:id="rId37"/>
    <p:sldId id="280" r:id="rId38"/>
    <p:sldId id="281" r:id="rId39"/>
    <p:sldId id="282" r:id="rId40"/>
    <p:sldId id="283" r:id="rId41"/>
    <p:sldId id="310" r:id="rId42"/>
    <p:sldId id="311" r:id="rId43"/>
    <p:sldId id="304" r:id="rId44"/>
    <p:sldId id="305" r:id="rId45"/>
    <p:sldId id="312" r:id="rId46"/>
    <p:sldId id="306" r:id="rId47"/>
    <p:sldId id="307" r:id="rId48"/>
    <p:sldId id="308" r:id="rId49"/>
    <p:sldId id="309" r:id="rId50"/>
    <p:sldId id="313" r:id="rId51"/>
    <p:sldId id="314" r:id="rId52"/>
    <p:sldId id="315" r:id="rId53"/>
    <p:sldId id="316" r:id="rId54"/>
    <p:sldId id="318" r:id="rId55"/>
    <p:sldId id="317" r:id="rId56"/>
    <p:sldId id="319" r:id="rId57"/>
    <p:sldId id="323" r:id="rId58"/>
    <p:sldId id="324" r:id="rId59"/>
    <p:sldId id="325" r:id="rId60"/>
    <p:sldId id="320" r:id="rId61"/>
    <p:sldId id="321" r:id="rId62"/>
    <p:sldId id="322" r:id="rId63"/>
    <p:sldId id="326" r:id="rId64"/>
    <p:sldId id="328" r:id="rId65"/>
    <p:sldId id="332" r:id="rId66"/>
    <p:sldId id="327" r:id="rId67"/>
    <p:sldId id="329" r:id="rId68"/>
    <p:sldId id="330" r:id="rId69"/>
    <p:sldId id="331" r:id="rId70"/>
    <p:sldId id="333" r:id="rId71"/>
    <p:sldId id="339" r:id="rId72"/>
    <p:sldId id="340" r:id="rId73"/>
    <p:sldId id="334" r:id="rId74"/>
    <p:sldId id="335" r:id="rId75"/>
    <p:sldId id="341" r:id="rId76"/>
    <p:sldId id="342" r:id="rId77"/>
    <p:sldId id="343" r:id="rId78"/>
    <p:sldId id="344" r:id="rId79"/>
    <p:sldId id="345" r:id="rId80"/>
    <p:sldId id="346" r:id="rId81"/>
    <p:sldId id="347" r:id="rId82"/>
    <p:sldId id="348" r:id="rId83"/>
    <p:sldId id="349" r:id="rId84"/>
    <p:sldId id="350" r:id="rId85"/>
    <p:sldId id="351" r:id="rId86"/>
    <p:sldId id="336" r:id="rId87"/>
    <p:sldId id="337" r:id="rId88"/>
    <p:sldId id="338" r:id="rId89"/>
    <p:sldId id="352" r:id="rId90"/>
    <p:sldId id="354" r:id="rId91"/>
    <p:sldId id="355" r:id="rId92"/>
    <p:sldId id="356" r:id="rId93"/>
    <p:sldId id="357" r:id="rId94"/>
    <p:sldId id="358" r:id="rId95"/>
    <p:sldId id="359" r:id="rId96"/>
    <p:sldId id="360" r:id="rId97"/>
    <p:sldId id="361" r:id="rId98"/>
    <p:sldId id="362" r:id="rId99"/>
    <p:sldId id="363" r:id="rId100"/>
    <p:sldId id="364" r:id="rId101"/>
    <p:sldId id="365" r:id="rId102"/>
    <p:sldId id="366" r:id="rId103"/>
    <p:sldId id="367" r:id="rId104"/>
    <p:sldId id="368" r:id="rId105"/>
    <p:sldId id="369" r:id="rId106"/>
    <p:sldId id="372" r:id="rId107"/>
    <p:sldId id="277" r:id="rId108"/>
    <p:sldId id="353" r:id="rId109"/>
    <p:sldId id="370" r:id="rId110"/>
    <p:sldId id="371" r:id="rId111"/>
    <p:sldId id="373" r:id="rId112"/>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4016" autoAdjust="0"/>
    <p:restoredTop sz="94660"/>
  </p:normalViewPr>
  <p:slideViewPr>
    <p:cSldViewPr snapToGrid="0">
      <p:cViewPr varScale="1">
        <p:scale>
          <a:sx n="114" d="100"/>
          <a:sy n="114" d="100"/>
        </p:scale>
        <p:origin x="41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8345C3E-E27A-4651-9884-3B459F0F3E70}"/>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a:extLst>
              <a:ext uri="{FF2B5EF4-FFF2-40B4-BE49-F238E27FC236}">
                <a16:creationId xmlns:a16="http://schemas.microsoft.com/office/drawing/2014/main" id="{645AA814-0C1A-4F81-AFBC-9F4EB649E5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DB0B2035-3DAD-4754-A30B-74A69903F977}"/>
              </a:ext>
            </a:extLst>
          </p:cNvPr>
          <p:cNvSpPr>
            <a:spLocks noGrp="1"/>
          </p:cNvSpPr>
          <p:nvPr>
            <p:ph type="dt" sz="half" idx="10"/>
          </p:nvPr>
        </p:nvSpPr>
        <p:spPr/>
        <p:txBody>
          <a:bodyPr/>
          <a:lstStyle/>
          <a:p>
            <a:fld id="{39E6E81F-CD0D-4AFB-88C2-40949FBBB2A1}" type="datetimeFigureOut">
              <a:rPr lang="he-IL" smtClean="0"/>
              <a:t>י"ג/שבט/תשפ"ה</a:t>
            </a:fld>
            <a:endParaRPr lang="he-IL"/>
          </a:p>
        </p:txBody>
      </p:sp>
      <p:sp>
        <p:nvSpPr>
          <p:cNvPr id="5" name="מציין מיקום של כותרת תחתונה 4">
            <a:extLst>
              <a:ext uri="{FF2B5EF4-FFF2-40B4-BE49-F238E27FC236}">
                <a16:creationId xmlns:a16="http://schemas.microsoft.com/office/drawing/2014/main" id="{C491C76F-9B6F-4580-9BD9-A21689F767B5}"/>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75CCB5B4-180B-489F-B51A-F2357989D6E1}"/>
              </a:ext>
            </a:extLst>
          </p:cNvPr>
          <p:cNvSpPr>
            <a:spLocks noGrp="1"/>
          </p:cNvSpPr>
          <p:nvPr>
            <p:ph type="sldNum" sz="quarter" idx="12"/>
          </p:nvPr>
        </p:nvSpPr>
        <p:spPr/>
        <p:txBody>
          <a:bodyPr/>
          <a:lstStyle/>
          <a:p>
            <a:fld id="{C4F46A71-6265-4C07-9D1B-DF51E171D4DC}" type="slidenum">
              <a:rPr lang="he-IL" smtClean="0"/>
              <a:t>‹#›</a:t>
            </a:fld>
            <a:endParaRPr lang="he-IL"/>
          </a:p>
        </p:txBody>
      </p:sp>
    </p:spTree>
    <p:extLst>
      <p:ext uri="{BB962C8B-B14F-4D97-AF65-F5344CB8AC3E}">
        <p14:creationId xmlns:p14="http://schemas.microsoft.com/office/powerpoint/2010/main" val="39035082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4A00D06-A305-4479-90B6-8E21E0B92DFF}"/>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EA9269F7-DFE0-4E23-B7B9-40AA08479D14}"/>
              </a:ext>
            </a:extLst>
          </p:cNvPr>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F8D5001F-ABE5-448A-BDC3-D5E12FD6FA6E}"/>
              </a:ext>
            </a:extLst>
          </p:cNvPr>
          <p:cNvSpPr>
            <a:spLocks noGrp="1"/>
          </p:cNvSpPr>
          <p:nvPr>
            <p:ph type="dt" sz="half" idx="10"/>
          </p:nvPr>
        </p:nvSpPr>
        <p:spPr/>
        <p:txBody>
          <a:bodyPr/>
          <a:lstStyle/>
          <a:p>
            <a:fld id="{39E6E81F-CD0D-4AFB-88C2-40949FBBB2A1}" type="datetimeFigureOut">
              <a:rPr lang="he-IL" smtClean="0"/>
              <a:t>י"ג/שבט/תשפ"ה</a:t>
            </a:fld>
            <a:endParaRPr lang="he-IL"/>
          </a:p>
        </p:txBody>
      </p:sp>
      <p:sp>
        <p:nvSpPr>
          <p:cNvPr id="5" name="מציין מיקום של כותרת תחתונה 4">
            <a:extLst>
              <a:ext uri="{FF2B5EF4-FFF2-40B4-BE49-F238E27FC236}">
                <a16:creationId xmlns:a16="http://schemas.microsoft.com/office/drawing/2014/main" id="{5A18D262-69E4-4FDF-A0CE-D9C53C48C190}"/>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2C5CC60A-2BE9-4915-9A5E-28A1BCE20ABA}"/>
              </a:ext>
            </a:extLst>
          </p:cNvPr>
          <p:cNvSpPr>
            <a:spLocks noGrp="1"/>
          </p:cNvSpPr>
          <p:nvPr>
            <p:ph type="sldNum" sz="quarter" idx="12"/>
          </p:nvPr>
        </p:nvSpPr>
        <p:spPr/>
        <p:txBody>
          <a:bodyPr/>
          <a:lstStyle/>
          <a:p>
            <a:fld id="{C4F46A71-6265-4C07-9D1B-DF51E171D4DC}" type="slidenum">
              <a:rPr lang="he-IL" smtClean="0"/>
              <a:t>‹#›</a:t>
            </a:fld>
            <a:endParaRPr lang="he-IL"/>
          </a:p>
        </p:txBody>
      </p:sp>
    </p:spTree>
    <p:extLst>
      <p:ext uri="{BB962C8B-B14F-4D97-AF65-F5344CB8AC3E}">
        <p14:creationId xmlns:p14="http://schemas.microsoft.com/office/powerpoint/2010/main" val="4119830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418CD1B-A196-404B-BEA6-CF440F6E150B}"/>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453E1945-D5D4-41E3-8137-1D36DFA491A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ערוך סגנונות טקסט של תבנית בסיס</a:t>
            </a:r>
          </a:p>
        </p:txBody>
      </p:sp>
      <p:sp>
        <p:nvSpPr>
          <p:cNvPr id="4" name="מציין מיקום של תאריך 3">
            <a:extLst>
              <a:ext uri="{FF2B5EF4-FFF2-40B4-BE49-F238E27FC236}">
                <a16:creationId xmlns:a16="http://schemas.microsoft.com/office/drawing/2014/main" id="{C8CEEBE5-9261-4BAE-83CB-91CE72097C4E}"/>
              </a:ext>
            </a:extLst>
          </p:cNvPr>
          <p:cNvSpPr>
            <a:spLocks noGrp="1"/>
          </p:cNvSpPr>
          <p:nvPr>
            <p:ph type="dt" sz="half" idx="10"/>
          </p:nvPr>
        </p:nvSpPr>
        <p:spPr/>
        <p:txBody>
          <a:bodyPr/>
          <a:lstStyle/>
          <a:p>
            <a:fld id="{39E6E81F-CD0D-4AFB-88C2-40949FBBB2A1}" type="datetimeFigureOut">
              <a:rPr lang="he-IL" smtClean="0"/>
              <a:t>י"ג/שבט/תשפ"ה</a:t>
            </a:fld>
            <a:endParaRPr lang="he-IL"/>
          </a:p>
        </p:txBody>
      </p:sp>
      <p:sp>
        <p:nvSpPr>
          <p:cNvPr id="5" name="מציין מיקום של כותרת תחתונה 4">
            <a:extLst>
              <a:ext uri="{FF2B5EF4-FFF2-40B4-BE49-F238E27FC236}">
                <a16:creationId xmlns:a16="http://schemas.microsoft.com/office/drawing/2014/main" id="{E870893D-1046-440C-BE90-C373BE829817}"/>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5190490E-3660-4766-9F52-801652148C80}"/>
              </a:ext>
            </a:extLst>
          </p:cNvPr>
          <p:cNvSpPr>
            <a:spLocks noGrp="1"/>
          </p:cNvSpPr>
          <p:nvPr>
            <p:ph type="sldNum" sz="quarter" idx="12"/>
          </p:nvPr>
        </p:nvSpPr>
        <p:spPr/>
        <p:txBody>
          <a:bodyPr/>
          <a:lstStyle/>
          <a:p>
            <a:fld id="{C4F46A71-6265-4C07-9D1B-DF51E171D4DC}" type="slidenum">
              <a:rPr lang="he-IL" smtClean="0"/>
              <a:t>‹#›</a:t>
            </a:fld>
            <a:endParaRPr lang="he-IL"/>
          </a:p>
        </p:txBody>
      </p:sp>
    </p:spTree>
    <p:extLst>
      <p:ext uri="{BB962C8B-B14F-4D97-AF65-F5344CB8AC3E}">
        <p14:creationId xmlns:p14="http://schemas.microsoft.com/office/powerpoint/2010/main" val="37313652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E299E86-A55B-4ED8-BD51-5E88006C2E85}"/>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195A56FE-76CC-4397-A45A-1EDF8A7ACF30}"/>
              </a:ext>
            </a:extLst>
          </p:cNvPr>
          <p:cNvSpPr>
            <a:spLocks noGrp="1"/>
          </p:cNvSpPr>
          <p:nvPr>
            <p:ph sz="half" idx="1"/>
          </p:nvPr>
        </p:nvSpPr>
        <p:spPr>
          <a:xfrm>
            <a:off x="838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תוכן 3">
            <a:extLst>
              <a:ext uri="{FF2B5EF4-FFF2-40B4-BE49-F238E27FC236}">
                <a16:creationId xmlns:a16="http://schemas.microsoft.com/office/drawing/2014/main" id="{77A3D051-9CF6-41DF-9B88-C805FDA200DE}"/>
              </a:ext>
            </a:extLst>
          </p:cNvPr>
          <p:cNvSpPr>
            <a:spLocks noGrp="1"/>
          </p:cNvSpPr>
          <p:nvPr>
            <p:ph sz="half" idx="2"/>
          </p:nvPr>
        </p:nvSpPr>
        <p:spPr>
          <a:xfrm>
            <a:off x="6172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של תאריך 4">
            <a:extLst>
              <a:ext uri="{FF2B5EF4-FFF2-40B4-BE49-F238E27FC236}">
                <a16:creationId xmlns:a16="http://schemas.microsoft.com/office/drawing/2014/main" id="{FA8EA813-5AED-4FDB-92BD-550D6F0AC922}"/>
              </a:ext>
            </a:extLst>
          </p:cNvPr>
          <p:cNvSpPr>
            <a:spLocks noGrp="1"/>
          </p:cNvSpPr>
          <p:nvPr>
            <p:ph type="dt" sz="half" idx="10"/>
          </p:nvPr>
        </p:nvSpPr>
        <p:spPr/>
        <p:txBody>
          <a:bodyPr/>
          <a:lstStyle/>
          <a:p>
            <a:fld id="{39E6E81F-CD0D-4AFB-88C2-40949FBBB2A1}" type="datetimeFigureOut">
              <a:rPr lang="he-IL" smtClean="0"/>
              <a:t>י"ג/שבט/תשפ"ה</a:t>
            </a:fld>
            <a:endParaRPr lang="he-IL"/>
          </a:p>
        </p:txBody>
      </p:sp>
      <p:sp>
        <p:nvSpPr>
          <p:cNvPr id="6" name="מציין מיקום של כותרת תחתונה 5">
            <a:extLst>
              <a:ext uri="{FF2B5EF4-FFF2-40B4-BE49-F238E27FC236}">
                <a16:creationId xmlns:a16="http://schemas.microsoft.com/office/drawing/2014/main" id="{A3FAF63D-768F-4C81-8964-0A860018F69C}"/>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51FFAFFE-1AB3-413B-AA4D-A0D64A0D6E1B}"/>
              </a:ext>
            </a:extLst>
          </p:cNvPr>
          <p:cNvSpPr>
            <a:spLocks noGrp="1"/>
          </p:cNvSpPr>
          <p:nvPr>
            <p:ph type="sldNum" sz="quarter" idx="12"/>
          </p:nvPr>
        </p:nvSpPr>
        <p:spPr/>
        <p:txBody>
          <a:bodyPr/>
          <a:lstStyle/>
          <a:p>
            <a:fld id="{C4F46A71-6265-4C07-9D1B-DF51E171D4DC}" type="slidenum">
              <a:rPr lang="he-IL" smtClean="0"/>
              <a:t>‹#›</a:t>
            </a:fld>
            <a:endParaRPr lang="he-IL"/>
          </a:p>
        </p:txBody>
      </p:sp>
    </p:spTree>
    <p:extLst>
      <p:ext uri="{BB962C8B-B14F-4D97-AF65-F5344CB8AC3E}">
        <p14:creationId xmlns:p14="http://schemas.microsoft.com/office/powerpoint/2010/main" val="34067024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163BE47-BDD5-4C65-8B4C-2FDB2A2EF652}"/>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E07D798C-4CC5-4C6E-A494-761869225EF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4" name="מציין מיקום תוכן 3">
            <a:extLst>
              <a:ext uri="{FF2B5EF4-FFF2-40B4-BE49-F238E27FC236}">
                <a16:creationId xmlns:a16="http://schemas.microsoft.com/office/drawing/2014/main" id="{C79C8A15-15FE-44CE-8BB8-3BC16F64EECE}"/>
              </a:ext>
            </a:extLst>
          </p:cNvPr>
          <p:cNvSpPr>
            <a:spLocks noGrp="1"/>
          </p:cNvSpPr>
          <p:nvPr>
            <p:ph sz="half" idx="2"/>
          </p:nvPr>
        </p:nvSpPr>
        <p:spPr>
          <a:xfrm>
            <a:off x="839788" y="2505075"/>
            <a:ext cx="5157787"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טקסט 4">
            <a:extLst>
              <a:ext uri="{FF2B5EF4-FFF2-40B4-BE49-F238E27FC236}">
                <a16:creationId xmlns:a16="http://schemas.microsoft.com/office/drawing/2014/main" id="{F8907CAC-87E4-48F5-AD44-E841DC0343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6" name="מציין מיקום תוכן 5">
            <a:extLst>
              <a:ext uri="{FF2B5EF4-FFF2-40B4-BE49-F238E27FC236}">
                <a16:creationId xmlns:a16="http://schemas.microsoft.com/office/drawing/2014/main" id="{DC7FBBC7-4132-46BA-ACD4-966F1B9C0D4A}"/>
              </a:ext>
            </a:extLst>
          </p:cNvPr>
          <p:cNvSpPr>
            <a:spLocks noGrp="1"/>
          </p:cNvSpPr>
          <p:nvPr>
            <p:ph sz="quarter" idx="4"/>
          </p:nvPr>
        </p:nvSpPr>
        <p:spPr>
          <a:xfrm>
            <a:off x="6172200" y="2505075"/>
            <a:ext cx="5183188"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7" name="מציין מיקום של תאריך 6">
            <a:extLst>
              <a:ext uri="{FF2B5EF4-FFF2-40B4-BE49-F238E27FC236}">
                <a16:creationId xmlns:a16="http://schemas.microsoft.com/office/drawing/2014/main" id="{13C2075C-4AB8-4599-8929-C443065E6F43}"/>
              </a:ext>
            </a:extLst>
          </p:cNvPr>
          <p:cNvSpPr>
            <a:spLocks noGrp="1"/>
          </p:cNvSpPr>
          <p:nvPr>
            <p:ph type="dt" sz="half" idx="10"/>
          </p:nvPr>
        </p:nvSpPr>
        <p:spPr/>
        <p:txBody>
          <a:bodyPr/>
          <a:lstStyle/>
          <a:p>
            <a:fld id="{39E6E81F-CD0D-4AFB-88C2-40949FBBB2A1}" type="datetimeFigureOut">
              <a:rPr lang="he-IL" smtClean="0"/>
              <a:t>י"ג/שבט/תשפ"ה</a:t>
            </a:fld>
            <a:endParaRPr lang="he-IL"/>
          </a:p>
        </p:txBody>
      </p:sp>
      <p:sp>
        <p:nvSpPr>
          <p:cNvPr id="8" name="מציין מיקום של כותרת תחתונה 7">
            <a:extLst>
              <a:ext uri="{FF2B5EF4-FFF2-40B4-BE49-F238E27FC236}">
                <a16:creationId xmlns:a16="http://schemas.microsoft.com/office/drawing/2014/main" id="{00FA290F-5050-4D33-9657-E1BF51728490}"/>
              </a:ext>
            </a:extLst>
          </p:cNvPr>
          <p:cNvSpPr>
            <a:spLocks noGrp="1"/>
          </p:cNvSpPr>
          <p:nvPr>
            <p:ph type="ftr" sz="quarter" idx="11"/>
          </p:nvPr>
        </p:nvSpPr>
        <p:spPr/>
        <p:txBody>
          <a:bodyPr/>
          <a:lstStyle/>
          <a:p>
            <a:endParaRPr lang="he-IL"/>
          </a:p>
        </p:txBody>
      </p:sp>
      <p:sp>
        <p:nvSpPr>
          <p:cNvPr id="9" name="מציין מיקום של מספר שקופית 8">
            <a:extLst>
              <a:ext uri="{FF2B5EF4-FFF2-40B4-BE49-F238E27FC236}">
                <a16:creationId xmlns:a16="http://schemas.microsoft.com/office/drawing/2014/main" id="{87E5B656-221B-4FCC-B387-A13DF37277D7}"/>
              </a:ext>
            </a:extLst>
          </p:cNvPr>
          <p:cNvSpPr>
            <a:spLocks noGrp="1"/>
          </p:cNvSpPr>
          <p:nvPr>
            <p:ph type="sldNum" sz="quarter" idx="12"/>
          </p:nvPr>
        </p:nvSpPr>
        <p:spPr/>
        <p:txBody>
          <a:bodyPr/>
          <a:lstStyle/>
          <a:p>
            <a:fld id="{C4F46A71-6265-4C07-9D1B-DF51E171D4DC}" type="slidenum">
              <a:rPr lang="he-IL" smtClean="0"/>
              <a:t>‹#›</a:t>
            </a:fld>
            <a:endParaRPr lang="he-IL"/>
          </a:p>
        </p:txBody>
      </p:sp>
    </p:spTree>
    <p:extLst>
      <p:ext uri="{BB962C8B-B14F-4D97-AF65-F5344CB8AC3E}">
        <p14:creationId xmlns:p14="http://schemas.microsoft.com/office/powerpoint/2010/main" val="5581364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F1C0FA3-6EAE-4D9C-A08B-FF84ABEB367F}"/>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4F176405-17B4-4BAD-BE72-5FEF04CAC53C}"/>
              </a:ext>
            </a:extLst>
          </p:cNvPr>
          <p:cNvSpPr>
            <a:spLocks noGrp="1"/>
          </p:cNvSpPr>
          <p:nvPr>
            <p:ph type="dt" sz="half" idx="10"/>
          </p:nvPr>
        </p:nvSpPr>
        <p:spPr/>
        <p:txBody>
          <a:bodyPr/>
          <a:lstStyle/>
          <a:p>
            <a:fld id="{39E6E81F-CD0D-4AFB-88C2-40949FBBB2A1}" type="datetimeFigureOut">
              <a:rPr lang="he-IL" smtClean="0"/>
              <a:t>י"ג/שבט/תשפ"ה</a:t>
            </a:fld>
            <a:endParaRPr lang="he-IL"/>
          </a:p>
        </p:txBody>
      </p:sp>
      <p:sp>
        <p:nvSpPr>
          <p:cNvPr id="4" name="מציין מיקום של כותרת תחתונה 3">
            <a:extLst>
              <a:ext uri="{FF2B5EF4-FFF2-40B4-BE49-F238E27FC236}">
                <a16:creationId xmlns:a16="http://schemas.microsoft.com/office/drawing/2014/main" id="{93E19225-157B-4F4E-AD5B-10DB3C12DC90}"/>
              </a:ext>
            </a:extLst>
          </p:cNvPr>
          <p:cNvSpPr>
            <a:spLocks noGrp="1"/>
          </p:cNvSpPr>
          <p:nvPr>
            <p:ph type="ftr" sz="quarter" idx="11"/>
          </p:nvPr>
        </p:nvSpPr>
        <p:spPr/>
        <p:txBody>
          <a:bodyPr/>
          <a:lstStyle/>
          <a:p>
            <a:endParaRPr lang="he-IL"/>
          </a:p>
        </p:txBody>
      </p:sp>
      <p:sp>
        <p:nvSpPr>
          <p:cNvPr id="5" name="מציין מיקום של מספר שקופית 4">
            <a:extLst>
              <a:ext uri="{FF2B5EF4-FFF2-40B4-BE49-F238E27FC236}">
                <a16:creationId xmlns:a16="http://schemas.microsoft.com/office/drawing/2014/main" id="{8CAF043A-2925-4270-B571-3FD2C6D19569}"/>
              </a:ext>
            </a:extLst>
          </p:cNvPr>
          <p:cNvSpPr>
            <a:spLocks noGrp="1"/>
          </p:cNvSpPr>
          <p:nvPr>
            <p:ph type="sldNum" sz="quarter" idx="12"/>
          </p:nvPr>
        </p:nvSpPr>
        <p:spPr/>
        <p:txBody>
          <a:bodyPr/>
          <a:lstStyle/>
          <a:p>
            <a:fld id="{C4F46A71-6265-4C07-9D1B-DF51E171D4DC}" type="slidenum">
              <a:rPr lang="he-IL" smtClean="0"/>
              <a:t>‹#›</a:t>
            </a:fld>
            <a:endParaRPr lang="he-IL"/>
          </a:p>
        </p:txBody>
      </p:sp>
    </p:spTree>
    <p:extLst>
      <p:ext uri="{BB962C8B-B14F-4D97-AF65-F5344CB8AC3E}">
        <p14:creationId xmlns:p14="http://schemas.microsoft.com/office/powerpoint/2010/main" val="29813714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D79B5EBB-4B1A-486C-8A79-18D80E813BD8}"/>
              </a:ext>
            </a:extLst>
          </p:cNvPr>
          <p:cNvSpPr>
            <a:spLocks noGrp="1"/>
          </p:cNvSpPr>
          <p:nvPr>
            <p:ph type="dt" sz="half" idx="10"/>
          </p:nvPr>
        </p:nvSpPr>
        <p:spPr/>
        <p:txBody>
          <a:bodyPr/>
          <a:lstStyle/>
          <a:p>
            <a:fld id="{39E6E81F-CD0D-4AFB-88C2-40949FBBB2A1}" type="datetimeFigureOut">
              <a:rPr lang="he-IL" smtClean="0"/>
              <a:t>י"ג/שבט/תשפ"ה</a:t>
            </a:fld>
            <a:endParaRPr lang="he-IL"/>
          </a:p>
        </p:txBody>
      </p:sp>
      <p:sp>
        <p:nvSpPr>
          <p:cNvPr id="3" name="מציין מיקום של כותרת תחתונה 2">
            <a:extLst>
              <a:ext uri="{FF2B5EF4-FFF2-40B4-BE49-F238E27FC236}">
                <a16:creationId xmlns:a16="http://schemas.microsoft.com/office/drawing/2014/main" id="{E949BAFE-430A-4BA5-8DA7-AC1282053C11}"/>
              </a:ext>
            </a:extLst>
          </p:cNvPr>
          <p:cNvSpPr>
            <a:spLocks noGrp="1"/>
          </p:cNvSpPr>
          <p:nvPr>
            <p:ph type="ftr" sz="quarter" idx="11"/>
          </p:nvPr>
        </p:nvSpPr>
        <p:spPr/>
        <p:txBody>
          <a:bodyPr/>
          <a:lstStyle/>
          <a:p>
            <a:endParaRPr lang="he-IL"/>
          </a:p>
        </p:txBody>
      </p:sp>
      <p:sp>
        <p:nvSpPr>
          <p:cNvPr id="4" name="מציין מיקום של מספר שקופית 3">
            <a:extLst>
              <a:ext uri="{FF2B5EF4-FFF2-40B4-BE49-F238E27FC236}">
                <a16:creationId xmlns:a16="http://schemas.microsoft.com/office/drawing/2014/main" id="{EBD0F31F-6957-4D90-BC1B-ECF4FC352D64}"/>
              </a:ext>
            </a:extLst>
          </p:cNvPr>
          <p:cNvSpPr>
            <a:spLocks noGrp="1"/>
          </p:cNvSpPr>
          <p:nvPr>
            <p:ph type="sldNum" sz="quarter" idx="12"/>
          </p:nvPr>
        </p:nvSpPr>
        <p:spPr/>
        <p:txBody>
          <a:bodyPr/>
          <a:lstStyle/>
          <a:p>
            <a:fld id="{C4F46A71-6265-4C07-9D1B-DF51E171D4DC}" type="slidenum">
              <a:rPr lang="he-IL" smtClean="0"/>
              <a:t>‹#›</a:t>
            </a:fld>
            <a:endParaRPr lang="he-IL"/>
          </a:p>
        </p:txBody>
      </p:sp>
    </p:spTree>
    <p:extLst>
      <p:ext uri="{BB962C8B-B14F-4D97-AF65-F5344CB8AC3E}">
        <p14:creationId xmlns:p14="http://schemas.microsoft.com/office/powerpoint/2010/main" val="31801108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2D8B255-EB49-4DFE-9B49-E788D5BEDE00}"/>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5B777074-629D-41B4-B26F-84FC9D185B7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טקסט 3">
            <a:extLst>
              <a:ext uri="{FF2B5EF4-FFF2-40B4-BE49-F238E27FC236}">
                <a16:creationId xmlns:a16="http://schemas.microsoft.com/office/drawing/2014/main" id="{9AD5CB97-81EC-4E10-B435-28370DF5A5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a:extLst>
              <a:ext uri="{FF2B5EF4-FFF2-40B4-BE49-F238E27FC236}">
                <a16:creationId xmlns:a16="http://schemas.microsoft.com/office/drawing/2014/main" id="{0CB093CE-506A-4D98-959F-B328E783E0AD}"/>
              </a:ext>
            </a:extLst>
          </p:cNvPr>
          <p:cNvSpPr>
            <a:spLocks noGrp="1"/>
          </p:cNvSpPr>
          <p:nvPr>
            <p:ph type="dt" sz="half" idx="10"/>
          </p:nvPr>
        </p:nvSpPr>
        <p:spPr/>
        <p:txBody>
          <a:bodyPr/>
          <a:lstStyle/>
          <a:p>
            <a:fld id="{39E6E81F-CD0D-4AFB-88C2-40949FBBB2A1}" type="datetimeFigureOut">
              <a:rPr lang="he-IL" smtClean="0"/>
              <a:t>י"ג/שבט/תשפ"ה</a:t>
            </a:fld>
            <a:endParaRPr lang="he-IL"/>
          </a:p>
        </p:txBody>
      </p:sp>
      <p:sp>
        <p:nvSpPr>
          <p:cNvPr id="6" name="מציין מיקום של כותרת תחתונה 5">
            <a:extLst>
              <a:ext uri="{FF2B5EF4-FFF2-40B4-BE49-F238E27FC236}">
                <a16:creationId xmlns:a16="http://schemas.microsoft.com/office/drawing/2014/main" id="{07A16AF5-EE55-431C-9B01-4C04F6D8A55A}"/>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1A46D829-1F46-4F63-975A-45F04C439698}"/>
              </a:ext>
            </a:extLst>
          </p:cNvPr>
          <p:cNvSpPr>
            <a:spLocks noGrp="1"/>
          </p:cNvSpPr>
          <p:nvPr>
            <p:ph type="sldNum" sz="quarter" idx="12"/>
          </p:nvPr>
        </p:nvSpPr>
        <p:spPr/>
        <p:txBody>
          <a:bodyPr/>
          <a:lstStyle/>
          <a:p>
            <a:fld id="{C4F46A71-6265-4C07-9D1B-DF51E171D4DC}" type="slidenum">
              <a:rPr lang="he-IL" smtClean="0"/>
              <a:t>‹#›</a:t>
            </a:fld>
            <a:endParaRPr lang="he-IL"/>
          </a:p>
        </p:txBody>
      </p:sp>
    </p:spTree>
    <p:extLst>
      <p:ext uri="{BB962C8B-B14F-4D97-AF65-F5344CB8AC3E}">
        <p14:creationId xmlns:p14="http://schemas.microsoft.com/office/powerpoint/2010/main" val="2913990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6EE3B5B-E9DA-4AC0-AD21-EFBB2912AAB4}"/>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C3985A09-5567-49FC-BC55-6B1856724C8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a:extLst>
              <a:ext uri="{FF2B5EF4-FFF2-40B4-BE49-F238E27FC236}">
                <a16:creationId xmlns:a16="http://schemas.microsoft.com/office/drawing/2014/main" id="{068D1DBB-68EA-43AA-A581-9575E230C3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a:extLst>
              <a:ext uri="{FF2B5EF4-FFF2-40B4-BE49-F238E27FC236}">
                <a16:creationId xmlns:a16="http://schemas.microsoft.com/office/drawing/2014/main" id="{38BD19F9-3FC2-49FE-A893-1FB48F310C17}"/>
              </a:ext>
            </a:extLst>
          </p:cNvPr>
          <p:cNvSpPr>
            <a:spLocks noGrp="1"/>
          </p:cNvSpPr>
          <p:nvPr>
            <p:ph type="dt" sz="half" idx="10"/>
          </p:nvPr>
        </p:nvSpPr>
        <p:spPr/>
        <p:txBody>
          <a:bodyPr/>
          <a:lstStyle/>
          <a:p>
            <a:fld id="{39E6E81F-CD0D-4AFB-88C2-40949FBBB2A1}" type="datetimeFigureOut">
              <a:rPr lang="he-IL" smtClean="0"/>
              <a:t>י"ג/שבט/תשפ"ה</a:t>
            </a:fld>
            <a:endParaRPr lang="he-IL"/>
          </a:p>
        </p:txBody>
      </p:sp>
      <p:sp>
        <p:nvSpPr>
          <p:cNvPr id="6" name="מציין מיקום של כותרת תחתונה 5">
            <a:extLst>
              <a:ext uri="{FF2B5EF4-FFF2-40B4-BE49-F238E27FC236}">
                <a16:creationId xmlns:a16="http://schemas.microsoft.com/office/drawing/2014/main" id="{FD713E85-1953-4025-9A72-AD2AFFA90BDC}"/>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3F5C0DFC-1F2F-44F8-AF94-8E6AE4F72587}"/>
              </a:ext>
            </a:extLst>
          </p:cNvPr>
          <p:cNvSpPr>
            <a:spLocks noGrp="1"/>
          </p:cNvSpPr>
          <p:nvPr>
            <p:ph type="sldNum" sz="quarter" idx="12"/>
          </p:nvPr>
        </p:nvSpPr>
        <p:spPr/>
        <p:txBody>
          <a:bodyPr/>
          <a:lstStyle/>
          <a:p>
            <a:fld id="{C4F46A71-6265-4C07-9D1B-DF51E171D4DC}" type="slidenum">
              <a:rPr lang="he-IL" smtClean="0"/>
              <a:t>‹#›</a:t>
            </a:fld>
            <a:endParaRPr lang="he-IL"/>
          </a:p>
        </p:txBody>
      </p:sp>
    </p:spTree>
    <p:extLst>
      <p:ext uri="{BB962C8B-B14F-4D97-AF65-F5344CB8AC3E}">
        <p14:creationId xmlns:p14="http://schemas.microsoft.com/office/powerpoint/2010/main" val="34185531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ABB8F8A-B2E6-47AB-AB7A-A2D10CDCD179}"/>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0D95D360-8C49-48BA-BA21-4B91ACF88894}"/>
              </a:ext>
            </a:extLst>
          </p:cNvPr>
          <p:cNvSpPr>
            <a:spLocks noGrp="1"/>
          </p:cNvSpPr>
          <p:nvPr>
            <p:ph type="body" orient="vert" idx="1"/>
          </p:nvPr>
        </p:nvSpPr>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9B0823FE-A02B-4B7C-8A36-2AE1F8E26884}"/>
              </a:ext>
            </a:extLst>
          </p:cNvPr>
          <p:cNvSpPr>
            <a:spLocks noGrp="1"/>
          </p:cNvSpPr>
          <p:nvPr>
            <p:ph type="dt" sz="half" idx="10"/>
          </p:nvPr>
        </p:nvSpPr>
        <p:spPr/>
        <p:txBody>
          <a:bodyPr/>
          <a:lstStyle/>
          <a:p>
            <a:fld id="{39E6E81F-CD0D-4AFB-88C2-40949FBBB2A1}" type="datetimeFigureOut">
              <a:rPr lang="he-IL" smtClean="0"/>
              <a:t>י"ג/שבט/תשפ"ה</a:t>
            </a:fld>
            <a:endParaRPr lang="he-IL"/>
          </a:p>
        </p:txBody>
      </p:sp>
      <p:sp>
        <p:nvSpPr>
          <p:cNvPr id="5" name="מציין מיקום של כותרת תחתונה 4">
            <a:extLst>
              <a:ext uri="{FF2B5EF4-FFF2-40B4-BE49-F238E27FC236}">
                <a16:creationId xmlns:a16="http://schemas.microsoft.com/office/drawing/2014/main" id="{0982E6EE-98F9-4DB0-81A9-4CF0DC56C5FD}"/>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0D2EF656-F1A3-4FDD-8AB8-D04D19B0321F}"/>
              </a:ext>
            </a:extLst>
          </p:cNvPr>
          <p:cNvSpPr>
            <a:spLocks noGrp="1"/>
          </p:cNvSpPr>
          <p:nvPr>
            <p:ph type="sldNum" sz="quarter" idx="12"/>
          </p:nvPr>
        </p:nvSpPr>
        <p:spPr/>
        <p:txBody>
          <a:bodyPr/>
          <a:lstStyle/>
          <a:p>
            <a:fld id="{C4F46A71-6265-4C07-9D1B-DF51E171D4DC}" type="slidenum">
              <a:rPr lang="he-IL" smtClean="0"/>
              <a:t>‹#›</a:t>
            </a:fld>
            <a:endParaRPr lang="he-IL"/>
          </a:p>
        </p:txBody>
      </p:sp>
    </p:spTree>
    <p:extLst>
      <p:ext uri="{BB962C8B-B14F-4D97-AF65-F5344CB8AC3E}">
        <p14:creationId xmlns:p14="http://schemas.microsoft.com/office/powerpoint/2010/main" val="14258978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7BB9385A-3091-44C3-8DC7-AB47D205C7A5}"/>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EFC4A8C6-31D0-455D-B96E-394B0654820E}"/>
              </a:ext>
            </a:extLst>
          </p:cNvPr>
          <p:cNvSpPr>
            <a:spLocks noGrp="1"/>
          </p:cNvSpPr>
          <p:nvPr>
            <p:ph type="body" orient="vert" idx="1"/>
          </p:nvPr>
        </p:nvSpPr>
        <p:spPr>
          <a:xfrm>
            <a:off x="838200" y="365125"/>
            <a:ext cx="7734300" cy="5811838"/>
          </a:xfrm>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DA690A14-9D72-4D22-9241-947CF2EFF73F}"/>
              </a:ext>
            </a:extLst>
          </p:cNvPr>
          <p:cNvSpPr>
            <a:spLocks noGrp="1"/>
          </p:cNvSpPr>
          <p:nvPr>
            <p:ph type="dt" sz="half" idx="10"/>
          </p:nvPr>
        </p:nvSpPr>
        <p:spPr/>
        <p:txBody>
          <a:bodyPr/>
          <a:lstStyle/>
          <a:p>
            <a:fld id="{39E6E81F-CD0D-4AFB-88C2-40949FBBB2A1}" type="datetimeFigureOut">
              <a:rPr lang="he-IL" smtClean="0"/>
              <a:t>י"ג/שבט/תשפ"ה</a:t>
            </a:fld>
            <a:endParaRPr lang="he-IL"/>
          </a:p>
        </p:txBody>
      </p:sp>
      <p:sp>
        <p:nvSpPr>
          <p:cNvPr id="5" name="מציין מיקום של כותרת תחתונה 4">
            <a:extLst>
              <a:ext uri="{FF2B5EF4-FFF2-40B4-BE49-F238E27FC236}">
                <a16:creationId xmlns:a16="http://schemas.microsoft.com/office/drawing/2014/main" id="{940E4624-66D5-4D2D-875C-643BC0377ED6}"/>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7E8F0DEC-10FC-4E40-AE15-918DA28C9BC6}"/>
              </a:ext>
            </a:extLst>
          </p:cNvPr>
          <p:cNvSpPr>
            <a:spLocks noGrp="1"/>
          </p:cNvSpPr>
          <p:nvPr>
            <p:ph type="sldNum" sz="quarter" idx="12"/>
          </p:nvPr>
        </p:nvSpPr>
        <p:spPr/>
        <p:txBody>
          <a:bodyPr/>
          <a:lstStyle/>
          <a:p>
            <a:fld id="{C4F46A71-6265-4C07-9D1B-DF51E171D4DC}" type="slidenum">
              <a:rPr lang="he-IL" smtClean="0"/>
              <a:t>‹#›</a:t>
            </a:fld>
            <a:endParaRPr lang="he-IL"/>
          </a:p>
        </p:txBody>
      </p:sp>
    </p:spTree>
    <p:extLst>
      <p:ext uri="{BB962C8B-B14F-4D97-AF65-F5344CB8AC3E}">
        <p14:creationId xmlns:p14="http://schemas.microsoft.com/office/powerpoint/2010/main" val="12572693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92B0903F-96AA-4D6C-AD02-1E85DB49607E}"/>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FAF24288-817D-4D7E-AEB7-22A3CD267D7C}"/>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B24332BD-45B3-4C13-83F0-99F45A650FF1}"/>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39E6E81F-CD0D-4AFB-88C2-40949FBBB2A1}" type="datetimeFigureOut">
              <a:rPr lang="he-IL" smtClean="0"/>
              <a:t>י"ג/שבט/תשפ"ה</a:t>
            </a:fld>
            <a:endParaRPr lang="he-IL"/>
          </a:p>
        </p:txBody>
      </p:sp>
      <p:sp>
        <p:nvSpPr>
          <p:cNvPr id="5" name="מציין מיקום של כותרת תחתונה 4">
            <a:extLst>
              <a:ext uri="{FF2B5EF4-FFF2-40B4-BE49-F238E27FC236}">
                <a16:creationId xmlns:a16="http://schemas.microsoft.com/office/drawing/2014/main" id="{5FB6B4F0-9A2C-4EE9-966E-01620F139F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a:extLst>
              <a:ext uri="{FF2B5EF4-FFF2-40B4-BE49-F238E27FC236}">
                <a16:creationId xmlns:a16="http://schemas.microsoft.com/office/drawing/2014/main" id="{9A338715-771B-4A86-BFAE-AE0A2478C19F}"/>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C4F46A71-6265-4C07-9D1B-DF51E171D4DC}" type="slidenum">
              <a:rPr lang="he-IL" smtClean="0"/>
              <a:t>‹#›</a:t>
            </a:fld>
            <a:endParaRPr lang="he-IL"/>
          </a:p>
        </p:txBody>
      </p:sp>
    </p:spTree>
    <p:extLst>
      <p:ext uri="{BB962C8B-B14F-4D97-AF65-F5344CB8AC3E}">
        <p14:creationId xmlns:p14="http://schemas.microsoft.com/office/powerpoint/2010/main" val="564240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3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 Id="rId4" Type="http://schemas.openxmlformats.org/officeDocument/2006/relationships/image" Target="../media/image4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 Id="rId4" Type="http://schemas.openxmlformats.org/officeDocument/2006/relationships/image" Target="../media/image52.png"/></Relationships>
</file>

<file path=ppt/slides/_rels/slide4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63.gif"/><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7.xml"/><Relationship Id="rId5" Type="http://schemas.openxmlformats.org/officeDocument/2006/relationships/image" Target="../media/image74.png"/><Relationship Id="rId4" Type="http://schemas.openxmlformats.org/officeDocument/2006/relationships/image" Target="../media/image73.png"/></Relationships>
</file>

<file path=ppt/slides/_rels/slide63.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7.xml"/><Relationship Id="rId4" Type="http://schemas.openxmlformats.org/officeDocument/2006/relationships/image" Target="../media/image109.png"/></Relationships>
</file>

<file path=ppt/slides/_rels/slide103.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7.xml"/><Relationship Id="rId4" Type="http://schemas.openxmlformats.org/officeDocument/2006/relationships/image" Target="../media/image112.png"/></Relationships>
</file>

<file path=ppt/slides/_rels/slide104.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15.png"/><Relationship Id="rId1" Type="http://schemas.openxmlformats.org/officeDocument/2006/relationships/slideLayout" Target="../slideLayouts/slideLayout7.xml"/><Relationship Id="rId4" Type="http://schemas.openxmlformats.org/officeDocument/2006/relationships/image" Target="../media/image117.png"/></Relationships>
</file>

<file path=ppt/slides/_rels/slide106.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3">
            <a:extLst>
              <a:ext uri="{FF2B5EF4-FFF2-40B4-BE49-F238E27FC236}">
                <a16:creationId xmlns:a16="http://schemas.microsoft.com/office/drawing/2014/main" id="{DF2942D0-6128-4C26-9F84-4AA400E9846E}"/>
              </a:ext>
            </a:extLst>
          </p:cNvPr>
          <p:cNvPicPr>
            <a:picLocks noChangeAspect="1"/>
          </p:cNvPicPr>
          <p:nvPr/>
        </p:nvPicPr>
        <p:blipFill>
          <a:blip r:embed="rId2"/>
          <a:stretch>
            <a:fillRect/>
          </a:stretch>
        </p:blipFill>
        <p:spPr>
          <a:xfrm>
            <a:off x="2416539" y="197732"/>
            <a:ext cx="8942153" cy="3606340"/>
          </a:xfrm>
          <a:prstGeom prst="rect">
            <a:avLst/>
          </a:prstGeom>
        </p:spPr>
      </p:pic>
      <p:sp>
        <p:nvSpPr>
          <p:cNvPr id="5" name="TextBox 4">
            <a:extLst>
              <a:ext uri="{FF2B5EF4-FFF2-40B4-BE49-F238E27FC236}">
                <a16:creationId xmlns:a16="http://schemas.microsoft.com/office/drawing/2014/main" id="{5DC249B4-2ECF-4256-AE65-77FF0740C28B}"/>
              </a:ext>
            </a:extLst>
          </p:cNvPr>
          <p:cNvSpPr txBox="1"/>
          <p:nvPr/>
        </p:nvSpPr>
        <p:spPr>
          <a:xfrm>
            <a:off x="4277360" y="3891280"/>
            <a:ext cx="5618480" cy="2308324"/>
          </a:xfrm>
          <a:prstGeom prst="rect">
            <a:avLst/>
          </a:prstGeom>
          <a:noFill/>
        </p:spPr>
        <p:txBody>
          <a:bodyPr wrap="square" rtlCol="1">
            <a:spAutoFit/>
          </a:bodyPr>
          <a:lstStyle/>
          <a:p>
            <a:r>
              <a:rPr lang="he-IL" dirty="0" err="1"/>
              <a:t>קומפוננטה</a:t>
            </a:r>
            <a:r>
              <a:rPr lang="he-IL" dirty="0"/>
              <a:t> זה רכיב </a:t>
            </a:r>
            <a:r>
              <a:rPr lang="en-US" dirty="0"/>
              <a:t>UI</a:t>
            </a:r>
            <a:r>
              <a:rPr lang="he-IL" dirty="0"/>
              <a:t>, רכיב ממשק משתמש.</a:t>
            </a:r>
          </a:p>
          <a:p>
            <a:r>
              <a:rPr lang="he-IL" dirty="0"/>
              <a:t>ניתן להגיד שהיא חלק קטן מהממשק משתמש שלנו.</a:t>
            </a:r>
          </a:p>
          <a:p>
            <a:r>
              <a:rPr lang="he-IL" dirty="0"/>
              <a:t>כל </a:t>
            </a:r>
            <a:r>
              <a:rPr lang="he-IL" dirty="0" err="1"/>
              <a:t>קומפוננטה</a:t>
            </a:r>
            <a:r>
              <a:rPr lang="he-IL" dirty="0"/>
              <a:t> היא עצמאית.</a:t>
            </a:r>
          </a:p>
          <a:p>
            <a:endParaRPr lang="he-IL" dirty="0"/>
          </a:p>
          <a:p>
            <a:r>
              <a:rPr lang="he-IL" dirty="0"/>
              <a:t>לכל מערכת </a:t>
            </a:r>
            <a:r>
              <a:rPr lang="he-IL" dirty="0" err="1"/>
              <a:t>בריאקט</a:t>
            </a:r>
            <a:r>
              <a:rPr lang="he-IL" dirty="0"/>
              <a:t> יש </a:t>
            </a:r>
            <a:r>
              <a:rPr lang="en-US" dirty="0"/>
              <a:t>root component</a:t>
            </a:r>
            <a:endParaRPr lang="he-IL" dirty="0"/>
          </a:p>
          <a:p>
            <a:r>
              <a:rPr lang="he-IL" dirty="0"/>
              <a:t>שלה יש עוד </a:t>
            </a:r>
            <a:r>
              <a:rPr lang="he-IL" dirty="0" err="1"/>
              <a:t>קומפוננטות</a:t>
            </a:r>
            <a:r>
              <a:rPr lang="he-IL" dirty="0"/>
              <a:t> ועוד </a:t>
            </a:r>
            <a:r>
              <a:rPr lang="he-IL" dirty="0" err="1"/>
              <a:t>ועוד</a:t>
            </a:r>
            <a:r>
              <a:rPr lang="he-IL" dirty="0"/>
              <a:t>..</a:t>
            </a:r>
          </a:p>
          <a:p>
            <a:r>
              <a:rPr lang="he-IL" dirty="0"/>
              <a:t>ובסופו של דבר נוצר לנו עץ של </a:t>
            </a:r>
            <a:r>
              <a:rPr lang="he-IL" dirty="0" err="1"/>
              <a:t>קומפוננטות</a:t>
            </a:r>
            <a:r>
              <a:rPr lang="he-IL" dirty="0"/>
              <a:t>.</a:t>
            </a:r>
          </a:p>
          <a:p>
            <a:endParaRPr lang="he-IL" dirty="0"/>
          </a:p>
        </p:txBody>
      </p:sp>
    </p:spTree>
    <p:extLst>
      <p:ext uri="{BB962C8B-B14F-4D97-AF65-F5344CB8AC3E}">
        <p14:creationId xmlns:p14="http://schemas.microsoft.com/office/powerpoint/2010/main" val="3967517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לבן 1">
            <a:extLst>
              <a:ext uri="{FF2B5EF4-FFF2-40B4-BE49-F238E27FC236}">
                <a16:creationId xmlns:a16="http://schemas.microsoft.com/office/drawing/2014/main" id="{A6DD75DB-96C5-4335-B2DB-AE62BF563E29}"/>
              </a:ext>
            </a:extLst>
          </p:cNvPr>
          <p:cNvSpPr/>
          <p:nvPr/>
        </p:nvSpPr>
        <p:spPr>
          <a:xfrm>
            <a:off x="1818640" y="680720"/>
            <a:ext cx="9265920" cy="3447098"/>
          </a:xfrm>
          <a:prstGeom prst="rect">
            <a:avLst/>
          </a:prstGeom>
        </p:spPr>
        <p:txBody>
          <a:bodyPr wrap="square">
            <a:spAutoFit/>
          </a:bodyPr>
          <a:lstStyle/>
          <a:p>
            <a:r>
              <a:rPr lang="he-IL" sz="2000" dirty="0"/>
              <a:t>אחת המהפכות הגדולות בפיתוח צד לקוח </a:t>
            </a:r>
            <a:r>
              <a:rPr lang="he-IL" sz="2000" dirty="0" err="1"/>
              <a:t>שריאקט</a:t>
            </a:r>
            <a:r>
              <a:rPr lang="he-IL" sz="2000" dirty="0"/>
              <a:t> הביאה היא </a:t>
            </a:r>
            <a:r>
              <a:rPr lang="he-IL" sz="2000" dirty="0" err="1"/>
              <a:t>הקומפוננטות</a:t>
            </a:r>
            <a:r>
              <a:rPr lang="he-IL" sz="2000" dirty="0"/>
              <a:t>.</a:t>
            </a:r>
          </a:p>
          <a:p>
            <a:r>
              <a:rPr lang="he-IL" sz="2000" dirty="0"/>
              <a:t> מדובר ביחידות תוכנה קטנות שאפשר להשתמש בהן שוב ושוב במקומות שונים באתר שלנו. </a:t>
            </a:r>
          </a:p>
          <a:p>
            <a:r>
              <a:rPr lang="he-IL" sz="2000" dirty="0"/>
              <a:t>המתכנתים </a:t>
            </a:r>
            <a:r>
              <a:rPr lang="he-IL" sz="2000" dirty="0" err="1"/>
              <a:t>בריאקט</a:t>
            </a:r>
            <a:r>
              <a:rPr lang="he-IL" sz="2000" dirty="0"/>
              <a:t> יוצרים למשל </a:t>
            </a:r>
            <a:r>
              <a:rPr lang="he-IL" sz="2000" dirty="0" err="1"/>
              <a:t>קומפוננטה</a:t>
            </a:r>
            <a:r>
              <a:rPr lang="he-IL" sz="2000" dirty="0"/>
              <a:t> אחת של טבלה הניתנת למיון ויכולים להשתמש בה בכל מקום באפליקציה או באתר שלהם.</a:t>
            </a:r>
          </a:p>
          <a:p>
            <a:r>
              <a:rPr lang="he-IL" sz="2000" dirty="0"/>
              <a:t> אם הם צריכים לשנות את הטבלה, הם משנים </a:t>
            </a:r>
            <a:r>
              <a:rPr lang="he-IL" sz="2000" dirty="0" err="1"/>
              <a:t>קומפוננטה</a:t>
            </a:r>
            <a:r>
              <a:rPr lang="he-IL" sz="2000" dirty="0"/>
              <a:t> אחת בלבד. בכל אפליקציית </a:t>
            </a:r>
            <a:r>
              <a:rPr lang="he-IL" sz="2000" dirty="0" err="1"/>
              <a:t>ריאקט</a:t>
            </a:r>
            <a:r>
              <a:rPr lang="he-IL" sz="2000" dirty="0"/>
              <a:t> יכולות להיות אינספור </a:t>
            </a:r>
            <a:r>
              <a:rPr lang="he-IL" sz="2000" dirty="0" err="1"/>
              <a:t>קומפוננטות</a:t>
            </a:r>
            <a:r>
              <a:rPr lang="he-IL" sz="2000" dirty="0"/>
              <a:t>.</a:t>
            </a:r>
          </a:p>
          <a:p>
            <a:endParaRPr lang="he-IL" sz="2000" dirty="0"/>
          </a:p>
          <a:p>
            <a:endParaRPr lang="he-IL" sz="2000" dirty="0"/>
          </a:p>
          <a:p>
            <a:r>
              <a:rPr lang="he-IL" sz="2000" dirty="0" err="1"/>
              <a:t>קומפוננטה</a:t>
            </a:r>
            <a:r>
              <a:rPr lang="he-IL" sz="2000" dirty="0"/>
              <a:t> יכולה להיות כל דבר.</a:t>
            </a:r>
          </a:p>
          <a:p>
            <a:r>
              <a:rPr lang="he-IL" sz="2000" dirty="0"/>
              <a:t>זה יכול להיות כפתור, טבלה ומסך שלם.</a:t>
            </a:r>
          </a:p>
          <a:p>
            <a:endParaRPr lang="he-IL" dirty="0"/>
          </a:p>
        </p:txBody>
      </p:sp>
    </p:spTree>
    <p:extLst>
      <p:ext uri="{BB962C8B-B14F-4D97-AF65-F5344CB8AC3E}">
        <p14:creationId xmlns:p14="http://schemas.microsoft.com/office/powerpoint/2010/main" val="30857097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D1EEAB-ADEE-4678-BD50-40C1F5745F16}"/>
              </a:ext>
            </a:extLst>
          </p:cNvPr>
          <p:cNvSpPr txBox="1"/>
          <p:nvPr/>
        </p:nvSpPr>
        <p:spPr>
          <a:xfrm>
            <a:off x="5929689" y="586899"/>
            <a:ext cx="5303520" cy="2554545"/>
          </a:xfrm>
          <a:prstGeom prst="rect">
            <a:avLst/>
          </a:prstGeom>
          <a:noFill/>
        </p:spPr>
        <p:txBody>
          <a:bodyPr wrap="square" rtlCol="1">
            <a:spAutoFit/>
          </a:bodyPr>
          <a:lstStyle/>
          <a:p>
            <a:r>
              <a:rPr lang="en-US" sz="2400" b="1" u="sng" dirty="0" err="1"/>
              <a:t>useState</a:t>
            </a:r>
            <a:endParaRPr lang="en-US" sz="2400" b="1" u="sng" dirty="0"/>
          </a:p>
          <a:p>
            <a:endParaRPr lang="en-US" sz="2000" dirty="0"/>
          </a:p>
          <a:p>
            <a:r>
              <a:rPr lang="en-US" sz="2000" dirty="0"/>
              <a:t>State</a:t>
            </a:r>
            <a:r>
              <a:rPr lang="he-IL" sz="2000" dirty="0"/>
              <a:t> בהגדרה שלו זה משתנה.</a:t>
            </a:r>
          </a:p>
          <a:p>
            <a:endParaRPr lang="he-IL" sz="2000" dirty="0"/>
          </a:p>
          <a:p>
            <a:r>
              <a:rPr lang="he-IL" sz="2000" dirty="0"/>
              <a:t>התפקיד שלו בתוך </a:t>
            </a:r>
            <a:r>
              <a:rPr lang="he-IL" sz="2000" dirty="0" err="1"/>
              <a:t>ריאקט</a:t>
            </a:r>
            <a:r>
              <a:rPr lang="he-IL" sz="2000" dirty="0"/>
              <a:t> זה לשנות את הערך </a:t>
            </a:r>
            <a:r>
              <a:rPr lang="he-IL" sz="2000" dirty="0" err="1"/>
              <a:t>ולרנדר</a:t>
            </a:r>
            <a:r>
              <a:rPr lang="he-IL" sz="2000" dirty="0"/>
              <a:t> את ה</a:t>
            </a:r>
            <a:r>
              <a:rPr lang="en-US" sz="2000" dirty="0"/>
              <a:t>HTML</a:t>
            </a:r>
            <a:r>
              <a:rPr lang="he-IL" sz="2000" dirty="0"/>
              <a:t> </a:t>
            </a:r>
            <a:endParaRPr lang="en-US" sz="2000" dirty="0"/>
          </a:p>
          <a:p>
            <a:endParaRPr lang="en-US" dirty="0"/>
          </a:p>
          <a:p>
            <a:endParaRPr lang="he-IL" dirty="0"/>
          </a:p>
        </p:txBody>
      </p:sp>
      <p:pic>
        <p:nvPicPr>
          <p:cNvPr id="3" name="תמונה 2">
            <a:extLst>
              <a:ext uri="{FF2B5EF4-FFF2-40B4-BE49-F238E27FC236}">
                <a16:creationId xmlns:a16="http://schemas.microsoft.com/office/drawing/2014/main" id="{F8E3CACF-6C80-48BC-AF60-9531C750BE42}"/>
              </a:ext>
            </a:extLst>
          </p:cNvPr>
          <p:cNvPicPr>
            <a:picLocks noChangeAspect="1"/>
          </p:cNvPicPr>
          <p:nvPr/>
        </p:nvPicPr>
        <p:blipFill>
          <a:blip r:embed="rId2"/>
          <a:stretch>
            <a:fillRect/>
          </a:stretch>
        </p:blipFill>
        <p:spPr>
          <a:xfrm>
            <a:off x="5929689" y="3171924"/>
            <a:ext cx="5412621" cy="2308324"/>
          </a:xfrm>
          <a:prstGeom prst="rect">
            <a:avLst/>
          </a:prstGeom>
        </p:spPr>
      </p:pic>
      <p:pic>
        <p:nvPicPr>
          <p:cNvPr id="4" name="תמונה 3">
            <a:extLst>
              <a:ext uri="{FF2B5EF4-FFF2-40B4-BE49-F238E27FC236}">
                <a16:creationId xmlns:a16="http://schemas.microsoft.com/office/drawing/2014/main" id="{DA71AEA0-C10D-497D-B074-BA60BC6E88A3}"/>
              </a:ext>
            </a:extLst>
          </p:cNvPr>
          <p:cNvPicPr>
            <a:picLocks noChangeAspect="1"/>
          </p:cNvPicPr>
          <p:nvPr/>
        </p:nvPicPr>
        <p:blipFill>
          <a:blip r:embed="rId3"/>
          <a:stretch>
            <a:fillRect/>
          </a:stretch>
        </p:blipFill>
        <p:spPr>
          <a:xfrm>
            <a:off x="213848" y="3141444"/>
            <a:ext cx="5150083" cy="2308324"/>
          </a:xfrm>
          <a:prstGeom prst="rect">
            <a:avLst/>
          </a:prstGeom>
        </p:spPr>
      </p:pic>
    </p:spTree>
    <p:extLst>
      <p:ext uri="{BB962C8B-B14F-4D97-AF65-F5344CB8AC3E}">
        <p14:creationId xmlns:p14="http://schemas.microsoft.com/office/powerpoint/2010/main" val="2242838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3355784-D7D1-4D70-A22A-ED5EA056E751}"/>
              </a:ext>
            </a:extLst>
          </p:cNvPr>
          <p:cNvSpPr txBox="1"/>
          <p:nvPr/>
        </p:nvSpPr>
        <p:spPr>
          <a:xfrm>
            <a:off x="4257040" y="1056640"/>
            <a:ext cx="6248400" cy="1046440"/>
          </a:xfrm>
          <a:prstGeom prst="rect">
            <a:avLst/>
          </a:prstGeom>
          <a:noFill/>
        </p:spPr>
        <p:txBody>
          <a:bodyPr wrap="square" rtlCol="1">
            <a:spAutoFit/>
          </a:bodyPr>
          <a:lstStyle/>
          <a:p>
            <a:r>
              <a:rPr lang="en-US" sz="2400" b="1" u="sng" dirty="0"/>
              <a:t>Props</a:t>
            </a:r>
          </a:p>
          <a:p>
            <a:endParaRPr lang="he-IL" dirty="0"/>
          </a:p>
          <a:p>
            <a:r>
              <a:rPr lang="he-IL" sz="2000" dirty="0"/>
              <a:t>העברת מידע בין </a:t>
            </a:r>
            <a:r>
              <a:rPr lang="he-IL" sz="2000" dirty="0" err="1"/>
              <a:t>קומפוננטת</a:t>
            </a:r>
            <a:endParaRPr lang="he-IL" sz="2000" dirty="0"/>
          </a:p>
        </p:txBody>
      </p:sp>
      <p:sp>
        <p:nvSpPr>
          <p:cNvPr id="3" name="מלבן 2">
            <a:extLst>
              <a:ext uri="{FF2B5EF4-FFF2-40B4-BE49-F238E27FC236}">
                <a16:creationId xmlns:a16="http://schemas.microsoft.com/office/drawing/2014/main" id="{E431D4E3-FCDD-40AA-A665-D551091EF46E}"/>
              </a:ext>
            </a:extLst>
          </p:cNvPr>
          <p:cNvSpPr/>
          <p:nvPr/>
        </p:nvSpPr>
        <p:spPr>
          <a:xfrm>
            <a:off x="3048000" y="2336800"/>
            <a:ext cx="7457440" cy="1631216"/>
          </a:xfrm>
          <a:prstGeom prst="rect">
            <a:avLst/>
          </a:prstGeom>
        </p:spPr>
        <p:txBody>
          <a:bodyPr wrap="square">
            <a:spAutoFit/>
          </a:bodyPr>
          <a:lstStyle/>
          <a:p>
            <a:r>
              <a:rPr lang="he-IL" sz="2000" b="0" i="0" dirty="0">
                <a:solidFill>
                  <a:srgbClr val="000000"/>
                </a:solidFill>
                <a:effectLst/>
                <a:latin typeface="Rubik"/>
              </a:rPr>
              <a:t>ב-</a:t>
            </a:r>
            <a:r>
              <a:rPr lang="en-US" sz="2000" b="0" i="0" dirty="0">
                <a:solidFill>
                  <a:srgbClr val="000000"/>
                </a:solidFill>
                <a:effectLst/>
                <a:latin typeface="Rubik"/>
              </a:rPr>
              <a:t>React, "props" </a:t>
            </a:r>
            <a:r>
              <a:rPr lang="he-IL" sz="2000" b="0" i="0" dirty="0">
                <a:solidFill>
                  <a:srgbClr val="000000"/>
                </a:solidFill>
                <a:effectLst/>
                <a:latin typeface="Rubik"/>
              </a:rPr>
              <a:t>הוא קיצור של "מאפיינים", והוא מתייחס למנגנון המשמש להעברת נתונים מרכיב אחד למשנהו בצורה חד-כיוונית. אביזרים מאפשרים לך להתאים אישית ולהגדיר רכיבי צאצא על סמך נתונים שסופקו על ידי רכיבי האב שלהם. </a:t>
            </a:r>
            <a:br>
              <a:rPr lang="he-IL" sz="2000" dirty="0"/>
            </a:br>
            <a:endParaRPr lang="he-IL" sz="2000" dirty="0"/>
          </a:p>
        </p:txBody>
      </p:sp>
      <p:sp>
        <p:nvSpPr>
          <p:cNvPr id="4" name="מלבן: פינות מעוגלות 3">
            <a:extLst>
              <a:ext uri="{FF2B5EF4-FFF2-40B4-BE49-F238E27FC236}">
                <a16:creationId xmlns:a16="http://schemas.microsoft.com/office/drawing/2014/main" id="{8813972D-164C-41EA-9F5A-7BDE1A61D36D}"/>
              </a:ext>
            </a:extLst>
          </p:cNvPr>
          <p:cNvSpPr/>
          <p:nvPr/>
        </p:nvSpPr>
        <p:spPr>
          <a:xfrm>
            <a:off x="7162800" y="3844608"/>
            <a:ext cx="3342640" cy="88392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5" name="מלבן: פינות מעוגלות 4">
            <a:extLst>
              <a:ext uri="{FF2B5EF4-FFF2-40B4-BE49-F238E27FC236}">
                <a16:creationId xmlns:a16="http://schemas.microsoft.com/office/drawing/2014/main" id="{2A6DA80D-2999-4785-ADE6-F4DC953208B0}"/>
              </a:ext>
            </a:extLst>
          </p:cNvPr>
          <p:cNvSpPr/>
          <p:nvPr/>
        </p:nvSpPr>
        <p:spPr>
          <a:xfrm>
            <a:off x="4643120" y="5084128"/>
            <a:ext cx="3342640" cy="88392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cxnSp>
        <p:nvCxnSpPr>
          <p:cNvPr id="7" name="מחבר חץ ישר 6">
            <a:extLst>
              <a:ext uri="{FF2B5EF4-FFF2-40B4-BE49-F238E27FC236}">
                <a16:creationId xmlns:a16="http://schemas.microsoft.com/office/drawing/2014/main" id="{25E6BB07-A6CC-4E83-8D58-0EE9D9FF7335}"/>
              </a:ext>
            </a:extLst>
          </p:cNvPr>
          <p:cNvCxnSpPr/>
          <p:nvPr/>
        </p:nvCxnSpPr>
        <p:spPr>
          <a:xfrm flipH="1">
            <a:off x="7559040" y="4822032"/>
            <a:ext cx="426720" cy="1685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A313557B-0937-4FD5-B595-A41FD95268EE}"/>
              </a:ext>
            </a:extLst>
          </p:cNvPr>
          <p:cNvSpPr txBox="1"/>
          <p:nvPr/>
        </p:nvSpPr>
        <p:spPr>
          <a:xfrm>
            <a:off x="8178800" y="4124960"/>
            <a:ext cx="1564640" cy="369332"/>
          </a:xfrm>
          <a:prstGeom prst="rect">
            <a:avLst/>
          </a:prstGeom>
          <a:noFill/>
        </p:spPr>
        <p:txBody>
          <a:bodyPr wrap="square" rtlCol="1">
            <a:spAutoFit/>
          </a:bodyPr>
          <a:lstStyle/>
          <a:p>
            <a:r>
              <a:rPr lang="he-IL" dirty="0"/>
              <a:t>אבא</a:t>
            </a:r>
          </a:p>
        </p:txBody>
      </p:sp>
      <p:sp>
        <p:nvSpPr>
          <p:cNvPr id="9" name="TextBox 8">
            <a:extLst>
              <a:ext uri="{FF2B5EF4-FFF2-40B4-BE49-F238E27FC236}">
                <a16:creationId xmlns:a16="http://schemas.microsoft.com/office/drawing/2014/main" id="{3B23A801-EBBC-4EAE-9914-A92ED01257CC}"/>
              </a:ext>
            </a:extLst>
          </p:cNvPr>
          <p:cNvSpPr txBox="1"/>
          <p:nvPr/>
        </p:nvSpPr>
        <p:spPr>
          <a:xfrm>
            <a:off x="5730240" y="5341422"/>
            <a:ext cx="1564640" cy="369332"/>
          </a:xfrm>
          <a:prstGeom prst="rect">
            <a:avLst/>
          </a:prstGeom>
          <a:noFill/>
        </p:spPr>
        <p:txBody>
          <a:bodyPr wrap="square" rtlCol="1">
            <a:spAutoFit/>
          </a:bodyPr>
          <a:lstStyle/>
          <a:p>
            <a:r>
              <a:rPr lang="he-IL" dirty="0"/>
              <a:t>בן</a:t>
            </a:r>
          </a:p>
        </p:txBody>
      </p:sp>
    </p:spTree>
    <p:extLst>
      <p:ext uri="{BB962C8B-B14F-4D97-AF65-F5344CB8AC3E}">
        <p14:creationId xmlns:p14="http://schemas.microsoft.com/office/powerpoint/2010/main" val="37011688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A1BE3D8-A643-4A80-80FA-BE5F481E1F03}"/>
              </a:ext>
            </a:extLst>
          </p:cNvPr>
          <p:cNvSpPr txBox="1"/>
          <p:nvPr/>
        </p:nvSpPr>
        <p:spPr>
          <a:xfrm>
            <a:off x="3302000" y="117693"/>
            <a:ext cx="7721600" cy="7017306"/>
          </a:xfrm>
          <a:prstGeom prst="rect">
            <a:avLst/>
          </a:prstGeom>
          <a:noFill/>
        </p:spPr>
        <p:txBody>
          <a:bodyPr wrap="square" rtlCol="1">
            <a:spAutoFit/>
          </a:bodyPr>
          <a:lstStyle/>
          <a:p>
            <a:r>
              <a:rPr lang="he-IL" dirty="0"/>
              <a:t>תרגול</a:t>
            </a:r>
            <a:r>
              <a:rPr lang="en-US" dirty="0"/>
              <a:t>:</a:t>
            </a:r>
          </a:p>
          <a:p>
            <a:endParaRPr lang="en-US" dirty="0"/>
          </a:p>
          <a:p>
            <a:pPr marL="342900" indent="-342900">
              <a:buFont typeface="+mj-lt"/>
              <a:buAutoNum type="arabicPeriod"/>
            </a:pPr>
            <a:r>
              <a:rPr lang="he-IL" dirty="0"/>
              <a:t>צרי </a:t>
            </a:r>
            <a:r>
              <a:rPr lang="en-US" dirty="0"/>
              <a:t>DIV</a:t>
            </a:r>
            <a:r>
              <a:rPr lang="he-IL" dirty="0"/>
              <a:t> שמציג נתונים אישיים. עצבי כרצונך.</a:t>
            </a:r>
            <a:br>
              <a:rPr lang="en-US" dirty="0"/>
            </a:br>
            <a:r>
              <a:rPr lang="he-IL" dirty="0"/>
              <a:t>צרי כפתור שבעת לחיצה ה</a:t>
            </a:r>
            <a:r>
              <a:rPr lang="en-US" dirty="0"/>
              <a:t>DIV</a:t>
            </a:r>
            <a:r>
              <a:rPr lang="he-IL" dirty="0"/>
              <a:t> מוצג ומוסתר </a:t>
            </a:r>
            <a:r>
              <a:rPr lang="he-IL" dirty="0" err="1"/>
              <a:t>לסרוגין</a:t>
            </a:r>
            <a:r>
              <a:rPr lang="he-IL" dirty="0"/>
              <a:t>.</a:t>
            </a:r>
          </a:p>
          <a:p>
            <a:pPr marL="342900" indent="-342900">
              <a:buFont typeface="+mj-lt"/>
              <a:buAutoNum type="arabicPeriod"/>
            </a:pPr>
            <a:endParaRPr lang="he-IL" dirty="0"/>
          </a:p>
          <a:p>
            <a:pPr marL="342900" indent="-342900">
              <a:buFont typeface="+mj-lt"/>
              <a:buAutoNum type="arabicPeriod"/>
            </a:pPr>
            <a:r>
              <a:rPr lang="he-IL" dirty="0"/>
              <a:t>צרי 2 כפתורים (</a:t>
            </a:r>
            <a:r>
              <a:rPr lang="he-IL" dirty="0" err="1"/>
              <a:t>קומפוננטה</a:t>
            </a:r>
            <a:r>
              <a:rPr lang="he-IL" dirty="0"/>
              <a:t> אחת) ובעת לחיצה על כל אחת מהם יוצג מחרוזת אחרת.</a:t>
            </a:r>
          </a:p>
          <a:p>
            <a:pPr marL="342900" indent="-342900">
              <a:buFont typeface="+mj-lt"/>
              <a:buAutoNum type="arabicPeriod"/>
            </a:pPr>
            <a:endParaRPr lang="he-IL" dirty="0"/>
          </a:p>
          <a:p>
            <a:pPr marL="342900" indent="-342900">
              <a:buFont typeface="+mj-lt"/>
              <a:buAutoNum type="arabicPeriod"/>
            </a:pPr>
            <a:r>
              <a:rPr lang="he-IL" dirty="0"/>
              <a:t>צרי מערך של ערים והציגי אותם על המסך.</a:t>
            </a:r>
            <a:br>
              <a:rPr lang="en-US" dirty="0"/>
            </a:br>
            <a:r>
              <a:rPr lang="he-IL" dirty="0"/>
              <a:t>עצבי את המערך.</a:t>
            </a:r>
          </a:p>
          <a:p>
            <a:pPr marL="342900" indent="-342900">
              <a:buFont typeface="+mj-lt"/>
              <a:buAutoNum type="arabicPeriod"/>
            </a:pPr>
            <a:endParaRPr lang="he-IL" dirty="0"/>
          </a:p>
          <a:p>
            <a:pPr marL="342900" indent="-342900">
              <a:buFont typeface="+mj-lt"/>
              <a:buAutoNum type="arabicPeriod"/>
            </a:pPr>
            <a:r>
              <a:rPr lang="he-IL" dirty="0"/>
              <a:t>צרי כפתור מונים והציגי את המספר ב</a:t>
            </a:r>
            <a:r>
              <a:rPr lang="en-US" dirty="0"/>
              <a:t>DIV</a:t>
            </a:r>
            <a:r>
              <a:rPr lang="he-IL" dirty="0"/>
              <a:t> במסך.</a:t>
            </a:r>
            <a:br>
              <a:rPr lang="en-US" dirty="0"/>
            </a:br>
            <a:r>
              <a:rPr lang="he-IL" dirty="0"/>
              <a:t>כאשר המונה מגיע ל 6, אפסי את המונה והציגי הודעה למשתמש</a:t>
            </a:r>
            <a:br>
              <a:rPr lang="en-US" dirty="0"/>
            </a:br>
            <a:r>
              <a:rPr lang="he-IL" dirty="0"/>
              <a:t>"הגעת לספרה 6"</a:t>
            </a:r>
          </a:p>
          <a:p>
            <a:pPr marL="342900" indent="-342900">
              <a:buFont typeface="+mj-lt"/>
              <a:buAutoNum type="arabicPeriod"/>
            </a:pPr>
            <a:endParaRPr lang="he-IL" dirty="0"/>
          </a:p>
          <a:p>
            <a:pPr marL="342900" indent="-342900">
              <a:buFont typeface="+mj-lt"/>
              <a:buAutoNum type="arabicPeriod"/>
            </a:pPr>
            <a:r>
              <a:rPr lang="he-IL" dirty="0"/>
              <a:t>צרי תיבת </a:t>
            </a:r>
            <a:r>
              <a:rPr lang="en-US" dirty="0"/>
              <a:t>INPUT </a:t>
            </a:r>
            <a:r>
              <a:rPr lang="he-IL" dirty="0"/>
              <a:t> ובעת לחיצה על כפתור תציגי בתוך </a:t>
            </a:r>
            <a:r>
              <a:rPr lang="en-US" dirty="0"/>
              <a:t>ALRT</a:t>
            </a:r>
            <a:r>
              <a:rPr lang="he-IL" dirty="0"/>
              <a:t> את הערך.</a:t>
            </a:r>
            <a:br>
              <a:rPr lang="en-US" dirty="0"/>
            </a:br>
            <a:r>
              <a:rPr lang="he-IL" dirty="0"/>
              <a:t>כאשר </a:t>
            </a:r>
            <a:r>
              <a:rPr lang="he-IL" dirty="0" err="1"/>
              <a:t>הקומפוננטה</a:t>
            </a:r>
            <a:r>
              <a:rPr lang="he-IL" dirty="0"/>
              <a:t> עולה – הציגי הודעה למשתמש "ברוך הבא"</a:t>
            </a:r>
            <a:br>
              <a:rPr lang="en-US" dirty="0"/>
            </a:br>
            <a:endParaRPr lang="he-IL" dirty="0"/>
          </a:p>
          <a:p>
            <a:pPr marL="342900" indent="-342900">
              <a:buFont typeface="+mj-lt"/>
              <a:buAutoNum type="arabicPeriod"/>
            </a:pPr>
            <a:r>
              <a:rPr lang="he-IL" dirty="0"/>
              <a:t>צרו </a:t>
            </a:r>
            <a:r>
              <a:rPr lang="he-IL" dirty="0" err="1"/>
              <a:t>קומפוננטה</a:t>
            </a:r>
            <a:r>
              <a:rPr lang="he-IL" dirty="0"/>
              <a:t> בשם </a:t>
            </a:r>
            <a:r>
              <a:rPr lang="en-US" dirty="0"/>
              <a:t>Birthday </a:t>
            </a:r>
            <a:r>
              <a:rPr lang="he-IL" dirty="0"/>
              <a:t>המקבלת מספר באמצעות תכונת </a:t>
            </a:r>
            <a:r>
              <a:rPr lang="en-US" dirty="0"/>
              <a:t>age </a:t>
            </a:r>
            <a:r>
              <a:rPr lang="he-IL" dirty="0"/>
              <a:t>ומציגה אותו בטקסט באופן הבא: </a:t>
            </a:r>
            <a:r>
              <a:rPr lang="en-US" dirty="0"/>
              <a:t>Happy Birthday! You are X years old! </a:t>
            </a:r>
            <a:r>
              <a:rPr lang="he-IL" dirty="0"/>
              <a:t>כש-</a:t>
            </a:r>
            <a:r>
              <a:rPr lang="en-US" dirty="0"/>
              <a:t>X </a:t>
            </a:r>
            <a:r>
              <a:rPr lang="he-IL" dirty="0"/>
              <a:t>הוא הגיל. קראו </a:t>
            </a:r>
            <a:r>
              <a:rPr lang="he-IL" dirty="0" err="1"/>
              <a:t>לקומפוננטה</a:t>
            </a:r>
            <a:r>
              <a:rPr lang="he-IL" dirty="0"/>
              <a:t> הזו מ-</a:t>
            </a:r>
            <a:r>
              <a:rPr lang="en-US" dirty="0"/>
              <a:t>app.</a:t>
            </a:r>
            <a:endParaRPr lang="he-IL" dirty="0"/>
          </a:p>
          <a:p>
            <a:pPr marL="342900" indent="-342900">
              <a:buFont typeface="+mj-lt"/>
              <a:buAutoNum type="arabicPeriod"/>
            </a:pPr>
            <a:r>
              <a:rPr lang="he-IL" dirty="0"/>
              <a:t>עדכנו את </a:t>
            </a:r>
            <a:r>
              <a:rPr lang="he-IL" dirty="0" err="1"/>
              <a:t>הקומפוננטה</a:t>
            </a:r>
            <a:r>
              <a:rPr lang="he-IL" dirty="0"/>
              <a:t> הקודמת כדי שתקבל גם שם כתכונת </a:t>
            </a:r>
            <a:r>
              <a:rPr lang="en-US" dirty="0"/>
              <a:t>name, </a:t>
            </a:r>
            <a:r>
              <a:rPr lang="he-IL" dirty="0"/>
              <a:t>והשם יופיע כך:</a:t>
            </a:r>
          </a:p>
          <a:p>
            <a:pPr marL="342900" indent="-342900">
              <a:buFont typeface="+mj-lt"/>
              <a:buAutoNum type="arabicPeriod"/>
            </a:pPr>
            <a:r>
              <a:rPr lang="he-IL" dirty="0"/>
              <a:t>אם הגיל גדול מ18 – תציגי הודעה "המשתמש מעל גיל 18" ועצבי את </a:t>
            </a:r>
            <a:r>
              <a:rPr lang="he-IL" dirty="0" err="1"/>
              <a:t>הטקטס</a:t>
            </a:r>
            <a:r>
              <a:rPr lang="he-IL" dirty="0"/>
              <a:t> </a:t>
            </a:r>
            <a:br>
              <a:rPr lang="en-US" dirty="0"/>
            </a:br>
            <a:endParaRPr lang="he-IL" dirty="0"/>
          </a:p>
          <a:p>
            <a:endParaRPr lang="he-IL" dirty="0"/>
          </a:p>
        </p:txBody>
      </p:sp>
    </p:spTree>
    <p:extLst>
      <p:ext uri="{BB962C8B-B14F-4D97-AF65-F5344CB8AC3E}">
        <p14:creationId xmlns:p14="http://schemas.microsoft.com/office/powerpoint/2010/main" val="35612639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לבן 1">
            <a:extLst>
              <a:ext uri="{FF2B5EF4-FFF2-40B4-BE49-F238E27FC236}">
                <a16:creationId xmlns:a16="http://schemas.microsoft.com/office/drawing/2014/main" id="{773FA2E8-6D31-44F3-BD1D-DDC868361B57}"/>
              </a:ext>
            </a:extLst>
          </p:cNvPr>
          <p:cNvSpPr/>
          <p:nvPr/>
        </p:nvSpPr>
        <p:spPr>
          <a:xfrm>
            <a:off x="2377440" y="346055"/>
            <a:ext cx="9144000" cy="1477328"/>
          </a:xfrm>
          <a:prstGeom prst="rect">
            <a:avLst/>
          </a:prstGeom>
        </p:spPr>
        <p:txBody>
          <a:bodyPr wrap="square">
            <a:spAutoFit/>
          </a:bodyPr>
          <a:lstStyle/>
          <a:p>
            <a:pPr marL="342900" indent="-342900">
              <a:buFont typeface="+mj-lt"/>
              <a:buAutoNum type="arabicPeriod"/>
            </a:pPr>
            <a:r>
              <a:rPr lang="he-IL" dirty="0"/>
              <a:t>צרו </a:t>
            </a:r>
            <a:r>
              <a:rPr lang="he-IL" dirty="0" err="1"/>
              <a:t>קומפוננטה</a:t>
            </a:r>
            <a:r>
              <a:rPr lang="he-IL" dirty="0"/>
              <a:t> בשם </a:t>
            </a:r>
            <a:r>
              <a:rPr lang="en-US" dirty="0"/>
              <a:t> </a:t>
            </a:r>
            <a:r>
              <a:rPr lang="en-US" dirty="0" err="1"/>
              <a:t>CountDown</a:t>
            </a:r>
            <a:r>
              <a:rPr lang="en-US" dirty="0"/>
              <a:t> </a:t>
            </a:r>
            <a:r>
              <a:rPr lang="he-IL" dirty="0"/>
              <a:t>שיש בה כפתור ומספר שמתחיל ב.10- </a:t>
            </a:r>
            <a:r>
              <a:rPr lang="he-IL" dirty="0" err="1"/>
              <a:t>הקומפוננטה</a:t>
            </a:r>
            <a:r>
              <a:rPr lang="he-IL" dirty="0"/>
              <a:t> תספור מהמספר הזה לאחור )אין צורך לעצור ב0-(.</a:t>
            </a:r>
          </a:p>
          <a:p>
            <a:pPr marL="342900" indent="-342900">
              <a:buFont typeface="+mj-lt"/>
              <a:buAutoNum type="arabicPeriod"/>
            </a:pPr>
            <a:r>
              <a:rPr lang="he-IL" dirty="0" err="1"/>
              <a:t>בקומפוננטה</a:t>
            </a:r>
            <a:r>
              <a:rPr lang="he-IL" dirty="0"/>
              <a:t> הקודמת שיצרתם, צרו </a:t>
            </a:r>
            <a:r>
              <a:rPr lang="he-IL" dirty="0" err="1"/>
              <a:t>קומפוננטה</a:t>
            </a:r>
            <a:r>
              <a:rPr lang="he-IL" dirty="0"/>
              <a:t> שמקבלת את המספר ההתחלתי ב-</a:t>
            </a:r>
            <a:r>
              <a:rPr lang="en-US" dirty="0"/>
              <a:t>props </a:t>
            </a:r>
            <a:r>
              <a:rPr lang="he-IL" dirty="0"/>
              <a:t>בשם </a:t>
            </a:r>
            <a:r>
              <a:rPr lang="en-US" dirty="0"/>
              <a:t>time. </a:t>
            </a:r>
            <a:r>
              <a:rPr lang="he-IL" dirty="0"/>
              <a:t>וכן הספירה תיפסק ב.0-</a:t>
            </a:r>
          </a:p>
          <a:p>
            <a:pPr marL="342900" indent="-342900">
              <a:buFont typeface="+mj-lt"/>
              <a:buAutoNum type="arabicPeriod"/>
            </a:pPr>
            <a:endParaRPr lang="he-IL" dirty="0"/>
          </a:p>
        </p:txBody>
      </p:sp>
    </p:spTree>
    <p:extLst>
      <p:ext uri="{BB962C8B-B14F-4D97-AF65-F5344CB8AC3E}">
        <p14:creationId xmlns:p14="http://schemas.microsoft.com/office/powerpoint/2010/main" val="40104399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4E316DB-4D0A-4185-A89E-9C4A8485D951}"/>
              </a:ext>
            </a:extLst>
          </p:cNvPr>
          <p:cNvSpPr txBox="1"/>
          <p:nvPr/>
        </p:nvSpPr>
        <p:spPr>
          <a:xfrm>
            <a:off x="6207760" y="924560"/>
            <a:ext cx="4846320" cy="1508105"/>
          </a:xfrm>
          <a:prstGeom prst="rect">
            <a:avLst/>
          </a:prstGeom>
          <a:noFill/>
        </p:spPr>
        <p:txBody>
          <a:bodyPr wrap="square" rtlCol="1">
            <a:spAutoFit/>
          </a:bodyPr>
          <a:lstStyle/>
          <a:p>
            <a:r>
              <a:rPr lang="en-US" sz="2000" b="1" u="sng" dirty="0" err="1"/>
              <a:t>useEffect</a:t>
            </a:r>
            <a:endParaRPr lang="en-US" sz="2000" b="1" u="sng" dirty="0"/>
          </a:p>
          <a:p>
            <a:endParaRPr lang="he-IL" dirty="0"/>
          </a:p>
          <a:p>
            <a:r>
              <a:rPr lang="he-IL" dirty="0" err="1"/>
              <a:t>לקומפוננטה</a:t>
            </a:r>
            <a:r>
              <a:rPr lang="he-IL" dirty="0"/>
              <a:t> יש מחזור חיים.</a:t>
            </a:r>
            <a:br>
              <a:rPr lang="en-US" dirty="0"/>
            </a:br>
            <a:endParaRPr lang="he-IL" dirty="0"/>
          </a:p>
          <a:p>
            <a:r>
              <a:rPr lang="he-IL" dirty="0"/>
              <a:t>נוצר מופע חדש של </a:t>
            </a:r>
            <a:r>
              <a:rPr lang="he-IL" dirty="0" err="1"/>
              <a:t>הקופוננטה</a:t>
            </a:r>
            <a:r>
              <a:rPr lang="he-IL" dirty="0"/>
              <a:t> והיא נכנסת ל</a:t>
            </a:r>
            <a:r>
              <a:rPr lang="en-US" dirty="0"/>
              <a:t>DOM </a:t>
            </a:r>
            <a:endParaRPr lang="he-IL" dirty="0"/>
          </a:p>
        </p:txBody>
      </p:sp>
      <p:pic>
        <p:nvPicPr>
          <p:cNvPr id="3" name="תמונה 2">
            <a:extLst>
              <a:ext uri="{FF2B5EF4-FFF2-40B4-BE49-F238E27FC236}">
                <a16:creationId xmlns:a16="http://schemas.microsoft.com/office/drawing/2014/main" id="{4B1DD176-2F51-43DB-B933-7822E6CA3806}"/>
              </a:ext>
            </a:extLst>
          </p:cNvPr>
          <p:cNvPicPr>
            <a:picLocks noChangeAspect="1"/>
          </p:cNvPicPr>
          <p:nvPr/>
        </p:nvPicPr>
        <p:blipFill>
          <a:blip r:embed="rId2"/>
          <a:stretch>
            <a:fillRect/>
          </a:stretch>
        </p:blipFill>
        <p:spPr>
          <a:xfrm>
            <a:off x="4288704" y="1663224"/>
            <a:ext cx="1695537" cy="1009702"/>
          </a:xfrm>
          <a:prstGeom prst="rect">
            <a:avLst/>
          </a:prstGeom>
        </p:spPr>
      </p:pic>
      <p:sp>
        <p:nvSpPr>
          <p:cNvPr id="4" name="TextBox 3">
            <a:extLst>
              <a:ext uri="{FF2B5EF4-FFF2-40B4-BE49-F238E27FC236}">
                <a16:creationId xmlns:a16="http://schemas.microsoft.com/office/drawing/2014/main" id="{B87E4BB6-A22C-48BA-A4EA-FF324DD3669E}"/>
              </a:ext>
            </a:extLst>
          </p:cNvPr>
          <p:cNvSpPr txBox="1"/>
          <p:nvPr/>
        </p:nvSpPr>
        <p:spPr>
          <a:xfrm>
            <a:off x="6766560" y="3342640"/>
            <a:ext cx="4287520" cy="646331"/>
          </a:xfrm>
          <a:prstGeom prst="rect">
            <a:avLst/>
          </a:prstGeom>
          <a:noFill/>
        </p:spPr>
        <p:txBody>
          <a:bodyPr wrap="square" rtlCol="1">
            <a:spAutoFit/>
          </a:bodyPr>
          <a:lstStyle/>
          <a:p>
            <a:r>
              <a:rPr lang="he-IL" dirty="0"/>
              <a:t>לאחר מכן היא עוברת שינויים </a:t>
            </a:r>
            <a:r>
              <a:rPr lang="he-IL" dirty="0" err="1"/>
              <a:t>בסטייט</a:t>
            </a:r>
            <a:r>
              <a:rPr lang="he-IL" dirty="0"/>
              <a:t> או </a:t>
            </a:r>
            <a:r>
              <a:rPr lang="he-IL" dirty="0" err="1"/>
              <a:t>בפרופס</a:t>
            </a:r>
            <a:r>
              <a:rPr lang="he-IL" dirty="0"/>
              <a:t> ובעקבות זה גם ה</a:t>
            </a:r>
            <a:r>
              <a:rPr lang="en-US" dirty="0" err="1"/>
              <a:t>dom</a:t>
            </a:r>
            <a:r>
              <a:rPr lang="he-IL" dirty="0"/>
              <a:t> משתנה.</a:t>
            </a:r>
          </a:p>
        </p:txBody>
      </p:sp>
      <p:pic>
        <p:nvPicPr>
          <p:cNvPr id="5" name="תמונה 4">
            <a:extLst>
              <a:ext uri="{FF2B5EF4-FFF2-40B4-BE49-F238E27FC236}">
                <a16:creationId xmlns:a16="http://schemas.microsoft.com/office/drawing/2014/main" id="{9D408AF4-6E80-48E9-963E-C94C4F4FFFA4}"/>
              </a:ext>
            </a:extLst>
          </p:cNvPr>
          <p:cNvPicPr>
            <a:picLocks noChangeAspect="1"/>
          </p:cNvPicPr>
          <p:nvPr/>
        </p:nvPicPr>
        <p:blipFill>
          <a:blip r:embed="rId3"/>
          <a:stretch>
            <a:fillRect/>
          </a:stretch>
        </p:blipFill>
        <p:spPr>
          <a:xfrm>
            <a:off x="4288704" y="3214848"/>
            <a:ext cx="1644735" cy="977950"/>
          </a:xfrm>
          <a:prstGeom prst="rect">
            <a:avLst/>
          </a:prstGeom>
        </p:spPr>
      </p:pic>
      <p:sp>
        <p:nvSpPr>
          <p:cNvPr id="6" name="TextBox 5">
            <a:extLst>
              <a:ext uri="{FF2B5EF4-FFF2-40B4-BE49-F238E27FC236}">
                <a16:creationId xmlns:a16="http://schemas.microsoft.com/office/drawing/2014/main" id="{A27DA9EF-5BC6-46F3-9419-8633E6C14A54}"/>
              </a:ext>
            </a:extLst>
          </p:cNvPr>
          <p:cNvSpPr txBox="1"/>
          <p:nvPr/>
        </p:nvSpPr>
        <p:spPr>
          <a:xfrm>
            <a:off x="7447280" y="4866640"/>
            <a:ext cx="3606800" cy="646331"/>
          </a:xfrm>
          <a:prstGeom prst="rect">
            <a:avLst/>
          </a:prstGeom>
          <a:noFill/>
        </p:spPr>
        <p:txBody>
          <a:bodyPr wrap="square" rtlCol="1">
            <a:spAutoFit/>
          </a:bodyPr>
          <a:lstStyle/>
          <a:p>
            <a:r>
              <a:rPr lang="he-IL" dirty="0"/>
              <a:t>ובעת הסרה של </a:t>
            </a:r>
            <a:r>
              <a:rPr lang="he-IL" dirty="0" err="1"/>
              <a:t>הקומפוננטה</a:t>
            </a:r>
            <a:r>
              <a:rPr lang="he-IL" dirty="0"/>
              <a:t> היא גם נמחקת מה</a:t>
            </a:r>
            <a:r>
              <a:rPr lang="en-US" dirty="0"/>
              <a:t>DOM</a:t>
            </a:r>
            <a:r>
              <a:rPr lang="he-IL" dirty="0"/>
              <a:t> </a:t>
            </a:r>
          </a:p>
        </p:txBody>
      </p:sp>
      <p:pic>
        <p:nvPicPr>
          <p:cNvPr id="7" name="תמונה 6">
            <a:extLst>
              <a:ext uri="{FF2B5EF4-FFF2-40B4-BE49-F238E27FC236}">
                <a16:creationId xmlns:a16="http://schemas.microsoft.com/office/drawing/2014/main" id="{6956036D-7247-4142-BADD-BBBBEAB6DAFE}"/>
              </a:ext>
            </a:extLst>
          </p:cNvPr>
          <p:cNvPicPr>
            <a:picLocks noChangeAspect="1"/>
          </p:cNvPicPr>
          <p:nvPr/>
        </p:nvPicPr>
        <p:blipFill>
          <a:blip r:embed="rId4"/>
          <a:stretch>
            <a:fillRect/>
          </a:stretch>
        </p:blipFill>
        <p:spPr>
          <a:xfrm>
            <a:off x="4250603" y="4805680"/>
            <a:ext cx="1682836" cy="990651"/>
          </a:xfrm>
          <a:prstGeom prst="rect">
            <a:avLst/>
          </a:prstGeom>
        </p:spPr>
      </p:pic>
    </p:spTree>
    <p:extLst>
      <p:ext uri="{BB962C8B-B14F-4D97-AF65-F5344CB8AC3E}">
        <p14:creationId xmlns:p14="http://schemas.microsoft.com/office/powerpoint/2010/main" val="27267572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49CBEC9-8668-4D69-A7F0-7EF44B3EE2E5}"/>
              </a:ext>
            </a:extLst>
          </p:cNvPr>
          <p:cNvSpPr txBox="1"/>
          <p:nvPr/>
        </p:nvSpPr>
        <p:spPr>
          <a:xfrm>
            <a:off x="4841658" y="589280"/>
            <a:ext cx="5527040" cy="1200329"/>
          </a:xfrm>
          <a:prstGeom prst="rect">
            <a:avLst/>
          </a:prstGeom>
          <a:noFill/>
        </p:spPr>
        <p:txBody>
          <a:bodyPr wrap="square" rtlCol="1">
            <a:spAutoFit/>
          </a:bodyPr>
          <a:lstStyle/>
          <a:p>
            <a:r>
              <a:rPr lang="he-IL" dirty="0"/>
              <a:t>כמו שראינו יש 3 חלקים למחזור החיים של </a:t>
            </a:r>
            <a:r>
              <a:rPr lang="he-IL" dirty="0" err="1"/>
              <a:t>הקומפוננטה</a:t>
            </a:r>
            <a:r>
              <a:rPr lang="he-IL" dirty="0"/>
              <a:t>.</a:t>
            </a:r>
          </a:p>
          <a:p>
            <a:endParaRPr lang="he-IL" dirty="0"/>
          </a:p>
          <a:p>
            <a:r>
              <a:rPr lang="he-IL" dirty="0"/>
              <a:t>אנחנו נרצה גישה למחזור החיים של </a:t>
            </a:r>
            <a:r>
              <a:rPr lang="he-IL" dirty="0" err="1"/>
              <a:t>הקומפוננטה</a:t>
            </a:r>
            <a:r>
              <a:rPr lang="he-IL" dirty="0"/>
              <a:t> כדי לבצע שלל פעולות</a:t>
            </a:r>
          </a:p>
        </p:txBody>
      </p:sp>
      <p:pic>
        <p:nvPicPr>
          <p:cNvPr id="4" name="תמונה 3">
            <a:extLst>
              <a:ext uri="{FF2B5EF4-FFF2-40B4-BE49-F238E27FC236}">
                <a16:creationId xmlns:a16="http://schemas.microsoft.com/office/drawing/2014/main" id="{EB52C2EC-4849-4AEE-9691-F4CF083AD255}"/>
              </a:ext>
            </a:extLst>
          </p:cNvPr>
          <p:cNvPicPr>
            <a:picLocks noChangeAspect="1"/>
          </p:cNvPicPr>
          <p:nvPr/>
        </p:nvPicPr>
        <p:blipFill>
          <a:blip r:embed="rId2"/>
          <a:stretch>
            <a:fillRect/>
          </a:stretch>
        </p:blipFill>
        <p:spPr>
          <a:xfrm>
            <a:off x="3135500" y="2398325"/>
            <a:ext cx="7233198" cy="3870395"/>
          </a:xfrm>
          <a:prstGeom prst="rect">
            <a:avLst/>
          </a:prstGeom>
        </p:spPr>
      </p:pic>
    </p:spTree>
    <p:extLst>
      <p:ext uri="{BB962C8B-B14F-4D97-AF65-F5344CB8AC3E}">
        <p14:creationId xmlns:p14="http://schemas.microsoft.com/office/powerpoint/2010/main" val="38495041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54A2206-DF7C-4038-B6C0-91AC55E7D5DD}"/>
              </a:ext>
            </a:extLst>
          </p:cNvPr>
          <p:cNvSpPr txBox="1"/>
          <p:nvPr/>
        </p:nvSpPr>
        <p:spPr>
          <a:xfrm>
            <a:off x="4968240" y="497840"/>
            <a:ext cx="5740400" cy="369332"/>
          </a:xfrm>
          <a:prstGeom prst="rect">
            <a:avLst/>
          </a:prstGeom>
          <a:noFill/>
        </p:spPr>
        <p:txBody>
          <a:bodyPr wrap="square" rtlCol="1">
            <a:spAutoFit/>
          </a:bodyPr>
          <a:lstStyle/>
          <a:p>
            <a:r>
              <a:rPr lang="he-IL" dirty="0"/>
              <a:t>מחזור החיים נראה כך:</a:t>
            </a:r>
          </a:p>
        </p:txBody>
      </p:sp>
      <p:pic>
        <p:nvPicPr>
          <p:cNvPr id="3" name="תמונה 2">
            <a:extLst>
              <a:ext uri="{FF2B5EF4-FFF2-40B4-BE49-F238E27FC236}">
                <a16:creationId xmlns:a16="http://schemas.microsoft.com/office/drawing/2014/main" id="{9EF24907-786A-44B9-8AF9-643DE7AA3A57}"/>
              </a:ext>
            </a:extLst>
          </p:cNvPr>
          <p:cNvPicPr>
            <a:picLocks noChangeAspect="1"/>
          </p:cNvPicPr>
          <p:nvPr/>
        </p:nvPicPr>
        <p:blipFill>
          <a:blip r:embed="rId2"/>
          <a:stretch>
            <a:fillRect/>
          </a:stretch>
        </p:blipFill>
        <p:spPr>
          <a:xfrm>
            <a:off x="2486178" y="1751284"/>
            <a:ext cx="8100542" cy="2587036"/>
          </a:xfrm>
          <a:prstGeom prst="rect">
            <a:avLst/>
          </a:prstGeom>
        </p:spPr>
      </p:pic>
    </p:spTree>
    <p:extLst>
      <p:ext uri="{BB962C8B-B14F-4D97-AF65-F5344CB8AC3E}">
        <p14:creationId xmlns:p14="http://schemas.microsoft.com/office/powerpoint/2010/main" val="40218107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F2EE415-4C36-475E-A1A5-3447F5A01D9B}"/>
              </a:ext>
            </a:extLst>
          </p:cNvPr>
          <p:cNvSpPr txBox="1"/>
          <p:nvPr/>
        </p:nvSpPr>
        <p:spPr>
          <a:xfrm>
            <a:off x="3789680" y="955040"/>
            <a:ext cx="7203440" cy="4247317"/>
          </a:xfrm>
          <a:prstGeom prst="rect">
            <a:avLst/>
          </a:prstGeom>
          <a:noFill/>
        </p:spPr>
        <p:txBody>
          <a:bodyPr wrap="square" rtlCol="1">
            <a:spAutoFit/>
          </a:bodyPr>
          <a:lstStyle/>
          <a:p>
            <a:r>
              <a:rPr lang="he-IL" dirty="0"/>
              <a:t>המתודה הראשונה שנקראת היא ה</a:t>
            </a:r>
            <a:r>
              <a:rPr lang="en-US" dirty="0" err="1"/>
              <a:t>constractor</a:t>
            </a:r>
            <a:r>
              <a:rPr lang="he-IL" dirty="0"/>
              <a:t> , היא נקראת עוד לפני </a:t>
            </a:r>
            <a:r>
              <a:rPr lang="he-IL" dirty="0" err="1"/>
              <a:t>שהקומפוננטה</a:t>
            </a:r>
            <a:r>
              <a:rPr lang="he-IL" dirty="0"/>
              <a:t> הודפסה על המסך, המתודה מקבלת את </a:t>
            </a:r>
            <a:r>
              <a:rPr lang="he-IL" dirty="0" err="1"/>
              <a:t>הפרופס</a:t>
            </a:r>
            <a:r>
              <a:rPr lang="he-IL" dirty="0"/>
              <a:t> במידה והועבר.</a:t>
            </a:r>
          </a:p>
          <a:p>
            <a:endParaRPr lang="he-IL" dirty="0"/>
          </a:p>
          <a:p>
            <a:r>
              <a:rPr lang="he-IL" dirty="0"/>
              <a:t>המתודה הבאה היא </a:t>
            </a:r>
            <a:r>
              <a:rPr lang="en-US" dirty="0"/>
              <a:t>render</a:t>
            </a:r>
            <a:r>
              <a:rPr lang="he-IL" dirty="0"/>
              <a:t> , היא מתודה שמחזירה אלמנט בעזרת </a:t>
            </a:r>
            <a:r>
              <a:rPr lang="en-US" dirty="0"/>
              <a:t>JSX</a:t>
            </a:r>
            <a:endParaRPr lang="he-IL" dirty="0"/>
          </a:p>
          <a:p>
            <a:endParaRPr lang="he-IL" dirty="0"/>
          </a:p>
          <a:p>
            <a:r>
              <a:rPr lang="he-IL" dirty="0"/>
              <a:t>ולבסוף המתודה </a:t>
            </a:r>
            <a:r>
              <a:rPr lang="en-US" dirty="0" err="1"/>
              <a:t>componentDidMount</a:t>
            </a:r>
            <a:r>
              <a:rPr lang="en-US" dirty="0"/>
              <a:t> </a:t>
            </a:r>
            <a:r>
              <a:rPr lang="he-IL" dirty="0"/>
              <a:t> נקראת, היא נקראת אחרי </a:t>
            </a:r>
            <a:r>
              <a:rPr lang="he-IL" dirty="0" err="1"/>
              <a:t>שהקומפוננטה</a:t>
            </a:r>
            <a:r>
              <a:rPr lang="he-IL" dirty="0"/>
              <a:t> הודפסה כבר על המסך וזה המקום לקרא למשל לפונקציה או </a:t>
            </a:r>
            <a:r>
              <a:rPr lang="en-US" dirty="0"/>
              <a:t>API</a:t>
            </a:r>
            <a:r>
              <a:rPr lang="he-IL" dirty="0"/>
              <a:t> ולעדכן את </a:t>
            </a:r>
            <a:r>
              <a:rPr lang="he-IL" dirty="0" err="1"/>
              <a:t>הסטייט</a:t>
            </a:r>
            <a:r>
              <a:rPr lang="he-IL" dirty="0"/>
              <a:t>.</a:t>
            </a:r>
          </a:p>
          <a:p>
            <a:endParaRPr lang="he-IL" dirty="0"/>
          </a:p>
          <a:p>
            <a:r>
              <a:rPr lang="he-IL" dirty="0"/>
              <a:t>אחרי </a:t>
            </a:r>
            <a:r>
              <a:rPr lang="he-IL" dirty="0" err="1"/>
              <a:t>שהקומפוננטה</a:t>
            </a:r>
            <a:r>
              <a:rPr lang="he-IL" dirty="0"/>
              <a:t> כבר ב</a:t>
            </a:r>
            <a:r>
              <a:rPr lang="en-US" dirty="0"/>
              <a:t>DOM</a:t>
            </a:r>
            <a:r>
              <a:rPr lang="he-IL" dirty="0"/>
              <a:t> אנחנו בחלק של ה</a:t>
            </a:r>
            <a:r>
              <a:rPr lang="en-US" dirty="0"/>
              <a:t>update </a:t>
            </a:r>
            <a:r>
              <a:rPr lang="he-IL" dirty="0"/>
              <a:t> במחזור החיים,</a:t>
            </a:r>
          </a:p>
          <a:p>
            <a:r>
              <a:rPr lang="he-IL" dirty="0"/>
              <a:t>ברגע </a:t>
            </a:r>
            <a:r>
              <a:rPr lang="he-IL" dirty="0" err="1"/>
              <a:t>שהפרופס</a:t>
            </a:r>
            <a:r>
              <a:rPr lang="he-IL" dirty="0"/>
              <a:t> או </a:t>
            </a:r>
            <a:r>
              <a:rPr lang="he-IL" dirty="0" err="1"/>
              <a:t>הסטייט</a:t>
            </a:r>
            <a:r>
              <a:rPr lang="he-IL" dirty="0"/>
              <a:t> משתנים המתודה </a:t>
            </a:r>
            <a:r>
              <a:rPr lang="en-US" dirty="0"/>
              <a:t>render</a:t>
            </a:r>
            <a:r>
              <a:rPr lang="he-IL" dirty="0"/>
              <a:t> שוב מופעלת והתוצאה החדשה שלנו תתעדכן ב</a:t>
            </a:r>
            <a:r>
              <a:rPr lang="en-US" dirty="0"/>
              <a:t>DOM</a:t>
            </a:r>
            <a:r>
              <a:rPr lang="he-IL" dirty="0"/>
              <a:t> , לאחר שהתוצאה התעדכנה- המתודה </a:t>
            </a:r>
            <a:r>
              <a:rPr lang="en-US" dirty="0" err="1"/>
              <a:t>componentDidUpdate</a:t>
            </a:r>
            <a:r>
              <a:rPr lang="en-US" dirty="0"/>
              <a:t> </a:t>
            </a:r>
            <a:r>
              <a:rPr lang="he-IL" dirty="0"/>
              <a:t> נקראת, היא נקראת כל פעם אחרי עדכון </a:t>
            </a:r>
            <a:r>
              <a:rPr lang="he-IL" dirty="0" err="1"/>
              <a:t>הסטייט</a:t>
            </a:r>
            <a:r>
              <a:rPr lang="he-IL" dirty="0"/>
              <a:t>,</a:t>
            </a:r>
          </a:p>
          <a:p>
            <a:r>
              <a:rPr lang="he-IL" dirty="0"/>
              <a:t>בעצם, היא המתודה האחרונה שתקרא כאשר בוצע שינוי </a:t>
            </a:r>
            <a:r>
              <a:rPr lang="he-IL" dirty="0" err="1"/>
              <a:t>בקומפוננטה</a:t>
            </a:r>
            <a:r>
              <a:rPr lang="he-IL" dirty="0"/>
              <a:t>.</a:t>
            </a:r>
          </a:p>
          <a:p>
            <a:endParaRPr lang="he-IL" dirty="0"/>
          </a:p>
        </p:txBody>
      </p:sp>
    </p:spTree>
    <p:extLst>
      <p:ext uri="{BB962C8B-B14F-4D97-AF65-F5344CB8AC3E}">
        <p14:creationId xmlns:p14="http://schemas.microsoft.com/office/powerpoint/2010/main" val="7276562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A12D6E-4738-4F2B-92D7-2285458F6EB1}"/>
              </a:ext>
            </a:extLst>
          </p:cNvPr>
          <p:cNvSpPr txBox="1"/>
          <p:nvPr/>
        </p:nvSpPr>
        <p:spPr>
          <a:xfrm>
            <a:off x="4155440" y="955040"/>
            <a:ext cx="6177280" cy="2585323"/>
          </a:xfrm>
          <a:prstGeom prst="rect">
            <a:avLst/>
          </a:prstGeom>
          <a:noFill/>
        </p:spPr>
        <p:txBody>
          <a:bodyPr wrap="square" rtlCol="1">
            <a:spAutoFit/>
          </a:bodyPr>
          <a:lstStyle/>
          <a:p>
            <a:r>
              <a:rPr lang="he-IL" dirty="0"/>
              <a:t>המתודה הזאת מקבלת 2 ארגומנטים:</a:t>
            </a:r>
            <a:br>
              <a:rPr lang="en-US" dirty="0"/>
            </a:br>
            <a:r>
              <a:rPr lang="en-US" dirty="0" err="1"/>
              <a:t>prevProps</a:t>
            </a:r>
            <a:r>
              <a:rPr lang="he-IL" dirty="0"/>
              <a:t>- זה </a:t>
            </a:r>
            <a:r>
              <a:rPr lang="he-IL" dirty="0" err="1"/>
              <a:t>הפרופס</a:t>
            </a:r>
            <a:r>
              <a:rPr lang="he-IL" dirty="0"/>
              <a:t> לפני השינוי</a:t>
            </a:r>
          </a:p>
          <a:p>
            <a:r>
              <a:rPr lang="en-US" dirty="0" err="1"/>
              <a:t>prevState</a:t>
            </a:r>
            <a:r>
              <a:rPr lang="he-IL" dirty="0"/>
              <a:t>- זה </a:t>
            </a:r>
            <a:r>
              <a:rPr lang="he-IL" dirty="0" err="1"/>
              <a:t>הסטייט</a:t>
            </a:r>
            <a:r>
              <a:rPr lang="he-IL" dirty="0"/>
              <a:t> לפני השינוי.</a:t>
            </a:r>
          </a:p>
          <a:p>
            <a:endParaRPr lang="he-IL" dirty="0"/>
          </a:p>
          <a:p>
            <a:endParaRPr lang="he-IL" dirty="0"/>
          </a:p>
          <a:p>
            <a:r>
              <a:rPr lang="he-IL" dirty="0"/>
              <a:t>החלק השלישי של מחזור החיים קורה כאשר אנחנו מוחקים את </a:t>
            </a:r>
            <a:r>
              <a:rPr lang="he-IL" dirty="0" err="1"/>
              <a:t>הקומפוננטה</a:t>
            </a:r>
            <a:r>
              <a:rPr lang="he-IL" dirty="0"/>
              <a:t>,</a:t>
            </a:r>
          </a:p>
          <a:p>
            <a:r>
              <a:rPr lang="he-IL" dirty="0"/>
              <a:t>לפני המחיקה הסופית מה</a:t>
            </a:r>
            <a:r>
              <a:rPr lang="en-US" dirty="0"/>
              <a:t>DOM</a:t>
            </a:r>
            <a:r>
              <a:rPr lang="he-IL" dirty="0"/>
              <a:t> המתודה </a:t>
            </a:r>
            <a:r>
              <a:rPr lang="en-US" dirty="0" err="1"/>
              <a:t>componentDidUnmount</a:t>
            </a:r>
            <a:r>
              <a:rPr lang="en-US" dirty="0"/>
              <a:t> </a:t>
            </a:r>
            <a:endParaRPr lang="he-IL" dirty="0"/>
          </a:p>
          <a:p>
            <a:r>
              <a:rPr lang="he-IL" dirty="0"/>
              <a:t>נקראת וזה מקום מצוין להאזין לאירועים או להפעיל פונקציות</a:t>
            </a:r>
          </a:p>
        </p:txBody>
      </p:sp>
    </p:spTree>
    <p:extLst>
      <p:ext uri="{BB962C8B-B14F-4D97-AF65-F5344CB8AC3E}">
        <p14:creationId xmlns:p14="http://schemas.microsoft.com/office/powerpoint/2010/main" val="22965888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79C11B3-0AC7-414E-99F5-A395DA3926EE}"/>
              </a:ext>
            </a:extLst>
          </p:cNvPr>
          <p:cNvSpPr txBox="1"/>
          <p:nvPr/>
        </p:nvSpPr>
        <p:spPr>
          <a:xfrm>
            <a:off x="4277360" y="1066800"/>
            <a:ext cx="5608320" cy="646331"/>
          </a:xfrm>
          <a:prstGeom prst="rect">
            <a:avLst/>
          </a:prstGeom>
          <a:noFill/>
        </p:spPr>
        <p:txBody>
          <a:bodyPr wrap="square" rtlCol="1">
            <a:spAutoFit/>
          </a:bodyPr>
          <a:lstStyle/>
          <a:p>
            <a:r>
              <a:rPr lang="en-US" dirty="0" err="1"/>
              <a:t>useEffect</a:t>
            </a:r>
            <a:r>
              <a:rPr lang="en-US" dirty="0"/>
              <a:t> </a:t>
            </a:r>
            <a:r>
              <a:rPr lang="he-IL" dirty="0"/>
              <a:t> מקבל 2 ארגומנטים:</a:t>
            </a:r>
            <a:br>
              <a:rPr lang="en-US" dirty="0"/>
            </a:br>
            <a:endParaRPr lang="he-IL" dirty="0"/>
          </a:p>
        </p:txBody>
      </p:sp>
      <p:pic>
        <p:nvPicPr>
          <p:cNvPr id="4" name="תמונה 3">
            <a:extLst>
              <a:ext uri="{FF2B5EF4-FFF2-40B4-BE49-F238E27FC236}">
                <a16:creationId xmlns:a16="http://schemas.microsoft.com/office/drawing/2014/main" id="{FF33B295-FD97-4407-B3E7-48AFD92FE23D}"/>
              </a:ext>
            </a:extLst>
          </p:cNvPr>
          <p:cNvPicPr>
            <a:picLocks noChangeAspect="1"/>
          </p:cNvPicPr>
          <p:nvPr/>
        </p:nvPicPr>
        <p:blipFill>
          <a:blip r:embed="rId2"/>
          <a:stretch>
            <a:fillRect/>
          </a:stretch>
        </p:blipFill>
        <p:spPr>
          <a:xfrm>
            <a:off x="4238242" y="1713131"/>
            <a:ext cx="5647438" cy="2224440"/>
          </a:xfrm>
          <a:prstGeom prst="rect">
            <a:avLst/>
          </a:prstGeom>
        </p:spPr>
      </p:pic>
    </p:spTree>
    <p:extLst>
      <p:ext uri="{BB962C8B-B14F-4D97-AF65-F5344CB8AC3E}">
        <p14:creationId xmlns:p14="http://schemas.microsoft.com/office/powerpoint/2010/main" val="31482179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1431D8-5D06-4F77-9847-ADC6EFBDD160}"/>
              </a:ext>
            </a:extLst>
          </p:cNvPr>
          <p:cNvSpPr txBox="1"/>
          <p:nvPr/>
        </p:nvSpPr>
        <p:spPr>
          <a:xfrm>
            <a:off x="7924800" y="711200"/>
            <a:ext cx="3342640" cy="369332"/>
          </a:xfrm>
          <a:prstGeom prst="rect">
            <a:avLst/>
          </a:prstGeom>
          <a:noFill/>
        </p:spPr>
        <p:txBody>
          <a:bodyPr wrap="square" rtlCol="1">
            <a:spAutoFit/>
          </a:bodyPr>
          <a:lstStyle/>
          <a:p>
            <a:r>
              <a:rPr lang="he-IL" dirty="0"/>
              <a:t>ל</a:t>
            </a:r>
            <a:r>
              <a:rPr lang="en-US" dirty="0" err="1"/>
              <a:t>useEffect</a:t>
            </a:r>
            <a:r>
              <a:rPr lang="en-US" dirty="0"/>
              <a:t> </a:t>
            </a:r>
            <a:r>
              <a:rPr lang="he-IL" dirty="0"/>
              <a:t> יש 3 אופציות:</a:t>
            </a:r>
          </a:p>
        </p:txBody>
      </p:sp>
      <p:sp>
        <p:nvSpPr>
          <p:cNvPr id="3" name="TextBox 2">
            <a:extLst>
              <a:ext uri="{FF2B5EF4-FFF2-40B4-BE49-F238E27FC236}">
                <a16:creationId xmlns:a16="http://schemas.microsoft.com/office/drawing/2014/main" id="{D895E92D-AAF0-4F16-ACE4-29716C2B5998}"/>
              </a:ext>
            </a:extLst>
          </p:cNvPr>
          <p:cNvSpPr txBox="1"/>
          <p:nvPr/>
        </p:nvSpPr>
        <p:spPr>
          <a:xfrm>
            <a:off x="6096000" y="1381760"/>
            <a:ext cx="5171440" cy="369332"/>
          </a:xfrm>
          <a:prstGeom prst="rect">
            <a:avLst/>
          </a:prstGeom>
          <a:noFill/>
        </p:spPr>
        <p:txBody>
          <a:bodyPr wrap="square" rtlCol="1">
            <a:spAutoFit/>
          </a:bodyPr>
          <a:lstStyle/>
          <a:p>
            <a:r>
              <a:rPr lang="he-IL" dirty="0"/>
              <a:t>בעת </a:t>
            </a:r>
            <a:r>
              <a:rPr lang="he-IL" dirty="0" err="1"/>
              <a:t>רינדור</a:t>
            </a:r>
            <a:r>
              <a:rPr lang="he-IL" dirty="0"/>
              <a:t> או בעת שינוי סטייט</a:t>
            </a:r>
          </a:p>
        </p:txBody>
      </p:sp>
      <p:pic>
        <p:nvPicPr>
          <p:cNvPr id="4" name="תמונה 3">
            <a:extLst>
              <a:ext uri="{FF2B5EF4-FFF2-40B4-BE49-F238E27FC236}">
                <a16:creationId xmlns:a16="http://schemas.microsoft.com/office/drawing/2014/main" id="{247DA875-7776-4702-A9CE-249F6BEE8D0E}"/>
              </a:ext>
            </a:extLst>
          </p:cNvPr>
          <p:cNvPicPr>
            <a:picLocks noChangeAspect="1"/>
          </p:cNvPicPr>
          <p:nvPr/>
        </p:nvPicPr>
        <p:blipFill>
          <a:blip r:embed="rId2"/>
          <a:stretch>
            <a:fillRect/>
          </a:stretch>
        </p:blipFill>
        <p:spPr>
          <a:xfrm>
            <a:off x="8548244" y="1866250"/>
            <a:ext cx="2444876" cy="977950"/>
          </a:xfrm>
          <a:prstGeom prst="rect">
            <a:avLst/>
          </a:prstGeom>
        </p:spPr>
      </p:pic>
      <p:pic>
        <p:nvPicPr>
          <p:cNvPr id="5" name="תמונה 4">
            <a:extLst>
              <a:ext uri="{FF2B5EF4-FFF2-40B4-BE49-F238E27FC236}">
                <a16:creationId xmlns:a16="http://schemas.microsoft.com/office/drawing/2014/main" id="{AB9B7A3B-D3EB-43C4-975D-A6E47252531D}"/>
              </a:ext>
            </a:extLst>
          </p:cNvPr>
          <p:cNvPicPr>
            <a:picLocks noChangeAspect="1"/>
          </p:cNvPicPr>
          <p:nvPr/>
        </p:nvPicPr>
        <p:blipFill>
          <a:blip r:embed="rId3"/>
          <a:stretch>
            <a:fillRect/>
          </a:stretch>
        </p:blipFill>
        <p:spPr>
          <a:xfrm>
            <a:off x="1725147" y="1160732"/>
            <a:ext cx="5734345" cy="1854295"/>
          </a:xfrm>
          <a:prstGeom prst="rect">
            <a:avLst/>
          </a:prstGeom>
        </p:spPr>
      </p:pic>
      <p:pic>
        <p:nvPicPr>
          <p:cNvPr id="6" name="תמונה 5">
            <a:extLst>
              <a:ext uri="{FF2B5EF4-FFF2-40B4-BE49-F238E27FC236}">
                <a16:creationId xmlns:a16="http://schemas.microsoft.com/office/drawing/2014/main" id="{D19A2836-6BD9-4A99-8C50-F5D92B2C59E5}"/>
              </a:ext>
            </a:extLst>
          </p:cNvPr>
          <p:cNvPicPr>
            <a:picLocks noChangeAspect="1"/>
          </p:cNvPicPr>
          <p:nvPr/>
        </p:nvPicPr>
        <p:blipFill>
          <a:blip r:embed="rId4"/>
          <a:stretch>
            <a:fillRect/>
          </a:stretch>
        </p:blipFill>
        <p:spPr>
          <a:xfrm>
            <a:off x="6735485" y="3732938"/>
            <a:ext cx="4294745" cy="1244600"/>
          </a:xfrm>
          <a:prstGeom prst="rect">
            <a:avLst/>
          </a:prstGeom>
        </p:spPr>
      </p:pic>
      <p:sp>
        <p:nvSpPr>
          <p:cNvPr id="7" name="TextBox 6">
            <a:extLst>
              <a:ext uri="{FF2B5EF4-FFF2-40B4-BE49-F238E27FC236}">
                <a16:creationId xmlns:a16="http://schemas.microsoft.com/office/drawing/2014/main" id="{B7CA1B48-08D2-4962-BC07-43CD71C57814}"/>
              </a:ext>
            </a:extLst>
          </p:cNvPr>
          <p:cNvSpPr txBox="1"/>
          <p:nvPr/>
        </p:nvSpPr>
        <p:spPr>
          <a:xfrm>
            <a:off x="5720080" y="3296488"/>
            <a:ext cx="5171440" cy="369332"/>
          </a:xfrm>
          <a:prstGeom prst="rect">
            <a:avLst/>
          </a:prstGeom>
          <a:noFill/>
        </p:spPr>
        <p:txBody>
          <a:bodyPr wrap="square" rtlCol="1">
            <a:spAutoFit/>
          </a:bodyPr>
          <a:lstStyle/>
          <a:p>
            <a:r>
              <a:rPr lang="he-IL" dirty="0"/>
              <a:t>רק כאשר יש שינוי </a:t>
            </a:r>
            <a:r>
              <a:rPr lang="he-IL" dirty="0" err="1"/>
              <a:t>בסטייט</a:t>
            </a:r>
            <a:endParaRPr lang="he-IL" dirty="0"/>
          </a:p>
        </p:txBody>
      </p:sp>
      <p:pic>
        <p:nvPicPr>
          <p:cNvPr id="8" name="תמונה 7">
            <a:extLst>
              <a:ext uri="{FF2B5EF4-FFF2-40B4-BE49-F238E27FC236}">
                <a16:creationId xmlns:a16="http://schemas.microsoft.com/office/drawing/2014/main" id="{8A1DB4FC-0CA3-4D17-B235-FE3A1C143739}"/>
              </a:ext>
            </a:extLst>
          </p:cNvPr>
          <p:cNvPicPr>
            <a:picLocks noChangeAspect="1"/>
          </p:cNvPicPr>
          <p:nvPr/>
        </p:nvPicPr>
        <p:blipFill>
          <a:blip r:embed="rId5"/>
          <a:stretch>
            <a:fillRect/>
          </a:stretch>
        </p:blipFill>
        <p:spPr>
          <a:xfrm>
            <a:off x="7240077" y="5635475"/>
            <a:ext cx="3753043" cy="901746"/>
          </a:xfrm>
          <a:prstGeom prst="rect">
            <a:avLst/>
          </a:prstGeom>
        </p:spPr>
      </p:pic>
      <p:sp>
        <p:nvSpPr>
          <p:cNvPr id="9" name="TextBox 8">
            <a:extLst>
              <a:ext uri="{FF2B5EF4-FFF2-40B4-BE49-F238E27FC236}">
                <a16:creationId xmlns:a16="http://schemas.microsoft.com/office/drawing/2014/main" id="{317DC0D1-8DCC-47BB-9F18-1F72D82EF1D7}"/>
              </a:ext>
            </a:extLst>
          </p:cNvPr>
          <p:cNvSpPr txBox="1"/>
          <p:nvPr/>
        </p:nvSpPr>
        <p:spPr>
          <a:xfrm>
            <a:off x="5720080" y="5176858"/>
            <a:ext cx="5171440" cy="369332"/>
          </a:xfrm>
          <a:prstGeom prst="rect">
            <a:avLst/>
          </a:prstGeom>
          <a:noFill/>
        </p:spPr>
        <p:txBody>
          <a:bodyPr wrap="square" rtlCol="1">
            <a:spAutoFit/>
          </a:bodyPr>
          <a:lstStyle/>
          <a:p>
            <a:r>
              <a:rPr lang="he-IL" dirty="0"/>
              <a:t>רק </a:t>
            </a:r>
            <a:r>
              <a:rPr lang="he-IL" dirty="0" err="1"/>
              <a:t>ברינדור</a:t>
            </a:r>
            <a:r>
              <a:rPr lang="he-IL" dirty="0"/>
              <a:t> הראשון</a:t>
            </a:r>
          </a:p>
        </p:txBody>
      </p:sp>
      <p:pic>
        <p:nvPicPr>
          <p:cNvPr id="10" name="תמונה 9">
            <a:extLst>
              <a:ext uri="{FF2B5EF4-FFF2-40B4-BE49-F238E27FC236}">
                <a16:creationId xmlns:a16="http://schemas.microsoft.com/office/drawing/2014/main" id="{0266F288-CEDE-4E24-ADC0-C56E6219418B}"/>
              </a:ext>
            </a:extLst>
          </p:cNvPr>
          <p:cNvPicPr>
            <a:picLocks noChangeAspect="1"/>
          </p:cNvPicPr>
          <p:nvPr/>
        </p:nvPicPr>
        <p:blipFill>
          <a:blip r:embed="rId6"/>
          <a:stretch>
            <a:fillRect/>
          </a:stretch>
        </p:blipFill>
        <p:spPr>
          <a:xfrm>
            <a:off x="1123182" y="4732018"/>
            <a:ext cx="5150115" cy="1930499"/>
          </a:xfrm>
          <a:prstGeom prst="rect">
            <a:avLst/>
          </a:prstGeom>
        </p:spPr>
      </p:pic>
    </p:spTree>
    <p:extLst>
      <p:ext uri="{BB962C8B-B14F-4D97-AF65-F5344CB8AC3E}">
        <p14:creationId xmlns:p14="http://schemas.microsoft.com/office/powerpoint/2010/main" val="41782424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F2C7C7D-C262-4D47-A4F3-2F612A72C09E}"/>
              </a:ext>
            </a:extLst>
          </p:cNvPr>
          <p:cNvSpPr txBox="1"/>
          <p:nvPr/>
        </p:nvSpPr>
        <p:spPr>
          <a:xfrm>
            <a:off x="3241040" y="1036320"/>
            <a:ext cx="6339840" cy="800219"/>
          </a:xfrm>
          <a:prstGeom prst="rect">
            <a:avLst/>
          </a:prstGeom>
          <a:noFill/>
        </p:spPr>
        <p:txBody>
          <a:bodyPr wrap="square" rtlCol="1">
            <a:spAutoFit/>
          </a:bodyPr>
          <a:lstStyle/>
          <a:p>
            <a:pPr algn="ctr"/>
            <a:r>
              <a:rPr lang="he-IL" sz="2800" b="1" u="sng" dirty="0"/>
              <a:t>הבדלים בין </a:t>
            </a:r>
            <a:r>
              <a:rPr lang="en-US" sz="2800" b="1" u="sng" dirty="0"/>
              <a:t>class</a:t>
            </a:r>
            <a:r>
              <a:rPr lang="he-IL" sz="2800" b="1" u="sng" dirty="0"/>
              <a:t> ל</a:t>
            </a:r>
            <a:r>
              <a:rPr lang="en-US" sz="2800" b="1" u="sng" dirty="0"/>
              <a:t>hooks</a:t>
            </a:r>
            <a:endParaRPr lang="he-IL" sz="2800" b="1" u="sng" dirty="0"/>
          </a:p>
          <a:p>
            <a:endParaRPr lang="he-IL" dirty="0"/>
          </a:p>
        </p:txBody>
      </p:sp>
      <p:sp>
        <p:nvSpPr>
          <p:cNvPr id="3" name="TextBox 2">
            <a:extLst>
              <a:ext uri="{FF2B5EF4-FFF2-40B4-BE49-F238E27FC236}">
                <a16:creationId xmlns:a16="http://schemas.microsoft.com/office/drawing/2014/main" id="{E1A9AA5C-2A84-4AF5-8A90-66FDE12BF443}"/>
              </a:ext>
            </a:extLst>
          </p:cNvPr>
          <p:cNvSpPr txBox="1"/>
          <p:nvPr/>
        </p:nvSpPr>
        <p:spPr>
          <a:xfrm>
            <a:off x="5811520" y="1836539"/>
            <a:ext cx="4927600" cy="2031325"/>
          </a:xfrm>
          <a:prstGeom prst="rect">
            <a:avLst/>
          </a:prstGeom>
          <a:noFill/>
        </p:spPr>
        <p:txBody>
          <a:bodyPr wrap="square" rtlCol="1">
            <a:spAutoFit/>
          </a:bodyPr>
          <a:lstStyle/>
          <a:p>
            <a:r>
              <a:rPr lang="he-IL" dirty="0"/>
              <a:t>יש 2 דרכים לבנות </a:t>
            </a:r>
            <a:r>
              <a:rPr lang="he-IL" dirty="0" err="1"/>
              <a:t>קומפוננטות</a:t>
            </a:r>
            <a:r>
              <a:rPr lang="he-IL" dirty="0"/>
              <a:t> </a:t>
            </a:r>
            <a:r>
              <a:rPr lang="he-IL" dirty="0" err="1"/>
              <a:t>בריאקט</a:t>
            </a:r>
            <a:r>
              <a:rPr lang="he-IL" dirty="0"/>
              <a:t>:</a:t>
            </a:r>
          </a:p>
          <a:p>
            <a:r>
              <a:rPr lang="he-IL" dirty="0"/>
              <a:t>אחת </a:t>
            </a:r>
            <a:r>
              <a:rPr lang="en-US" dirty="0"/>
              <a:t>class component</a:t>
            </a:r>
            <a:r>
              <a:rPr lang="he-IL" dirty="0"/>
              <a:t> </a:t>
            </a:r>
            <a:r>
              <a:rPr lang="he-IL" dirty="0" err="1"/>
              <a:t>והשניה</a:t>
            </a:r>
            <a:r>
              <a:rPr lang="he-IL" dirty="0"/>
              <a:t> </a:t>
            </a:r>
            <a:r>
              <a:rPr lang="en-US" dirty="0"/>
              <a:t>function component</a:t>
            </a:r>
            <a:endParaRPr lang="he-IL" dirty="0"/>
          </a:p>
          <a:p>
            <a:endParaRPr lang="he-IL" dirty="0"/>
          </a:p>
          <a:p>
            <a:endParaRPr lang="he-IL" dirty="0"/>
          </a:p>
          <a:p>
            <a:r>
              <a:rPr lang="en-US" dirty="0"/>
              <a:t>Class:</a:t>
            </a:r>
          </a:p>
          <a:p>
            <a:r>
              <a:rPr lang="he-IL" dirty="0"/>
              <a:t>היא מייצגת </a:t>
            </a:r>
            <a:r>
              <a:rPr lang="he-IL" dirty="0" err="1"/>
              <a:t>קומפוננטה</a:t>
            </a:r>
            <a:r>
              <a:rPr lang="he-IL" dirty="0"/>
              <a:t> בתור </a:t>
            </a:r>
            <a:r>
              <a:rPr lang="en-US" dirty="0"/>
              <a:t>class</a:t>
            </a:r>
            <a:r>
              <a:rPr lang="he-IL" dirty="0"/>
              <a:t> </a:t>
            </a:r>
          </a:p>
          <a:p>
            <a:endParaRPr lang="he-IL" dirty="0"/>
          </a:p>
        </p:txBody>
      </p:sp>
      <p:pic>
        <p:nvPicPr>
          <p:cNvPr id="4" name="תמונה 3">
            <a:extLst>
              <a:ext uri="{FF2B5EF4-FFF2-40B4-BE49-F238E27FC236}">
                <a16:creationId xmlns:a16="http://schemas.microsoft.com/office/drawing/2014/main" id="{EE7570A4-6010-44D7-8953-5FAFF566A4F6}"/>
              </a:ext>
            </a:extLst>
          </p:cNvPr>
          <p:cNvPicPr>
            <a:picLocks noChangeAspect="1"/>
          </p:cNvPicPr>
          <p:nvPr/>
        </p:nvPicPr>
        <p:blipFill>
          <a:blip r:embed="rId2"/>
          <a:stretch>
            <a:fillRect/>
          </a:stretch>
        </p:blipFill>
        <p:spPr>
          <a:xfrm>
            <a:off x="6243286" y="4199152"/>
            <a:ext cx="4384074" cy="1409167"/>
          </a:xfrm>
          <a:prstGeom prst="rect">
            <a:avLst/>
          </a:prstGeom>
        </p:spPr>
      </p:pic>
    </p:spTree>
    <p:extLst>
      <p:ext uri="{BB962C8B-B14F-4D97-AF65-F5344CB8AC3E}">
        <p14:creationId xmlns:p14="http://schemas.microsoft.com/office/powerpoint/2010/main" val="35087600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C72D165-6379-4F1E-8547-AC00BD7C39E9}"/>
              </a:ext>
            </a:extLst>
          </p:cNvPr>
          <p:cNvSpPr txBox="1"/>
          <p:nvPr/>
        </p:nvSpPr>
        <p:spPr>
          <a:xfrm>
            <a:off x="5994400" y="335280"/>
            <a:ext cx="3931920" cy="646331"/>
          </a:xfrm>
          <a:prstGeom prst="rect">
            <a:avLst/>
          </a:prstGeom>
          <a:noFill/>
        </p:spPr>
        <p:txBody>
          <a:bodyPr wrap="square" rtlCol="1">
            <a:spAutoFit/>
          </a:bodyPr>
          <a:lstStyle/>
          <a:p>
            <a:r>
              <a:rPr lang="he-IL" dirty="0"/>
              <a:t>כל </a:t>
            </a:r>
            <a:r>
              <a:rPr lang="he-IL" dirty="0" err="1"/>
              <a:t>קומפוננטה</a:t>
            </a:r>
            <a:r>
              <a:rPr lang="he-IL" dirty="0"/>
              <a:t> כזאת חייבת להכיל </a:t>
            </a:r>
            <a:r>
              <a:rPr lang="en-US" dirty="0"/>
              <a:t>render</a:t>
            </a:r>
            <a:endParaRPr lang="he-IL" dirty="0"/>
          </a:p>
          <a:p>
            <a:endParaRPr lang="he-IL" dirty="0"/>
          </a:p>
        </p:txBody>
      </p:sp>
      <p:pic>
        <p:nvPicPr>
          <p:cNvPr id="4" name="תמונה 3">
            <a:extLst>
              <a:ext uri="{FF2B5EF4-FFF2-40B4-BE49-F238E27FC236}">
                <a16:creationId xmlns:a16="http://schemas.microsoft.com/office/drawing/2014/main" id="{39CE6243-79F4-4E3D-AFDC-7676F8B4E0D4}"/>
              </a:ext>
            </a:extLst>
          </p:cNvPr>
          <p:cNvPicPr>
            <a:picLocks noChangeAspect="1"/>
          </p:cNvPicPr>
          <p:nvPr/>
        </p:nvPicPr>
        <p:blipFill>
          <a:blip r:embed="rId2"/>
          <a:stretch>
            <a:fillRect/>
          </a:stretch>
        </p:blipFill>
        <p:spPr>
          <a:xfrm>
            <a:off x="3709350" y="1012091"/>
            <a:ext cx="6129531" cy="2186866"/>
          </a:xfrm>
          <a:prstGeom prst="rect">
            <a:avLst/>
          </a:prstGeom>
        </p:spPr>
      </p:pic>
      <p:pic>
        <p:nvPicPr>
          <p:cNvPr id="5" name="תמונה 4">
            <a:extLst>
              <a:ext uri="{FF2B5EF4-FFF2-40B4-BE49-F238E27FC236}">
                <a16:creationId xmlns:a16="http://schemas.microsoft.com/office/drawing/2014/main" id="{354F8B16-C808-49FA-93E5-C8101E406041}"/>
              </a:ext>
            </a:extLst>
          </p:cNvPr>
          <p:cNvPicPr>
            <a:picLocks noChangeAspect="1"/>
          </p:cNvPicPr>
          <p:nvPr/>
        </p:nvPicPr>
        <p:blipFill>
          <a:blip r:embed="rId3"/>
          <a:stretch>
            <a:fillRect/>
          </a:stretch>
        </p:blipFill>
        <p:spPr>
          <a:xfrm>
            <a:off x="3709350" y="3628320"/>
            <a:ext cx="6216970" cy="2730640"/>
          </a:xfrm>
          <a:prstGeom prst="rect">
            <a:avLst/>
          </a:prstGeom>
        </p:spPr>
      </p:pic>
    </p:spTree>
    <p:extLst>
      <p:ext uri="{BB962C8B-B14F-4D97-AF65-F5344CB8AC3E}">
        <p14:creationId xmlns:p14="http://schemas.microsoft.com/office/powerpoint/2010/main" val="35453691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42DE554A-C7AB-424E-9B9E-4B80C27D8A0C}"/>
              </a:ext>
            </a:extLst>
          </p:cNvPr>
          <p:cNvPicPr>
            <a:picLocks noChangeAspect="1"/>
          </p:cNvPicPr>
          <p:nvPr/>
        </p:nvPicPr>
        <p:blipFill>
          <a:blip r:embed="rId2"/>
          <a:stretch>
            <a:fillRect/>
          </a:stretch>
        </p:blipFill>
        <p:spPr>
          <a:xfrm>
            <a:off x="6593841" y="722479"/>
            <a:ext cx="4676858" cy="4221024"/>
          </a:xfrm>
          <a:prstGeom prst="rect">
            <a:avLst/>
          </a:prstGeom>
        </p:spPr>
      </p:pic>
      <p:pic>
        <p:nvPicPr>
          <p:cNvPr id="4" name="תמונה 3">
            <a:extLst>
              <a:ext uri="{FF2B5EF4-FFF2-40B4-BE49-F238E27FC236}">
                <a16:creationId xmlns:a16="http://schemas.microsoft.com/office/drawing/2014/main" id="{658D9BDB-931E-4854-9AA9-A8F5ACC4341F}"/>
              </a:ext>
            </a:extLst>
          </p:cNvPr>
          <p:cNvPicPr>
            <a:picLocks noChangeAspect="1"/>
          </p:cNvPicPr>
          <p:nvPr/>
        </p:nvPicPr>
        <p:blipFill>
          <a:blip r:embed="rId3"/>
          <a:stretch>
            <a:fillRect/>
          </a:stretch>
        </p:blipFill>
        <p:spPr>
          <a:xfrm>
            <a:off x="670560" y="991719"/>
            <a:ext cx="5247738" cy="2755063"/>
          </a:xfrm>
          <a:prstGeom prst="rect">
            <a:avLst/>
          </a:prstGeom>
        </p:spPr>
      </p:pic>
    </p:spTree>
    <p:extLst>
      <p:ext uri="{BB962C8B-B14F-4D97-AF65-F5344CB8AC3E}">
        <p14:creationId xmlns:p14="http://schemas.microsoft.com/office/powerpoint/2010/main" val="4398626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תמונה 4">
            <a:extLst>
              <a:ext uri="{FF2B5EF4-FFF2-40B4-BE49-F238E27FC236}">
                <a16:creationId xmlns:a16="http://schemas.microsoft.com/office/drawing/2014/main" id="{60F9B3D7-6625-49DB-A9DF-31E46045BEC1}"/>
              </a:ext>
            </a:extLst>
          </p:cNvPr>
          <p:cNvPicPr>
            <a:picLocks noChangeAspect="1"/>
          </p:cNvPicPr>
          <p:nvPr/>
        </p:nvPicPr>
        <p:blipFill>
          <a:blip r:embed="rId2"/>
          <a:stretch>
            <a:fillRect/>
          </a:stretch>
        </p:blipFill>
        <p:spPr>
          <a:xfrm>
            <a:off x="4785360" y="1288940"/>
            <a:ext cx="4759423" cy="2659910"/>
          </a:xfrm>
          <a:prstGeom prst="rect">
            <a:avLst/>
          </a:prstGeom>
        </p:spPr>
      </p:pic>
      <p:sp>
        <p:nvSpPr>
          <p:cNvPr id="6" name="TextBox 5">
            <a:extLst>
              <a:ext uri="{FF2B5EF4-FFF2-40B4-BE49-F238E27FC236}">
                <a16:creationId xmlns:a16="http://schemas.microsoft.com/office/drawing/2014/main" id="{BA295021-4BF5-46ED-A829-C27E3ECA8003}"/>
              </a:ext>
            </a:extLst>
          </p:cNvPr>
          <p:cNvSpPr txBox="1"/>
          <p:nvPr/>
        </p:nvSpPr>
        <p:spPr>
          <a:xfrm>
            <a:off x="4785360" y="508000"/>
            <a:ext cx="4582160" cy="369332"/>
          </a:xfrm>
          <a:prstGeom prst="rect">
            <a:avLst/>
          </a:prstGeom>
          <a:noFill/>
        </p:spPr>
        <p:txBody>
          <a:bodyPr wrap="square" rtlCol="1">
            <a:spAutoFit/>
          </a:bodyPr>
          <a:lstStyle/>
          <a:p>
            <a:r>
              <a:rPr lang="en-US" dirty="0"/>
              <a:t>Function components</a:t>
            </a:r>
            <a:endParaRPr lang="he-IL" dirty="0"/>
          </a:p>
        </p:txBody>
      </p:sp>
      <p:pic>
        <p:nvPicPr>
          <p:cNvPr id="7" name="תמונה 6">
            <a:extLst>
              <a:ext uri="{FF2B5EF4-FFF2-40B4-BE49-F238E27FC236}">
                <a16:creationId xmlns:a16="http://schemas.microsoft.com/office/drawing/2014/main" id="{2686E221-5911-479C-AA4B-684AA4D6E5C4}"/>
              </a:ext>
            </a:extLst>
          </p:cNvPr>
          <p:cNvPicPr>
            <a:picLocks noChangeAspect="1"/>
          </p:cNvPicPr>
          <p:nvPr/>
        </p:nvPicPr>
        <p:blipFill>
          <a:blip r:embed="rId3"/>
          <a:stretch>
            <a:fillRect/>
          </a:stretch>
        </p:blipFill>
        <p:spPr>
          <a:xfrm>
            <a:off x="4495032" y="4278921"/>
            <a:ext cx="5162815" cy="2514729"/>
          </a:xfrm>
          <a:prstGeom prst="rect">
            <a:avLst/>
          </a:prstGeom>
        </p:spPr>
      </p:pic>
    </p:spTree>
    <p:extLst>
      <p:ext uri="{BB962C8B-B14F-4D97-AF65-F5344CB8AC3E}">
        <p14:creationId xmlns:p14="http://schemas.microsoft.com/office/powerpoint/2010/main" val="38949391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E422B7CA-E9E9-4B63-8A33-64194DED9C44}"/>
              </a:ext>
            </a:extLst>
          </p:cNvPr>
          <p:cNvPicPr>
            <a:picLocks noChangeAspect="1"/>
          </p:cNvPicPr>
          <p:nvPr/>
        </p:nvPicPr>
        <p:blipFill>
          <a:blip r:embed="rId2"/>
          <a:stretch>
            <a:fillRect/>
          </a:stretch>
        </p:blipFill>
        <p:spPr>
          <a:xfrm>
            <a:off x="840623" y="352995"/>
            <a:ext cx="10359026" cy="4340925"/>
          </a:xfrm>
          <a:prstGeom prst="rect">
            <a:avLst/>
          </a:prstGeom>
        </p:spPr>
      </p:pic>
    </p:spTree>
    <p:extLst>
      <p:ext uri="{BB962C8B-B14F-4D97-AF65-F5344CB8AC3E}">
        <p14:creationId xmlns:p14="http://schemas.microsoft.com/office/powerpoint/2010/main" val="36962315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a:extLst>
              <a:ext uri="{FF2B5EF4-FFF2-40B4-BE49-F238E27FC236}">
                <a16:creationId xmlns:a16="http://schemas.microsoft.com/office/drawing/2014/main" id="{CE100E07-83FD-4253-A10D-B44955142266}"/>
              </a:ext>
            </a:extLst>
          </p:cNvPr>
          <p:cNvPicPr>
            <a:picLocks noChangeAspect="1"/>
          </p:cNvPicPr>
          <p:nvPr/>
        </p:nvPicPr>
        <p:blipFill>
          <a:blip r:embed="rId2"/>
          <a:stretch>
            <a:fillRect/>
          </a:stretch>
        </p:blipFill>
        <p:spPr>
          <a:xfrm>
            <a:off x="1431776" y="640081"/>
            <a:ext cx="8766422" cy="3915476"/>
          </a:xfrm>
          <a:prstGeom prst="rect">
            <a:avLst/>
          </a:prstGeom>
        </p:spPr>
      </p:pic>
    </p:spTree>
    <p:extLst>
      <p:ext uri="{BB962C8B-B14F-4D97-AF65-F5344CB8AC3E}">
        <p14:creationId xmlns:p14="http://schemas.microsoft.com/office/powerpoint/2010/main" val="9109480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15D4DB3D-640C-477C-A198-474BBB4DDFCF}"/>
              </a:ext>
            </a:extLst>
          </p:cNvPr>
          <p:cNvPicPr>
            <a:picLocks noChangeAspect="1"/>
          </p:cNvPicPr>
          <p:nvPr/>
        </p:nvPicPr>
        <p:blipFill>
          <a:blip r:embed="rId2"/>
          <a:stretch>
            <a:fillRect/>
          </a:stretch>
        </p:blipFill>
        <p:spPr>
          <a:xfrm>
            <a:off x="1421051" y="742812"/>
            <a:ext cx="9675089" cy="4438788"/>
          </a:xfrm>
          <a:prstGeom prst="rect">
            <a:avLst/>
          </a:prstGeom>
        </p:spPr>
      </p:pic>
    </p:spTree>
    <p:extLst>
      <p:ext uri="{BB962C8B-B14F-4D97-AF65-F5344CB8AC3E}">
        <p14:creationId xmlns:p14="http://schemas.microsoft.com/office/powerpoint/2010/main" val="18731752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14DEDEF-1780-4C25-8A46-400604FC8B12}"/>
              </a:ext>
            </a:extLst>
          </p:cNvPr>
          <p:cNvSpPr txBox="1"/>
          <p:nvPr/>
        </p:nvSpPr>
        <p:spPr>
          <a:xfrm>
            <a:off x="1016000" y="1016000"/>
            <a:ext cx="9652000" cy="1231106"/>
          </a:xfrm>
          <a:prstGeom prst="rect">
            <a:avLst/>
          </a:prstGeom>
          <a:noFill/>
        </p:spPr>
        <p:txBody>
          <a:bodyPr wrap="square" rtlCol="1">
            <a:spAutoFit/>
          </a:bodyPr>
          <a:lstStyle/>
          <a:p>
            <a:r>
              <a:rPr lang="he-IL" sz="2000" b="1" u="sng" dirty="0"/>
              <a:t>אירועים </a:t>
            </a:r>
            <a:r>
              <a:rPr lang="he-IL" sz="2000" b="1" u="sng" dirty="0" err="1"/>
              <a:t>בריאקט</a:t>
            </a:r>
            <a:r>
              <a:rPr lang="he-IL" sz="2000" b="1" u="sng" dirty="0"/>
              <a:t>:</a:t>
            </a:r>
            <a:br>
              <a:rPr lang="en-US" dirty="0"/>
            </a:br>
            <a:r>
              <a:rPr lang="he-IL" dirty="0"/>
              <a:t>חלק גדול </a:t>
            </a:r>
            <a:r>
              <a:rPr lang="he-IL" dirty="0" err="1"/>
              <a:t>מהקומפוננטות</a:t>
            </a:r>
            <a:r>
              <a:rPr lang="he-IL" dirty="0"/>
              <a:t> אמורות לדעת לטפל בקלט מהמשתמש – כלומר פעולות ואירועים. אירועים הם חלק מהותי </a:t>
            </a:r>
            <a:r>
              <a:rPr lang="he-IL" dirty="0" err="1"/>
              <a:t>מג'אווהסקריפט</a:t>
            </a:r>
            <a:r>
              <a:rPr lang="he-IL" dirty="0"/>
              <a:t> </a:t>
            </a:r>
            <a:r>
              <a:rPr lang="he-IL" dirty="0" err="1"/>
              <a:t>ומג'אווהסקריפט</a:t>
            </a:r>
            <a:r>
              <a:rPr lang="he-IL" dirty="0"/>
              <a:t> שרץ בסביבת דפדפן, </a:t>
            </a:r>
            <a:r>
              <a:rPr lang="he-IL" dirty="0" err="1"/>
              <a:t>וריאקט</a:t>
            </a:r>
            <a:r>
              <a:rPr lang="he-IL" dirty="0"/>
              <a:t> יודעת לעבוד איתם יפה מאוד. על מנת לדעת איך עובדים עם אירועים, ניזכר איך אירועי </a:t>
            </a:r>
            <a:r>
              <a:rPr lang="en-US" dirty="0"/>
              <a:t>DOM, </a:t>
            </a:r>
            <a:r>
              <a:rPr lang="he-IL" dirty="0"/>
              <a:t>כלומר אירועים טבעיים </a:t>
            </a:r>
            <a:r>
              <a:rPr lang="he-IL" dirty="0" err="1"/>
              <a:t>בג'אווהסקריפט</a:t>
            </a:r>
            <a:r>
              <a:rPr lang="he-IL" dirty="0"/>
              <a:t>, עובדים. </a:t>
            </a:r>
          </a:p>
        </p:txBody>
      </p:sp>
      <p:pic>
        <p:nvPicPr>
          <p:cNvPr id="3" name="תמונה 2">
            <a:extLst>
              <a:ext uri="{FF2B5EF4-FFF2-40B4-BE49-F238E27FC236}">
                <a16:creationId xmlns:a16="http://schemas.microsoft.com/office/drawing/2014/main" id="{81AA3FC3-AEFF-40BE-8145-CD76A02D95AC}"/>
              </a:ext>
            </a:extLst>
          </p:cNvPr>
          <p:cNvPicPr>
            <a:picLocks noChangeAspect="1"/>
          </p:cNvPicPr>
          <p:nvPr/>
        </p:nvPicPr>
        <p:blipFill>
          <a:blip r:embed="rId2"/>
          <a:stretch>
            <a:fillRect/>
          </a:stretch>
        </p:blipFill>
        <p:spPr>
          <a:xfrm>
            <a:off x="1589876" y="2555167"/>
            <a:ext cx="8783483" cy="3935000"/>
          </a:xfrm>
          <a:prstGeom prst="rect">
            <a:avLst/>
          </a:prstGeom>
        </p:spPr>
      </p:pic>
    </p:spTree>
    <p:extLst>
      <p:ext uri="{BB962C8B-B14F-4D97-AF65-F5344CB8AC3E}">
        <p14:creationId xmlns:p14="http://schemas.microsoft.com/office/powerpoint/2010/main" val="39346040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לבן 1">
            <a:extLst>
              <a:ext uri="{FF2B5EF4-FFF2-40B4-BE49-F238E27FC236}">
                <a16:creationId xmlns:a16="http://schemas.microsoft.com/office/drawing/2014/main" id="{1445DDCF-BC71-4A55-9B9D-5A63588AC7B1}"/>
              </a:ext>
            </a:extLst>
          </p:cNvPr>
          <p:cNvSpPr/>
          <p:nvPr/>
        </p:nvSpPr>
        <p:spPr>
          <a:xfrm>
            <a:off x="1229360" y="484555"/>
            <a:ext cx="9672320" cy="369332"/>
          </a:xfrm>
          <a:prstGeom prst="rect">
            <a:avLst/>
          </a:prstGeom>
        </p:spPr>
        <p:txBody>
          <a:bodyPr wrap="square">
            <a:spAutoFit/>
          </a:bodyPr>
          <a:lstStyle/>
          <a:p>
            <a:r>
              <a:rPr lang="he-IL" dirty="0"/>
              <a:t>אנו לא נוכל להשתמש בהם ב-</a:t>
            </a:r>
            <a:r>
              <a:rPr lang="en-US" dirty="0"/>
              <a:t>JSX. </a:t>
            </a:r>
            <a:r>
              <a:rPr lang="he-IL" dirty="0"/>
              <a:t>אלו אירועים ב-</a:t>
            </a:r>
            <a:r>
              <a:rPr lang="en-US" dirty="0"/>
              <a:t>HTML, </a:t>
            </a:r>
            <a:r>
              <a:rPr lang="he-IL" dirty="0"/>
              <a:t>ו -</a:t>
            </a:r>
            <a:r>
              <a:rPr lang="en-US" dirty="0"/>
              <a:t>JSX </a:t>
            </a:r>
            <a:r>
              <a:rPr lang="he-IL" dirty="0" err="1"/>
              <a:t>שו</a:t>
            </a:r>
            <a:r>
              <a:rPr lang="he-IL" dirty="0"/>
              <a:t> </a:t>
            </a:r>
            <a:r>
              <a:rPr lang="he-IL" dirty="0" err="1"/>
              <a:t>נה</a:t>
            </a:r>
            <a:r>
              <a:rPr lang="he-IL" dirty="0"/>
              <a:t> מ-</a:t>
            </a:r>
            <a:r>
              <a:rPr lang="en-US" dirty="0"/>
              <a:t>HTML, </a:t>
            </a:r>
            <a:r>
              <a:rPr lang="he-IL" dirty="0"/>
              <a:t>למרות הדמיון הוויזואלי. </a:t>
            </a:r>
          </a:p>
        </p:txBody>
      </p:sp>
      <p:sp>
        <p:nvSpPr>
          <p:cNvPr id="3" name="מלבן 2">
            <a:extLst>
              <a:ext uri="{FF2B5EF4-FFF2-40B4-BE49-F238E27FC236}">
                <a16:creationId xmlns:a16="http://schemas.microsoft.com/office/drawing/2014/main" id="{E9796B10-6A29-4905-A518-D157614B0983}"/>
              </a:ext>
            </a:extLst>
          </p:cNvPr>
          <p:cNvSpPr/>
          <p:nvPr/>
        </p:nvSpPr>
        <p:spPr>
          <a:xfrm>
            <a:off x="8149003" y="1324094"/>
            <a:ext cx="2752677" cy="369332"/>
          </a:xfrm>
          <a:prstGeom prst="rect">
            <a:avLst/>
          </a:prstGeom>
        </p:spPr>
        <p:txBody>
          <a:bodyPr wrap="none">
            <a:spAutoFit/>
          </a:bodyPr>
          <a:lstStyle/>
          <a:p>
            <a:r>
              <a:rPr lang="he-IL" dirty="0"/>
              <a:t>אירועים סינתטיים/ </a:t>
            </a:r>
            <a:r>
              <a:rPr lang="he-IL" dirty="0" err="1"/>
              <a:t>ריאקטיים</a:t>
            </a:r>
            <a:r>
              <a:rPr lang="he-IL" dirty="0"/>
              <a:t> </a:t>
            </a:r>
          </a:p>
        </p:txBody>
      </p:sp>
      <p:sp>
        <p:nvSpPr>
          <p:cNvPr id="4" name="מלבן 3">
            <a:extLst>
              <a:ext uri="{FF2B5EF4-FFF2-40B4-BE49-F238E27FC236}">
                <a16:creationId xmlns:a16="http://schemas.microsoft.com/office/drawing/2014/main" id="{6C0C6C7F-0E38-405A-9AB1-BBDC6B85B74C}"/>
              </a:ext>
            </a:extLst>
          </p:cNvPr>
          <p:cNvSpPr/>
          <p:nvPr/>
        </p:nvSpPr>
        <p:spPr>
          <a:xfrm>
            <a:off x="1117600" y="2228671"/>
            <a:ext cx="9784080" cy="646331"/>
          </a:xfrm>
          <a:prstGeom prst="rect">
            <a:avLst/>
          </a:prstGeom>
        </p:spPr>
        <p:txBody>
          <a:bodyPr wrap="square">
            <a:spAutoFit/>
          </a:bodyPr>
          <a:lstStyle/>
          <a:p>
            <a:r>
              <a:rPr lang="he-IL" dirty="0"/>
              <a:t>ב-</a:t>
            </a:r>
            <a:r>
              <a:rPr lang="en-US" dirty="0"/>
              <a:t>JSX </a:t>
            </a:r>
            <a:r>
              <a:rPr lang="he-IL" dirty="0"/>
              <a:t>אנו יכולים להשתמש באירועים </a:t>
            </a:r>
            <a:r>
              <a:rPr lang="he-IL" dirty="0" err="1"/>
              <a:t>ריאקטיים</a:t>
            </a:r>
            <a:r>
              <a:rPr lang="he-IL" dirty="0"/>
              <a:t> לאלמנטים שיודעים לעבוד איתם. הם דומים לאירועי ה-</a:t>
            </a:r>
            <a:r>
              <a:rPr lang="en-US" dirty="0"/>
              <a:t>DOM </a:t>
            </a:r>
            <a:r>
              <a:rPr lang="he-IL" dirty="0"/>
              <a:t>וגם מתנהגים כמעט כמוהם. מדובר בעצם באירועים עוטפים שיש להם אותו ממשק פעולה.</a:t>
            </a:r>
          </a:p>
        </p:txBody>
      </p:sp>
      <p:sp>
        <p:nvSpPr>
          <p:cNvPr id="5" name="מלבן 4">
            <a:extLst>
              <a:ext uri="{FF2B5EF4-FFF2-40B4-BE49-F238E27FC236}">
                <a16:creationId xmlns:a16="http://schemas.microsoft.com/office/drawing/2014/main" id="{760E876B-5C87-4434-A46B-29998E852DE8}"/>
              </a:ext>
            </a:extLst>
          </p:cNvPr>
          <p:cNvSpPr/>
          <p:nvPr/>
        </p:nvSpPr>
        <p:spPr>
          <a:xfrm>
            <a:off x="619760" y="3275378"/>
            <a:ext cx="10281920" cy="646331"/>
          </a:xfrm>
          <a:prstGeom prst="rect">
            <a:avLst/>
          </a:prstGeom>
        </p:spPr>
        <p:txBody>
          <a:bodyPr wrap="square">
            <a:spAutoFit/>
          </a:bodyPr>
          <a:lstStyle/>
          <a:p>
            <a:r>
              <a:rPr lang="he-IL" dirty="0"/>
              <a:t>צריך לזכור שבעצם לכל אירוע </a:t>
            </a:r>
            <a:r>
              <a:rPr lang="en-US" dirty="0"/>
              <a:t>DOM </a:t>
            </a:r>
            <a:r>
              <a:rPr lang="he-IL" dirty="0"/>
              <a:t>רגיל יש מקבילה </a:t>
            </a:r>
            <a:r>
              <a:rPr lang="he-IL" dirty="0" err="1"/>
              <a:t>ריאקטית</a:t>
            </a:r>
            <a:r>
              <a:rPr lang="he-IL" dirty="0"/>
              <a:t>. בדרך כלל המקבילה </a:t>
            </a:r>
            <a:r>
              <a:rPr lang="he-IL" dirty="0" err="1"/>
              <a:t>הריאקטית</a:t>
            </a:r>
            <a:r>
              <a:rPr lang="he-IL" dirty="0"/>
              <a:t> תהיה ב-</a:t>
            </a:r>
            <a:r>
              <a:rPr lang="en-US" dirty="0"/>
              <a:t>case camel, </a:t>
            </a:r>
            <a:r>
              <a:rPr lang="he-IL" dirty="0"/>
              <a:t>כלומר האות הראשונה של המילה השנייה תהיה אות גדולה באנגלית. למשל: </a:t>
            </a:r>
          </a:p>
        </p:txBody>
      </p:sp>
      <p:pic>
        <p:nvPicPr>
          <p:cNvPr id="6" name="תמונה 5">
            <a:extLst>
              <a:ext uri="{FF2B5EF4-FFF2-40B4-BE49-F238E27FC236}">
                <a16:creationId xmlns:a16="http://schemas.microsoft.com/office/drawing/2014/main" id="{D619B0A8-B539-4D6A-AE75-9C079D76535C}"/>
              </a:ext>
            </a:extLst>
          </p:cNvPr>
          <p:cNvPicPr>
            <a:picLocks noChangeAspect="1"/>
          </p:cNvPicPr>
          <p:nvPr/>
        </p:nvPicPr>
        <p:blipFill>
          <a:blip r:embed="rId2"/>
          <a:stretch>
            <a:fillRect/>
          </a:stretch>
        </p:blipFill>
        <p:spPr>
          <a:xfrm>
            <a:off x="2742416" y="4056324"/>
            <a:ext cx="7255024" cy="2713650"/>
          </a:xfrm>
          <a:prstGeom prst="rect">
            <a:avLst/>
          </a:prstGeom>
        </p:spPr>
      </p:pic>
    </p:spTree>
    <p:extLst>
      <p:ext uri="{BB962C8B-B14F-4D97-AF65-F5344CB8AC3E}">
        <p14:creationId xmlns:p14="http://schemas.microsoft.com/office/powerpoint/2010/main" val="41715424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89416C-32A3-4E63-9438-A282F78C59B8}"/>
              </a:ext>
            </a:extLst>
          </p:cNvPr>
          <p:cNvSpPr txBox="1"/>
          <p:nvPr/>
        </p:nvSpPr>
        <p:spPr>
          <a:xfrm>
            <a:off x="4033520" y="1005840"/>
            <a:ext cx="6827520" cy="4801314"/>
          </a:xfrm>
          <a:prstGeom prst="rect">
            <a:avLst/>
          </a:prstGeom>
          <a:noFill/>
        </p:spPr>
        <p:txBody>
          <a:bodyPr wrap="square" rtlCol="1">
            <a:spAutoFit/>
          </a:bodyPr>
          <a:lstStyle/>
          <a:p>
            <a:r>
              <a:rPr lang="he-IL" dirty="0"/>
              <a:t>תרגול:</a:t>
            </a:r>
            <a:br>
              <a:rPr lang="en-US" dirty="0"/>
            </a:br>
            <a:r>
              <a:rPr lang="he-IL" dirty="0"/>
              <a:t>צרי </a:t>
            </a:r>
            <a:r>
              <a:rPr lang="he-IL" dirty="0" err="1"/>
              <a:t>קומפוננטה</a:t>
            </a:r>
            <a:r>
              <a:rPr lang="he-IL" dirty="0"/>
              <a:t> בשם בית ספר.</a:t>
            </a:r>
            <a:br>
              <a:rPr lang="en-US" dirty="0"/>
            </a:br>
            <a:r>
              <a:rPr lang="he-IL" dirty="0"/>
              <a:t>בלחיצה על הכפתור הצג קורסים – הציגי רשימה של קורסים הקיימים בביה"ס.</a:t>
            </a:r>
            <a:br>
              <a:rPr lang="en-US" dirty="0"/>
            </a:br>
            <a:r>
              <a:rPr lang="he-IL" dirty="0"/>
              <a:t>בלחיצה על כפתור הצג מורים – הציגי את רשימת המורים בביה"ס.</a:t>
            </a:r>
          </a:p>
          <a:p>
            <a:endParaRPr lang="he-IL" dirty="0"/>
          </a:p>
          <a:p>
            <a:r>
              <a:rPr lang="he-IL" dirty="0"/>
              <a:t>את רשימת התלמידים תציגי תמיד.</a:t>
            </a:r>
          </a:p>
          <a:p>
            <a:endParaRPr lang="he-IL" dirty="0"/>
          </a:p>
          <a:p>
            <a:r>
              <a:rPr lang="he-IL" dirty="0" err="1"/>
              <a:t>כשהקומפוננטה</a:t>
            </a:r>
            <a:r>
              <a:rPr lang="he-IL" dirty="0"/>
              <a:t> נטענת – הציגי הודעה "ברוכים הבאים"</a:t>
            </a:r>
          </a:p>
          <a:p>
            <a:endParaRPr lang="he-IL" dirty="0"/>
          </a:p>
          <a:p>
            <a:r>
              <a:rPr lang="he-IL" dirty="0" err="1"/>
              <a:t>בליחצה</a:t>
            </a:r>
            <a:r>
              <a:rPr lang="he-IL" dirty="0"/>
              <a:t> על כפתור רישום לקורס – הציגי 2 תיבות טקסט.</a:t>
            </a:r>
          </a:p>
          <a:p>
            <a:r>
              <a:rPr lang="he-IL" dirty="0"/>
              <a:t>שם תלמיד, שם קורס.</a:t>
            </a:r>
          </a:p>
          <a:p>
            <a:endParaRPr lang="he-IL" dirty="0"/>
          </a:p>
          <a:p>
            <a:r>
              <a:rPr lang="he-IL" dirty="0"/>
              <a:t>בעת לחיצה על כפתור אישור – הציגי את הנתונים שמולאו ע"י התלמיד והסתירי את תיבות הטקסט.</a:t>
            </a:r>
          </a:p>
          <a:p>
            <a:endParaRPr lang="he-IL" dirty="0"/>
          </a:p>
          <a:p>
            <a:r>
              <a:rPr lang="he-IL" dirty="0"/>
              <a:t>בהצלחה </a:t>
            </a:r>
            <a:r>
              <a:rPr lang="he-IL" dirty="0">
                <a:sym typeface="Wingdings" panose="05000000000000000000" pitchFamily="2" charset="2"/>
              </a:rPr>
              <a:t></a:t>
            </a:r>
            <a:endParaRPr lang="he-IL" dirty="0"/>
          </a:p>
        </p:txBody>
      </p:sp>
    </p:spTree>
    <p:extLst>
      <p:ext uri="{BB962C8B-B14F-4D97-AF65-F5344CB8AC3E}">
        <p14:creationId xmlns:p14="http://schemas.microsoft.com/office/powerpoint/2010/main" val="9760093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B4149D1-80DB-43C9-AE8D-D70D6B77BCDC}"/>
              </a:ext>
            </a:extLst>
          </p:cNvPr>
          <p:cNvSpPr txBox="1"/>
          <p:nvPr/>
        </p:nvSpPr>
        <p:spPr>
          <a:xfrm>
            <a:off x="2428240" y="873760"/>
            <a:ext cx="8148320" cy="6463308"/>
          </a:xfrm>
          <a:prstGeom prst="rect">
            <a:avLst/>
          </a:prstGeom>
          <a:noFill/>
        </p:spPr>
        <p:txBody>
          <a:bodyPr wrap="square" rtlCol="1">
            <a:spAutoFit/>
          </a:bodyPr>
          <a:lstStyle/>
          <a:p>
            <a:r>
              <a:rPr lang="he-IL" dirty="0"/>
              <a:t>צרי מחשבון המרת שקל לדולר.</a:t>
            </a:r>
          </a:p>
          <a:p>
            <a:endParaRPr lang="he-IL" dirty="0"/>
          </a:p>
          <a:p>
            <a:r>
              <a:rPr lang="he-IL" dirty="0"/>
              <a:t>צרי תיבת טקסט להכנסת הערך וכפתור להמרה.</a:t>
            </a:r>
          </a:p>
          <a:p>
            <a:endParaRPr lang="he-IL" dirty="0"/>
          </a:p>
          <a:p>
            <a:r>
              <a:rPr lang="he-IL" dirty="0"/>
              <a:t>את התוצאה תציגי בתוך תגית </a:t>
            </a:r>
            <a:r>
              <a:rPr lang="en-US" dirty="0"/>
              <a:t>P</a:t>
            </a:r>
            <a:r>
              <a:rPr lang="he-IL" dirty="0"/>
              <a:t>.</a:t>
            </a:r>
          </a:p>
          <a:p>
            <a:endParaRPr lang="he-IL" dirty="0"/>
          </a:p>
          <a:p>
            <a:endParaRPr lang="he-IL" dirty="0"/>
          </a:p>
          <a:p>
            <a:endParaRPr lang="he-IL" dirty="0"/>
          </a:p>
          <a:p>
            <a:r>
              <a:rPr lang="he-IL" dirty="0"/>
              <a:t>צרי רשימה של יבשות.</a:t>
            </a:r>
          </a:p>
          <a:p>
            <a:r>
              <a:rPr lang="he-IL" dirty="0"/>
              <a:t>הציגי כל יבשת בתוך </a:t>
            </a:r>
            <a:r>
              <a:rPr lang="en-US" dirty="0"/>
              <a:t>DIV</a:t>
            </a:r>
            <a:r>
              <a:rPr lang="he-IL" dirty="0"/>
              <a:t>.</a:t>
            </a:r>
          </a:p>
          <a:p>
            <a:r>
              <a:rPr lang="he-IL" dirty="0"/>
              <a:t>בעת לחיצה על </a:t>
            </a:r>
            <a:r>
              <a:rPr lang="en-US" dirty="0"/>
              <a:t>DIV </a:t>
            </a:r>
            <a:r>
              <a:rPr lang="he-IL" dirty="0"/>
              <a:t> הציגי פרטים נוספים על היבשת.</a:t>
            </a:r>
          </a:p>
          <a:p>
            <a:r>
              <a:rPr lang="he-IL" dirty="0"/>
              <a:t>השתמשי ב</a:t>
            </a:r>
            <a:r>
              <a:rPr lang="en-US" dirty="0" err="1"/>
              <a:t>useEffect</a:t>
            </a:r>
            <a:endParaRPr lang="en-US" dirty="0"/>
          </a:p>
          <a:p>
            <a:endParaRPr lang="he-IL" dirty="0"/>
          </a:p>
          <a:p>
            <a:r>
              <a:rPr lang="he-IL" dirty="0"/>
              <a:t>צרי כפתור מונים, בכל לחיצה – הציגי בתוך תגית </a:t>
            </a:r>
            <a:r>
              <a:rPr lang="en-US" dirty="0"/>
              <a:t>P</a:t>
            </a:r>
            <a:r>
              <a:rPr lang="he-IL" dirty="0"/>
              <a:t> את ה</a:t>
            </a:r>
            <a:r>
              <a:rPr lang="en-US" dirty="0"/>
              <a:t>CNT</a:t>
            </a:r>
            <a:endParaRPr lang="he-IL" dirty="0"/>
          </a:p>
          <a:p>
            <a:r>
              <a:rPr lang="he-IL" dirty="0"/>
              <a:t>ובתגית </a:t>
            </a:r>
            <a:r>
              <a:rPr lang="en-US" dirty="0"/>
              <a:t>P</a:t>
            </a:r>
            <a:r>
              <a:rPr lang="he-IL" dirty="0"/>
              <a:t> אחרת – הציגי את הערך הכפול.</a:t>
            </a:r>
          </a:p>
          <a:p>
            <a:endParaRPr lang="he-IL" dirty="0"/>
          </a:p>
          <a:p>
            <a:endParaRPr lang="he-IL" dirty="0"/>
          </a:p>
          <a:p>
            <a:r>
              <a:rPr lang="he-IL" dirty="0"/>
              <a:t>צרי טופס של הרשמה לאתר.</a:t>
            </a:r>
          </a:p>
          <a:p>
            <a:r>
              <a:rPr lang="he-IL" dirty="0"/>
              <a:t>כאשר מקלידים שם פרטי- השם מתמלא </a:t>
            </a:r>
            <a:r>
              <a:rPr lang="he-IL" dirty="0" err="1"/>
              <a:t>תו"כ</a:t>
            </a:r>
            <a:r>
              <a:rPr lang="he-IL" dirty="0"/>
              <a:t> בתחתית ה</a:t>
            </a:r>
            <a:r>
              <a:rPr lang="en-US" dirty="0"/>
              <a:t>INPUT</a:t>
            </a:r>
            <a:r>
              <a:rPr lang="he-IL" dirty="0"/>
              <a:t>.</a:t>
            </a:r>
          </a:p>
          <a:p>
            <a:r>
              <a:rPr lang="he-IL" dirty="0"/>
              <a:t>בעת לחיצה על כפתור שמור – נעלמים הפרטים ויופיע </a:t>
            </a:r>
            <a:r>
              <a:rPr lang="en-US" dirty="0"/>
              <a:t>DIV:</a:t>
            </a:r>
          </a:p>
          <a:p>
            <a:r>
              <a:rPr lang="he-IL" dirty="0"/>
              <a:t>שלום (</a:t>
            </a:r>
            <a:r>
              <a:rPr lang="en-US" dirty="0"/>
              <a:t>username</a:t>
            </a:r>
            <a:r>
              <a:rPr lang="he-IL" dirty="0"/>
              <a:t>) נרשמת בהצלחה למערכת</a:t>
            </a:r>
          </a:p>
          <a:p>
            <a:endParaRPr lang="he-IL" dirty="0"/>
          </a:p>
          <a:p>
            <a:endParaRPr lang="he-IL" dirty="0"/>
          </a:p>
        </p:txBody>
      </p:sp>
    </p:spTree>
    <p:extLst>
      <p:ext uri="{BB962C8B-B14F-4D97-AF65-F5344CB8AC3E}">
        <p14:creationId xmlns:p14="http://schemas.microsoft.com/office/powerpoint/2010/main" val="12795461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5090BB1-464E-4172-B379-D690DEBD1DD0}"/>
              </a:ext>
            </a:extLst>
          </p:cNvPr>
          <p:cNvSpPr txBox="1"/>
          <p:nvPr/>
        </p:nvSpPr>
        <p:spPr>
          <a:xfrm>
            <a:off x="4663440" y="497840"/>
            <a:ext cx="5537200" cy="646331"/>
          </a:xfrm>
          <a:prstGeom prst="rect">
            <a:avLst/>
          </a:prstGeom>
          <a:noFill/>
        </p:spPr>
        <p:txBody>
          <a:bodyPr wrap="square" rtlCol="1">
            <a:spAutoFit/>
          </a:bodyPr>
          <a:lstStyle/>
          <a:p>
            <a:r>
              <a:rPr lang="en-US" dirty="0"/>
              <a:t>HOOKS</a:t>
            </a:r>
            <a:r>
              <a:rPr lang="he-IL" dirty="0"/>
              <a:t> נוספים</a:t>
            </a:r>
          </a:p>
          <a:p>
            <a:endParaRPr lang="he-IL" dirty="0"/>
          </a:p>
        </p:txBody>
      </p:sp>
    </p:spTree>
    <p:extLst>
      <p:ext uri="{BB962C8B-B14F-4D97-AF65-F5344CB8AC3E}">
        <p14:creationId xmlns:p14="http://schemas.microsoft.com/office/powerpoint/2010/main" val="36109357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לבן 1">
            <a:extLst>
              <a:ext uri="{FF2B5EF4-FFF2-40B4-BE49-F238E27FC236}">
                <a16:creationId xmlns:a16="http://schemas.microsoft.com/office/drawing/2014/main" id="{9218D04A-A54E-4C30-B607-A913D9181AAF}"/>
              </a:ext>
            </a:extLst>
          </p:cNvPr>
          <p:cNvSpPr/>
          <p:nvPr/>
        </p:nvSpPr>
        <p:spPr>
          <a:xfrm>
            <a:off x="9093201" y="724654"/>
            <a:ext cx="2371796" cy="646331"/>
          </a:xfrm>
          <a:prstGeom prst="rect">
            <a:avLst/>
          </a:prstGeom>
        </p:spPr>
        <p:txBody>
          <a:bodyPr wrap="square">
            <a:spAutoFit/>
          </a:bodyPr>
          <a:lstStyle/>
          <a:p>
            <a:pPr algn="l" fontAlgn="base"/>
            <a:r>
              <a:rPr lang="he-IL" b="1" dirty="0">
                <a:solidFill>
                  <a:srgbClr val="273239"/>
                </a:solidFill>
                <a:latin typeface="Nunito"/>
              </a:rPr>
              <a:t>מה זה </a:t>
            </a:r>
            <a:r>
              <a:rPr lang="en-US" b="1" dirty="0" err="1"/>
              <a:t>useRef</a:t>
            </a:r>
            <a:endParaRPr lang="en-US" b="1" dirty="0"/>
          </a:p>
          <a:p>
            <a:pPr algn="l" fontAlgn="base"/>
            <a:endParaRPr lang="en-US" b="1" i="0" dirty="0">
              <a:solidFill>
                <a:srgbClr val="273239"/>
              </a:solidFill>
              <a:effectLst/>
              <a:latin typeface="Nunito"/>
            </a:endParaRPr>
          </a:p>
        </p:txBody>
      </p:sp>
      <p:sp>
        <p:nvSpPr>
          <p:cNvPr id="3" name="מלבן 2">
            <a:extLst>
              <a:ext uri="{FF2B5EF4-FFF2-40B4-BE49-F238E27FC236}">
                <a16:creationId xmlns:a16="http://schemas.microsoft.com/office/drawing/2014/main" id="{F257F540-EE36-4C44-83B1-53EFCA243513}"/>
              </a:ext>
            </a:extLst>
          </p:cNvPr>
          <p:cNvSpPr/>
          <p:nvPr/>
        </p:nvSpPr>
        <p:spPr>
          <a:xfrm>
            <a:off x="1391920" y="1186319"/>
            <a:ext cx="9255760" cy="369332"/>
          </a:xfrm>
          <a:prstGeom prst="rect">
            <a:avLst/>
          </a:prstGeom>
        </p:spPr>
        <p:txBody>
          <a:bodyPr wrap="square">
            <a:spAutoFit/>
          </a:bodyPr>
          <a:lstStyle/>
          <a:p>
            <a:r>
              <a:rPr lang="he-IL" dirty="0"/>
              <a:t>ה-</a:t>
            </a:r>
            <a:r>
              <a:rPr lang="he-IL" dirty="0" err="1"/>
              <a:t>useRef</a:t>
            </a:r>
            <a:r>
              <a:rPr lang="he-IL" dirty="0"/>
              <a:t> הוא הוק המאפשר ליצור ישירות הפניה לאלמנט ה-DOM ברכיב הפונקציונלי.</a:t>
            </a:r>
          </a:p>
        </p:txBody>
      </p:sp>
      <p:sp>
        <p:nvSpPr>
          <p:cNvPr id="4" name="מלבן 3">
            <a:extLst>
              <a:ext uri="{FF2B5EF4-FFF2-40B4-BE49-F238E27FC236}">
                <a16:creationId xmlns:a16="http://schemas.microsoft.com/office/drawing/2014/main" id="{3F8B296D-6077-4009-8DA3-C600091A7294}"/>
              </a:ext>
            </a:extLst>
          </p:cNvPr>
          <p:cNvSpPr/>
          <p:nvPr/>
        </p:nvSpPr>
        <p:spPr>
          <a:xfrm>
            <a:off x="1645920" y="1694150"/>
            <a:ext cx="9001760" cy="369332"/>
          </a:xfrm>
          <a:prstGeom prst="rect">
            <a:avLst/>
          </a:prstGeom>
        </p:spPr>
        <p:txBody>
          <a:bodyPr wrap="square">
            <a:spAutoFit/>
          </a:bodyPr>
          <a:lstStyle/>
          <a:p>
            <a:r>
              <a:rPr lang="he-IL" dirty="0"/>
              <a:t>בניגוד ל-</a:t>
            </a:r>
            <a:r>
              <a:rPr lang="he-IL" dirty="0" err="1"/>
              <a:t>useState</a:t>
            </a:r>
            <a:r>
              <a:rPr lang="he-IL" dirty="0"/>
              <a:t> אם נשנה ערך ב-</a:t>
            </a:r>
            <a:r>
              <a:rPr lang="he-IL" dirty="0" err="1"/>
              <a:t>useRef</a:t>
            </a:r>
            <a:r>
              <a:rPr lang="he-IL" dirty="0"/>
              <a:t>, זה לא יציג מחדש את דף האינטרנט</a:t>
            </a:r>
          </a:p>
        </p:txBody>
      </p:sp>
      <p:sp>
        <p:nvSpPr>
          <p:cNvPr id="5" name="מלבן 4">
            <a:extLst>
              <a:ext uri="{FF2B5EF4-FFF2-40B4-BE49-F238E27FC236}">
                <a16:creationId xmlns:a16="http://schemas.microsoft.com/office/drawing/2014/main" id="{D6F1B142-E152-464F-8343-5062D16C500C}"/>
              </a:ext>
            </a:extLst>
          </p:cNvPr>
          <p:cNvSpPr/>
          <p:nvPr/>
        </p:nvSpPr>
        <p:spPr>
          <a:xfrm>
            <a:off x="213360" y="2492494"/>
            <a:ext cx="10434320" cy="2862322"/>
          </a:xfrm>
          <a:prstGeom prst="rect">
            <a:avLst/>
          </a:prstGeom>
        </p:spPr>
        <p:txBody>
          <a:bodyPr wrap="square">
            <a:spAutoFit/>
          </a:bodyPr>
          <a:lstStyle/>
          <a:p>
            <a:r>
              <a:rPr lang="he-IL" dirty="0"/>
              <a:t>למה להשתמש ב</a:t>
            </a:r>
            <a:r>
              <a:rPr lang="en-US" dirty="0"/>
              <a:t>USEREF</a:t>
            </a:r>
            <a:r>
              <a:rPr lang="he-IL" dirty="0"/>
              <a:t>?</a:t>
            </a:r>
          </a:p>
          <a:p>
            <a:endParaRPr lang="he-IL" dirty="0"/>
          </a:p>
          <a:p>
            <a:r>
              <a:rPr lang="he-IL" dirty="0"/>
              <a:t>ביצועים: </a:t>
            </a:r>
            <a:r>
              <a:rPr lang="en-US" dirty="0"/>
              <a:t> </a:t>
            </a:r>
            <a:r>
              <a:rPr lang="en-US" dirty="0" err="1"/>
              <a:t>useRef</a:t>
            </a:r>
            <a:r>
              <a:rPr lang="en-US" dirty="0"/>
              <a:t> </a:t>
            </a:r>
            <a:r>
              <a:rPr lang="he-IL" dirty="0"/>
              <a:t>אינו גורם </a:t>
            </a:r>
            <a:r>
              <a:rPr lang="he-IL" dirty="0" err="1"/>
              <a:t>לרינדור</a:t>
            </a:r>
            <a:r>
              <a:rPr lang="he-IL" dirty="0"/>
              <a:t> מחדש של הרכיב, מה יכול לשפר את הביצועים אם אתה משתמש כדי לאחסן ערך בו לא צריך לגרום </a:t>
            </a:r>
            <a:r>
              <a:rPr lang="he-IL" dirty="0" err="1"/>
              <a:t>לרינדור</a:t>
            </a:r>
            <a:r>
              <a:rPr lang="he-IL" dirty="0"/>
              <a:t> מחדש.</a:t>
            </a:r>
          </a:p>
          <a:p>
            <a:endParaRPr lang="he-IL" dirty="0"/>
          </a:p>
          <a:p>
            <a:r>
              <a:rPr lang="he-IL" dirty="0"/>
              <a:t>יעילות: </a:t>
            </a:r>
            <a:r>
              <a:rPr lang="en-US" dirty="0"/>
              <a:t> </a:t>
            </a:r>
            <a:r>
              <a:rPr lang="en-US" dirty="0" err="1"/>
              <a:t>useRef</a:t>
            </a:r>
            <a:r>
              <a:rPr lang="en-US" dirty="0"/>
              <a:t> </a:t>
            </a:r>
            <a:r>
              <a:rPr lang="he-IL" dirty="0"/>
              <a:t>הוא כלי רב עוצמה שניתן להשתמש בו כדי להשיג מגוון משימות ב-</a:t>
            </a:r>
            <a:r>
              <a:rPr lang="en-US" dirty="0"/>
              <a:t>React. </a:t>
            </a:r>
            <a:r>
              <a:rPr lang="he-IL" dirty="0"/>
              <a:t> חשוב לציין ש-</a:t>
            </a:r>
            <a:r>
              <a:rPr lang="en-US" dirty="0"/>
              <a:t> </a:t>
            </a:r>
            <a:r>
              <a:rPr lang="en-US" dirty="0" err="1"/>
              <a:t>useRef</a:t>
            </a:r>
            <a:r>
              <a:rPr lang="en-US" dirty="0"/>
              <a:t> </a:t>
            </a:r>
            <a:r>
              <a:rPr lang="he-IL" dirty="0"/>
              <a:t>אינו תחליף ל-</a:t>
            </a:r>
            <a:r>
              <a:rPr lang="en-US" dirty="0"/>
              <a:t> </a:t>
            </a:r>
            <a:r>
              <a:rPr lang="en-US" dirty="0" err="1"/>
              <a:t>useState</a:t>
            </a:r>
            <a:r>
              <a:rPr lang="en-US" dirty="0"/>
              <a:t>. </a:t>
            </a:r>
            <a:r>
              <a:rPr lang="en-US" dirty="0" err="1"/>
              <a:t>useState</a:t>
            </a:r>
            <a:r>
              <a:rPr lang="en-US" dirty="0"/>
              <a:t> </a:t>
            </a:r>
            <a:r>
              <a:rPr lang="he-IL" dirty="0"/>
              <a:t>עדיין צריך לשמש לניהול מצב הרכיב. עם זאת, </a:t>
            </a:r>
            <a:r>
              <a:rPr lang="en-US" dirty="0" err="1"/>
              <a:t>useRef</a:t>
            </a:r>
            <a:r>
              <a:rPr lang="en-US" dirty="0"/>
              <a:t> </a:t>
            </a:r>
            <a:r>
              <a:rPr lang="he-IL" dirty="0"/>
              <a:t> יכול לשמש במקרים מסוימים לשיפור הביצועים או ליישום תכונות ספציפיות.</a:t>
            </a:r>
          </a:p>
          <a:p>
            <a:br>
              <a:rPr lang="en-US" dirty="0"/>
            </a:br>
            <a:endParaRPr lang="he-IL" dirty="0"/>
          </a:p>
        </p:txBody>
      </p:sp>
    </p:spTree>
    <p:extLst>
      <p:ext uri="{BB962C8B-B14F-4D97-AF65-F5344CB8AC3E}">
        <p14:creationId xmlns:p14="http://schemas.microsoft.com/office/powerpoint/2010/main" val="5185118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a:extLst>
              <a:ext uri="{FF2B5EF4-FFF2-40B4-BE49-F238E27FC236}">
                <a16:creationId xmlns:a16="http://schemas.microsoft.com/office/drawing/2014/main" id="{F8A8E482-42EE-4627-9A07-C117EB9CE4AD}"/>
              </a:ext>
            </a:extLst>
          </p:cNvPr>
          <p:cNvPicPr>
            <a:picLocks noChangeAspect="1"/>
          </p:cNvPicPr>
          <p:nvPr/>
        </p:nvPicPr>
        <p:blipFill>
          <a:blip r:embed="rId2"/>
          <a:stretch>
            <a:fillRect/>
          </a:stretch>
        </p:blipFill>
        <p:spPr>
          <a:xfrm>
            <a:off x="2600960" y="471794"/>
            <a:ext cx="3869772" cy="470231"/>
          </a:xfrm>
          <a:prstGeom prst="rect">
            <a:avLst/>
          </a:prstGeom>
        </p:spPr>
      </p:pic>
      <p:sp>
        <p:nvSpPr>
          <p:cNvPr id="3" name="TextBox 2">
            <a:extLst>
              <a:ext uri="{FF2B5EF4-FFF2-40B4-BE49-F238E27FC236}">
                <a16:creationId xmlns:a16="http://schemas.microsoft.com/office/drawing/2014/main" id="{0CAE6503-3505-429E-B554-A1FB2E952A53}"/>
              </a:ext>
            </a:extLst>
          </p:cNvPr>
          <p:cNvSpPr txBox="1"/>
          <p:nvPr/>
        </p:nvSpPr>
        <p:spPr>
          <a:xfrm>
            <a:off x="7396480" y="436880"/>
            <a:ext cx="4257040" cy="369332"/>
          </a:xfrm>
          <a:prstGeom prst="rect">
            <a:avLst/>
          </a:prstGeom>
          <a:noFill/>
        </p:spPr>
        <p:txBody>
          <a:bodyPr wrap="square" rtlCol="1">
            <a:spAutoFit/>
          </a:bodyPr>
          <a:lstStyle/>
          <a:p>
            <a:r>
              <a:rPr lang="he-IL" dirty="0"/>
              <a:t>ככה מייבאים:</a:t>
            </a:r>
          </a:p>
        </p:txBody>
      </p:sp>
      <p:pic>
        <p:nvPicPr>
          <p:cNvPr id="4" name="תמונה 3">
            <a:extLst>
              <a:ext uri="{FF2B5EF4-FFF2-40B4-BE49-F238E27FC236}">
                <a16:creationId xmlns:a16="http://schemas.microsoft.com/office/drawing/2014/main" id="{0F77DCCE-81C8-43CE-B0FC-FC83210D37BC}"/>
              </a:ext>
            </a:extLst>
          </p:cNvPr>
          <p:cNvPicPr>
            <a:picLocks noChangeAspect="1"/>
          </p:cNvPicPr>
          <p:nvPr/>
        </p:nvPicPr>
        <p:blipFill>
          <a:blip r:embed="rId3"/>
          <a:stretch>
            <a:fillRect/>
          </a:stretch>
        </p:blipFill>
        <p:spPr>
          <a:xfrm>
            <a:off x="2565281" y="1601006"/>
            <a:ext cx="4981994" cy="542754"/>
          </a:xfrm>
          <a:prstGeom prst="rect">
            <a:avLst/>
          </a:prstGeom>
        </p:spPr>
      </p:pic>
      <p:sp>
        <p:nvSpPr>
          <p:cNvPr id="5" name="TextBox 4">
            <a:extLst>
              <a:ext uri="{FF2B5EF4-FFF2-40B4-BE49-F238E27FC236}">
                <a16:creationId xmlns:a16="http://schemas.microsoft.com/office/drawing/2014/main" id="{02DE0174-19BF-4B43-B194-E59B21A25DF3}"/>
              </a:ext>
            </a:extLst>
          </p:cNvPr>
          <p:cNvSpPr txBox="1"/>
          <p:nvPr/>
        </p:nvSpPr>
        <p:spPr>
          <a:xfrm>
            <a:off x="7498199" y="1416340"/>
            <a:ext cx="4257040" cy="369332"/>
          </a:xfrm>
          <a:prstGeom prst="rect">
            <a:avLst/>
          </a:prstGeom>
          <a:noFill/>
        </p:spPr>
        <p:txBody>
          <a:bodyPr wrap="square" rtlCol="1">
            <a:spAutoFit/>
          </a:bodyPr>
          <a:lstStyle/>
          <a:p>
            <a:r>
              <a:rPr lang="he-IL" dirty="0"/>
              <a:t>צורת ההגדרה:</a:t>
            </a:r>
          </a:p>
        </p:txBody>
      </p:sp>
      <p:sp>
        <p:nvSpPr>
          <p:cNvPr id="6" name="מלבן 5">
            <a:extLst>
              <a:ext uri="{FF2B5EF4-FFF2-40B4-BE49-F238E27FC236}">
                <a16:creationId xmlns:a16="http://schemas.microsoft.com/office/drawing/2014/main" id="{4ADA0245-A713-49A3-8C12-D90EBFE25AEA}"/>
              </a:ext>
            </a:extLst>
          </p:cNvPr>
          <p:cNvSpPr/>
          <p:nvPr/>
        </p:nvSpPr>
        <p:spPr>
          <a:xfrm>
            <a:off x="3464679" y="2618075"/>
            <a:ext cx="8290560" cy="369332"/>
          </a:xfrm>
          <a:prstGeom prst="rect">
            <a:avLst/>
          </a:prstGeom>
        </p:spPr>
        <p:txBody>
          <a:bodyPr wrap="square">
            <a:spAutoFit/>
          </a:bodyPr>
          <a:lstStyle/>
          <a:p>
            <a:r>
              <a:rPr lang="he-IL" dirty="0"/>
              <a:t>ה-</a:t>
            </a:r>
            <a:r>
              <a:rPr lang="he-IL" dirty="0" err="1"/>
              <a:t>useRef</a:t>
            </a:r>
            <a:r>
              <a:rPr lang="he-IL" dirty="0"/>
              <a:t> מחזיר אובייקט </a:t>
            </a:r>
            <a:r>
              <a:rPr lang="he-IL" dirty="0" err="1"/>
              <a:t>ref</a:t>
            </a:r>
            <a:r>
              <a:rPr lang="he-IL" dirty="0"/>
              <a:t> שניתן לשינוי. לאובייקט זה יש מאפיין שנקרא .</a:t>
            </a:r>
            <a:r>
              <a:rPr lang="he-IL" dirty="0" err="1"/>
              <a:t>current</a:t>
            </a:r>
            <a:r>
              <a:rPr lang="he-IL" dirty="0"/>
              <a:t>.</a:t>
            </a:r>
          </a:p>
        </p:txBody>
      </p:sp>
    </p:spTree>
    <p:extLst>
      <p:ext uri="{BB962C8B-B14F-4D97-AF65-F5344CB8AC3E}">
        <p14:creationId xmlns:p14="http://schemas.microsoft.com/office/powerpoint/2010/main" val="19956379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a:extLst>
              <a:ext uri="{FF2B5EF4-FFF2-40B4-BE49-F238E27FC236}">
                <a16:creationId xmlns:a16="http://schemas.microsoft.com/office/drawing/2014/main" id="{DD7DB742-3E09-4282-AE5E-6DE71BE7CB16}"/>
              </a:ext>
            </a:extLst>
          </p:cNvPr>
          <p:cNvPicPr>
            <a:picLocks noChangeAspect="1"/>
          </p:cNvPicPr>
          <p:nvPr/>
        </p:nvPicPr>
        <p:blipFill>
          <a:blip r:embed="rId2"/>
          <a:stretch>
            <a:fillRect/>
          </a:stretch>
        </p:blipFill>
        <p:spPr>
          <a:xfrm>
            <a:off x="1198133" y="1765859"/>
            <a:ext cx="6791583" cy="3517341"/>
          </a:xfrm>
          <a:prstGeom prst="rect">
            <a:avLst/>
          </a:prstGeom>
        </p:spPr>
      </p:pic>
      <p:sp>
        <p:nvSpPr>
          <p:cNvPr id="3" name="TextBox 2">
            <a:extLst>
              <a:ext uri="{FF2B5EF4-FFF2-40B4-BE49-F238E27FC236}">
                <a16:creationId xmlns:a16="http://schemas.microsoft.com/office/drawing/2014/main" id="{B664C3CD-B9C8-4A20-8D17-7A6872E56AE0}"/>
              </a:ext>
            </a:extLst>
          </p:cNvPr>
          <p:cNvSpPr txBox="1"/>
          <p:nvPr/>
        </p:nvSpPr>
        <p:spPr>
          <a:xfrm>
            <a:off x="6096000" y="508000"/>
            <a:ext cx="4592320" cy="646331"/>
          </a:xfrm>
          <a:prstGeom prst="rect">
            <a:avLst/>
          </a:prstGeom>
          <a:noFill/>
        </p:spPr>
        <p:txBody>
          <a:bodyPr wrap="square" rtlCol="1">
            <a:spAutoFit/>
          </a:bodyPr>
          <a:lstStyle/>
          <a:p>
            <a:r>
              <a:rPr lang="he-IL" dirty="0"/>
              <a:t>דוגמאות:</a:t>
            </a:r>
          </a:p>
          <a:p>
            <a:r>
              <a:rPr lang="he-IL" dirty="0"/>
              <a:t>להשתמש ב-</a:t>
            </a:r>
            <a:r>
              <a:rPr lang="en-US" dirty="0" err="1"/>
              <a:t>useRef</a:t>
            </a:r>
            <a:r>
              <a:rPr lang="en-US" dirty="0"/>
              <a:t> </a:t>
            </a:r>
            <a:r>
              <a:rPr lang="he-IL" dirty="0"/>
              <a:t>כדי לגשת לאלמנט </a:t>
            </a:r>
            <a:r>
              <a:rPr lang="en-US" dirty="0"/>
              <a:t>DOM.</a:t>
            </a:r>
            <a:endParaRPr lang="he-IL" dirty="0"/>
          </a:p>
        </p:txBody>
      </p:sp>
    </p:spTree>
    <p:extLst>
      <p:ext uri="{BB962C8B-B14F-4D97-AF65-F5344CB8AC3E}">
        <p14:creationId xmlns:p14="http://schemas.microsoft.com/office/powerpoint/2010/main" val="20456928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a:extLst>
              <a:ext uri="{FF2B5EF4-FFF2-40B4-BE49-F238E27FC236}">
                <a16:creationId xmlns:a16="http://schemas.microsoft.com/office/drawing/2014/main" id="{1A56AA46-F51B-4D7D-9B05-AE62696838A5}"/>
              </a:ext>
            </a:extLst>
          </p:cNvPr>
          <p:cNvPicPr>
            <a:picLocks noChangeAspect="1"/>
          </p:cNvPicPr>
          <p:nvPr/>
        </p:nvPicPr>
        <p:blipFill>
          <a:blip r:embed="rId2"/>
          <a:stretch>
            <a:fillRect/>
          </a:stretch>
        </p:blipFill>
        <p:spPr>
          <a:xfrm>
            <a:off x="1784822" y="1762036"/>
            <a:ext cx="7209003" cy="3927564"/>
          </a:xfrm>
          <a:prstGeom prst="rect">
            <a:avLst/>
          </a:prstGeom>
        </p:spPr>
      </p:pic>
      <p:sp>
        <p:nvSpPr>
          <p:cNvPr id="3" name="מלבן 2">
            <a:extLst>
              <a:ext uri="{FF2B5EF4-FFF2-40B4-BE49-F238E27FC236}">
                <a16:creationId xmlns:a16="http://schemas.microsoft.com/office/drawing/2014/main" id="{30D38BE1-BC17-4513-A4F1-BB259926BA8D}"/>
              </a:ext>
            </a:extLst>
          </p:cNvPr>
          <p:cNvSpPr/>
          <p:nvPr/>
        </p:nvSpPr>
        <p:spPr>
          <a:xfrm>
            <a:off x="5744664" y="983734"/>
            <a:ext cx="5355953" cy="369332"/>
          </a:xfrm>
          <a:prstGeom prst="rect">
            <a:avLst/>
          </a:prstGeom>
        </p:spPr>
        <p:txBody>
          <a:bodyPr wrap="none">
            <a:spAutoFit/>
          </a:bodyPr>
          <a:lstStyle/>
          <a:p>
            <a:r>
              <a:rPr lang="he-IL" dirty="0"/>
              <a:t>להשתמש ב-</a:t>
            </a:r>
            <a:r>
              <a:rPr lang="he-IL" dirty="0" err="1"/>
              <a:t>useRef</a:t>
            </a:r>
            <a:r>
              <a:rPr lang="he-IL" dirty="0"/>
              <a:t> כדי לעקוב אחר ערכי סטאטוס קודמים.</a:t>
            </a:r>
          </a:p>
        </p:txBody>
      </p:sp>
    </p:spTree>
    <p:extLst>
      <p:ext uri="{BB962C8B-B14F-4D97-AF65-F5344CB8AC3E}">
        <p14:creationId xmlns:p14="http://schemas.microsoft.com/office/powerpoint/2010/main" val="26505358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a:extLst>
              <a:ext uri="{FF2B5EF4-FFF2-40B4-BE49-F238E27FC236}">
                <a16:creationId xmlns:a16="http://schemas.microsoft.com/office/drawing/2014/main" id="{98A95FBE-AE46-4973-B8DB-A34D052538B1}"/>
              </a:ext>
            </a:extLst>
          </p:cNvPr>
          <p:cNvPicPr>
            <a:picLocks noChangeAspect="1"/>
          </p:cNvPicPr>
          <p:nvPr/>
        </p:nvPicPr>
        <p:blipFill>
          <a:blip r:embed="rId2"/>
          <a:stretch>
            <a:fillRect/>
          </a:stretch>
        </p:blipFill>
        <p:spPr>
          <a:xfrm>
            <a:off x="745869" y="571424"/>
            <a:ext cx="9790051" cy="4782614"/>
          </a:xfrm>
          <a:prstGeom prst="rect">
            <a:avLst/>
          </a:prstGeom>
        </p:spPr>
      </p:pic>
    </p:spTree>
    <p:extLst>
      <p:ext uri="{BB962C8B-B14F-4D97-AF65-F5344CB8AC3E}">
        <p14:creationId xmlns:p14="http://schemas.microsoft.com/office/powerpoint/2010/main" val="30484919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לבן 1">
            <a:extLst>
              <a:ext uri="{FF2B5EF4-FFF2-40B4-BE49-F238E27FC236}">
                <a16:creationId xmlns:a16="http://schemas.microsoft.com/office/drawing/2014/main" id="{CF9E6341-9D12-42E0-988C-D4F769863FF0}"/>
              </a:ext>
            </a:extLst>
          </p:cNvPr>
          <p:cNvSpPr/>
          <p:nvPr/>
        </p:nvSpPr>
        <p:spPr>
          <a:xfrm>
            <a:off x="9070109" y="775454"/>
            <a:ext cx="1438215" cy="400110"/>
          </a:xfrm>
          <a:prstGeom prst="rect">
            <a:avLst/>
          </a:prstGeom>
        </p:spPr>
        <p:txBody>
          <a:bodyPr wrap="none">
            <a:spAutoFit/>
          </a:bodyPr>
          <a:lstStyle/>
          <a:p>
            <a:r>
              <a:rPr lang="en-US" sz="2000" b="1" u="sng" dirty="0" err="1">
                <a:solidFill>
                  <a:srgbClr val="000000"/>
                </a:solidFill>
                <a:latin typeface="Rubik"/>
              </a:rPr>
              <a:t>useCallback</a:t>
            </a:r>
            <a:endParaRPr lang="he-IL" sz="2000" b="1" u="sng" dirty="0"/>
          </a:p>
        </p:txBody>
      </p:sp>
      <p:sp>
        <p:nvSpPr>
          <p:cNvPr id="3" name="מלבן 2">
            <a:extLst>
              <a:ext uri="{FF2B5EF4-FFF2-40B4-BE49-F238E27FC236}">
                <a16:creationId xmlns:a16="http://schemas.microsoft.com/office/drawing/2014/main" id="{719B344B-D64C-4BF4-B058-587B001B2DEC}"/>
              </a:ext>
            </a:extLst>
          </p:cNvPr>
          <p:cNvSpPr/>
          <p:nvPr/>
        </p:nvSpPr>
        <p:spPr>
          <a:xfrm>
            <a:off x="1818640" y="1284516"/>
            <a:ext cx="8689684" cy="1200329"/>
          </a:xfrm>
          <a:prstGeom prst="rect">
            <a:avLst/>
          </a:prstGeom>
        </p:spPr>
        <p:txBody>
          <a:bodyPr wrap="square">
            <a:spAutoFit/>
          </a:bodyPr>
          <a:lstStyle/>
          <a:p>
            <a:r>
              <a:rPr lang="he-IL" dirty="0">
                <a:solidFill>
                  <a:srgbClr val="000000"/>
                </a:solidFill>
                <a:latin typeface="Rubik"/>
              </a:rPr>
              <a:t>זה הוק המאפשר לשחזר פונקציה בזיכרון כך שהיא לא תיווצר מחדש בכל עיבוד.</a:t>
            </a:r>
          </a:p>
          <a:p>
            <a:r>
              <a:rPr lang="he-IL" dirty="0">
                <a:solidFill>
                  <a:srgbClr val="000000"/>
                </a:solidFill>
                <a:latin typeface="Rubik"/>
              </a:rPr>
              <a:t> הוא משמש לאופטימיזציה של ביצועים בתרחישים שבהם פונקציה מועברת ל</a:t>
            </a:r>
            <a:r>
              <a:rPr lang="en-US" dirty="0">
                <a:solidFill>
                  <a:srgbClr val="000000"/>
                </a:solidFill>
                <a:latin typeface="Rubik"/>
              </a:rPr>
              <a:t>component</a:t>
            </a:r>
            <a:r>
              <a:rPr lang="he-IL" dirty="0">
                <a:solidFill>
                  <a:srgbClr val="000000"/>
                </a:solidFill>
                <a:latin typeface="Rubik"/>
              </a:rPr>
              <a:t> צאצא כ</a:t>
            </a:r>
            <a:r>
              <a:rPr lang="en-US" dirty="0">
                <a:solidFill>
                  <a:srgbClr val="000000"/>
                </a:solidFill>
                <a:latin typeface="Rubik"/>
              </a:rPr>
              <a:t>props</a:t>
            </a:r>
            <a:r>
              <a:rPr lang="he-IL" dirty="0">
                <a:solidFill>
                  <a:srgbClr val="000000"/>
                </a:solidFill>
                <a:latin typeface="Rubik"/>
              </a:rPr>
              <a:t>.</a:t>
            </a:r>
            <a:br>
              <a:rPr lang="he-IL" dirty="0"/>
            </a:br>
            <a:endParaRPr lang="he-IL" dirty="0"/>
          </a:p>
        </p:txBody>
      </p:sp>
      <p:sp>
        <p:nvSpPr>
          <p:cNvPr id="4" name="מלבן 3">
            <a:extLst>
              <a:ext uri="{FF2B5EF4-FFF2-40B4-BE49-F238E27FC236}">
                <a16:creationId xmlns:a16="http://schemas.microsoft.com/office/drawing/2014/main" id="{40FFF5CD-9AD9-4D4A-9B9D-29141541C6AB}"/>
              </a:ext>
            </a:extLst>
          </p:cNvPr>
          <p:cNvSpPr/>
          <p:nvPr/>
        </p:nvSpPr>
        <p:spPr>
          <a:xfrm>
            <a:off x="1686560" y="2761844"/>
            <a:ext cx="8900160" cy="1200329"/>
          </a:xfrm>
          <a:prstGeom prst="rect">
            <a:avLst/>
          </a:prstGeom>
        </p:spPr>
        <p:txBody>
          <a:bodyPr wrap="square">
            <a:spAutoFit/>
          </a:bodyPr>
          <a:lstStyle/>
          <a:p>
            <a:r>
              <a:rPr lang="he-IL" dirty="0">
                <a:solidFill>
                  <a:srgbClr val="000000"/>
                </a:solidFill>
                <a:latin typeface="Rubik"/>
              </a:rPr>
              <a:t>כאשר </a:t>
            </a:r>
            <a:r>
              <a:rPr lang="en-US" dirty="0">
                <a:solidFill>
                  <a:srgbClr val="000000"/>
                </a:solidFill>
                <a:latin typeface="Rubik"/>
              </a:rPr>
              <a:t>component</a:t>
            </a:r>
            <a:r>
              <a:rPr lang="he-IL" dirty="0">
                <a:solidFill>
                  <a:srgbClr val="000000"/>
                </a:solidFill>
                <a:latin typeface="Rubik"/>
              </a:rPr>
              <a:t> אב </a:t>
            </a:r>
            <a:r>
              <a:rPr lang="he-IL" dirty="0" err="1">
                <a:solidFill>
                  <a:srgbClr val="000000"/>
                </a:solidFill>
                <a:latin typeface="Rubik"/>
              </a:rPr>
              <a:t>מתרנדר</a:t>
            </a:r>
            <a:r>
              <a:rPr lang="he-IL" dirty="0">
                <a:solidFill>
                  <a:srgbClr val="000000"/>
                </a:solidFill>
                <a:latin typeface="Rubik"/>
              </a:rPr>
              <a:t>, כל הפונקציות המוגדרות בתוכו נוצרות מחדש, מה שעלול לגרום לעיבוד מחדש מיותר של </a:t>
            </a:r>
            <a:r>
              <a:rPr lang="he-IL" dirty="0" err="1">
                <a:solidFill>
                  <a:srgbClr val="000000"/>
                </a:solidFill>
                <a:latin typeface="Rubik"/>
              </a:rPr>
              <a:t>קומפוננטות</a:t>
            </a:r>
            <a:r>
              <a:rPr lang="he-IL" dirty="0">
                <a:solidFill>
                  <a:srgbClr val="000000"/>
                </a:solidFill>
                <a:latin typeface="Rubik"/>
              </a:rPr>
              <a:t> צאצא אם הפונקציות הללו מועברות כ</a:t>
            </a:r>
            <a:r>
              <a:rPr lang="en-US" dirty="0">
                <a:solidFill>
                  <a:srgbClr val="000000"/>
                </a:solidFill>
                <a:latin typeface="Rubik"/>
              </a:rPr>
              <a:t>props</a:t>
            </a:r>
            <a:r>
              <a:rPr lang="he-IL" dirty="0">
                <a:solidFill>
                  <a:srgbClr val="000000"/>
                </a:solidFill>
                <a:latin typeface="Rubik"/>
              </a:rPr>
              <a:t>. </a:t>
            </a:r>
          </a:p>
          <a:p>
            <a:r>
              <a:rPr lang="he-IL" dirty="0">
                <a:solidFill>
                  <a:srgbClr val="000000"/>
                </a:solidFill>
                <a:latin typeface="Rubik"/>
              </a:rPr>
              <a:t>על ידי שימוש ב-</a:t>
            </a:r>
            <a:r>
              <a:rPr lang="en-US" dirty="0" err="1">
                <a:solidFill>
                  <a:srgbClr val="000000"/>
                </a:solidFill>
                <a:latin typeface="Rubik"/>
              </a:rPr>
              <a:t>useCallback</a:t>
            </a:r>
            <a:r>
              <a:rPr lang="en-US" dirty="0">
                <a:solidFill>
                  <a:srgbClr val="000000"/>
                </a:solidFill>
                <a:latin typeface="Rubik"/>
              </a:rPr>
              <a:t>", </a:t>
            </a:r>
            <a:r>
              <a:rPr lang="he-IL" dirty="0">
                <a:solidFill>
                  <a:srgbClr val="000000"/>
                </a:solidFill>
                <a:latin typeface="Rubik"/>
              </a:rPr>
              <a:t>" נוכל להבטיח שהפונקציה תיווצר מחדש רק כאשר התלות שלה (המצוינת בארגומנט השני של </a:t>
            </a:r>
            <a:r>
              <a:rPr lang="en-US" dirty="0">
                <a:solidFill>
                  <a:srgbClr val="000000"/>
                </a:solidFill>
                <a:latin typeface="Rubik"/>
              </a:rPr>
              <a:t> </a:t>
            </a:r>
            <a:r>
              <a:rPr lang="he-IL" dirty="0">
                <a:solidFill>
                  <a:srgbClr val="000000"/>
                </a:solidFill>
                <a:latin typeface="Rubik"/>
              </a:rPr>
              <a:t> </a:t>
            </a:r>
            <a:r>
              <a:rPr lang="en-US" dirty="0" err="1">
                <a:solidFill>
                  <a:srgbClr val="000000"/>
                </a:solidFill>
                <a:latin typeface="Rubik"/>
              </a:rPr>
              <a:t>useCallback</a:t>
            </a:r>
            <a:r>
              <a:rPr lang="en-US" dirty="0">
                <a:solidFill>
                  <a:srgbClr val="000000"/>
                </a:solidFill>
                <a:latin typeface="Rubik"/>
              </a:rPr>
              <a:t> </a:t>
            </a:r>
            <a:r>
              <a:rPr lang="he-IL" dirty="0">
                <a:solidFill>
                  <a:srgbClr val="000000"/>
                </a:solidFill>
                <a:latin typeface="Rubik"/>
              </a:rPr>
              <a:t>משתנות.)</a:t>
            </a:r>
            <a:endParaRPr lang="he-IL" dirty="0"/>
          </a:p>
        </p:txBody>
      </p:sp>
      <p:sp>
        <p:nvSpPr>
          <p:cNvPr id="5" name="מלבן 4">
            <a:extLst>
              <a:ext uri="{FF2B5EF4-FFF2-40B4-BE49-F238E27FC236}">
                <a16:creationId xmlns:a16="http://schemas.microsoft.com/office/drawing/2014/main" id="{13F43333-0260-4EB2-8ABC-63CB0075333F}"/>
              </a:ext>
            </a:extLst>
          </p:cNvPr>
          <p:cNvSpPr/>
          <p:nvPr/>
        </p:nvSpPr>
        <p:spPr>
          <a:xfrm>
            <a:off x="1686560" y="4834820"/>
            <a:ext cx="9032240" cy="923330"/>
          </a:xfrm>
          <a:prstGeom prst="rect">
            <a:avLst/>
          </a:prstGeom>
        </p:spPr>
        <p:txBody>
          <a:bodyPr wrap="square">
            <a:spAutoFit/>
          </a:bodyPr>
          <a:lstStyle/>
          <a:p>
            <a:r>
              <a:rPr lang="he-IL" dirty="0">
                <a:solidFill>
                  <a:srgbClr val="1F1F1F"/>
                </a:solidFill>
                <a:latin typeface="Assistant"/>
              </a:rPr>
              <a:t>הפונקציה </a:t>
            </a:r>
            <a:r>
              <a:rPr lang="en-US" dirty="0" err="1">
                <a:solidFill>
                  <a:srgbClr val="1F1F1F"/>
                </a:solidFill>
                <a:latin typeface="Assistant"/>
              </a:rPr>
              <a:t>useCallback</a:t>
            </a:r>
            <a:r>
              <a:rPr lang="en-US" dirty="0">
                <a:solidFill>
                  <a:srgbClr val="1F1F1F"/>
                </a:solidFill>
                <a:latin typeface="Assistant"/>
              </a:rPr>
              <a:t> </a:t>
            </a:r>
            <a:r>
              <a:rPr lang="he-IL" dirty="0">
                <a:solidFill>
                  <a:srgbClr val="1F1F1F"/>
                </a:solidFill>
                <a:latin typeface="Assistant"/>
              </a:rPr>
              <a:t> מייצרת פונקציית עזר שנשארת קבועה בין </a:t>
            </a:r>
            <a:r>
              <a:rPr lang="en-US" dirty="0">
                <a:solidFill>
                  <a:srgbClr val="1F1F1F"/>
                </a:solidFill>
                <a:latin typeface="Assistant"/>
              </a:rPr>
              <a:t>render-</a:t>
            </a:r>
            <a:r>
              <a:rPr lang="he-IL" dirty="0">
                <a:solidFill>
                  <a:srgbClr val="1F1F1F"/>
                </a:solidFill>
                <a:latin typeface="Assistant"/>
              </a:rPr>
              <a:t>ים, כדי שנוכל להעביר אותה כפרמטר לילדים. הפרמטר השני של </a:t>
            </a:r>
            <a:r>
              <a:rPr lang="en-US" dirty="0">
                <a:solidFill>
                  <a:srgbClr val="1F1F1F"/>
                </a:solidFill>
                <a:latin typeface="Assistant"/>
              </a:rPr>
              <a:t> </a:t>
            </a:r>
            <a:r>
              <a:rPr lang="en-US" dirty="0" err="1">
                <a:solidFill>
                  <a:srgbClr val="1F1F1F"/>
                </a:solidFill>
                <a:latin typeface="Assistant"/>
              </a:rPr>
              <a:t>useCallback</a:t>
            </a:r>
            <a:r>
              <a:rPr lang="en-US" dirty="0">
                <a:solidFill>
                  <a:srgbClr val="1F1F1F"/>
                </a:solidFill>
                <a:latin typeface="Assistant"/>
              </a:rPr>
              <a:t> </a:t>
            </a:r>
            <a:r>
              <a:rPr lang="he-IL" dirty="0">
                <a:solidFill>
                  <a:srgbClr val="1F1F1F"/>
                </a:solidFill>
                <a:latin typeface="Assistant"/>
              </a:rPr>
              <a:t>הוא מערך של דברים שהפונקציה תלויה בהם - רק כשהערכים בתוך המערך ישתנו </a:t>
            </a:r>
            <a:r>
              <a:rPr lang="he-IL" dirty="0" err="1">
                <a:solidFill>
                  <a:srgbClr val="1F1F1F"/>
                </a:solidFill>
                <a:latin typeface="Assistant"/>
              </a:rPr>
              <a:t>ריאקט</a:t>
            </a:r>
            <a:r>
              <a:rPr lang="he-IL" dirty="0">
                <a:solidFill>
                  <a:srgbClr val="1F1F1F"/>
                </a:solidFill>
                <a:latin typeface="Assistant"/>
              </a:rPr>
              <a:t> יצור פונקציה חדשה עם הערכים החדשים.</a:t>
            </a:r>
            <a:endParaRPr lang="he-IL" dirty="0"/>
          </a:p>
        </p:txBody>
      </p:sp>
    </p:spTree>
    <p:extLst>
      <p:ext uri="{BB962C8B-B14F-4D97-AF65-F5344CB8AC3E}">
        <p14:creationId xmlns:p14="http://schemas.microsoft.com/office/powerpoint/2010/main" val="14224989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a:extLst>
              <a:ext uri="{FF2B5EF4-FFF2-40B4-BE49-F238E27FC236}">
                <a16:creationId xmlns:a16="http://schemas.microsoft.com/office/drawing/2014/main" id="{A1B6ADF2-0BE4-42C5-ADD3-0570A35B62F2}"/>
              </a:ext>
            </a:extLst>
          </p:cNvPr>
          <p:cNvPicPr>
            <a:picLocks noChangeAspect="1"/>
          </p:cNvPicPr>
          <p:nvPr/>
        </p:nvPicPr>
        <p:blipFill>
          <a:blip r:embed="rId2"/>
          <a:stretch>
            <a:fillRect/>
          </a:stretch>
        </p:blipFill>
        <p:spPr>
          <a:xfrm>
            <a:off x="6543040" y="531426"/>
            <a:ext cx="5205205" cy="3271622"/>
          </a:xfrm>
          <a:prstGeom prst="rect">
            <a:avLst/>
          </a:prstGeom>
        </p:spPr>
      </p:pic>
      <p:pic>
        <p:nvPicPr>
          <p:cNvPr id="3" name="תמונה 2">
            <a:extLst>
              <a:ext uri="{FF2B5EF4-FFF2-40B4-BE49-F238E27FC236}">
                <a16:creationId xmlns:a16="http://schemas.microsoft.com/office/drawing/2014/main" id="{8755876C-CAFB-41BB-9CD3-7C44FE5261CC}"/>
              </a:ext>
            </a:extLst>
          </p:cNvPr>
          <p:cNvPicPr>
            <a:picLocks noChangeAspect="1"/>
          </p:cNvPicPr>
          <p:nvPr/>
        </p:nvPicPr>
        <p:blipFill>
          <a:blip r:embed="rId3"/>
          <a:stretch>
            <a:fillRect/>
          </a:stretch>
        </p:blipFill>
        <p:spPr>
          <a:xfrm>
            <a:off x="6543040" y="4569424"/>
            <a:ext cx="5205205" cy="1918166"/>
          </a:xfrm>
          <a:prstGeom prst="rect">
            <a:avLst/>
          </a:prstGeom>
        </p:spPr>
      </p:pic>
      <p:sp>
        <p:nvSpPr>
          <p:cNvPr id="4" name="מלבן 3">
            <a:extLst>
              <a:ext uri="{FF2B5EF4-FFF2-40B4-BE49-F238E27FC236}">
                <a16:creationId xmlns:a16="http://schemas.microsoft.com/office/drawing/2014/main" id="{3E5D19DE-6389-4798-8C7F-099DC793F65B}"/>
              </a:ext>
            </a:extLst>
          </p:cNvPr>
          <p:cNvSpPr/>
          <p:nvPr/>
        </p:nvSpPr>
        <p:spPr>
          <a:xfrm>
            <a:off x="111760" y="966908"/>
            <a:ext cx="6096000" cy="1477328"/>
          </a:xfrm>
          <a:prstGeom prst="rect">
            <a:avLst/>
          </a:prstGeom>
        </p:spPr>
        <p:txBody>
          <a:bodyPr>
            <a:spAutoFit/>
          </a:bodyPr>
          <a:lstStyle/>
          <a:p>
            <a:r>
              <a:rPr lang="he-IL" dirty="0">
                <a:solidFill>
                  <a:srgbClr val="000000"/>
                </a:solidFill>
                <a:latin typeface="Rubik"/>
              </a:rPr>
              <a:t>הפונקציה </a:t>
            </a:r>
            <a:r>
              <a:rPr lang="en-US" dirty="0" err="1">
                <a:solidFill>
                  <a:srgbClr val="000000"/>
                </a:solidFill>
                <a:latin typeface="Rubik"/>
              </a:rPr>
              <a:t>handleClick</a:t>
            </a:r>
            <a:r>
              <a:rPr lang="en-US" dirty="0">
                <a:solidFill>
                  <a:srgbClr val="000000"/>
                </a:solidFill>
                <a:latin typeface="Rubik"/>
              </a:rPr>
              <a:t> "</a:t>
            </a:r>
            <a:r>
              <a:rPr lang="he-IL" dirty="0">
                <a:solidFill>
                  <a:srgbClr val="000000"/>
                </a:solidFill>
                <a:latin typeface="Rubik"/>
              </a:rPr>
              <a:t>" עטופה ב-</a:t>
            </a:r>
            <a:r>
              <a:rPr lang="en-US" dirty="0" err="1">
                <a:solidFill>
                  <a:srgbClr val="000000"/>
                </a:solidFill>
                <a:latin typeface="Rubik"/>
              </a:rPr>
              <a:t>useCallback</a:t>
            </a:r>
            <a:r>
              <a:rPr lang="en-US" dirty="0">
                <a:solidFill>
                  <a:srgbClr val="000000"/>
                </a:solidFill>
                <a:latin typeface="Rubik"/>
              </a:rPr>
              <a:t>" </a:t>
            </a:r>
            <a:r>
              <a:rPr lang="he-IL" dirty="0">
                <a:solidFill>
                  <a:srgbClr val="000000"/>
                </a:solidFill>
                <a:latin typeface="Rubik"/>
              </a:rPr>
              <a:t>" ומערך התלות מצוין כ</a:t>
            </a:r>
            <a:r>
              <a:rPr lang="en-US" dirty="0">
                <a:solidFill>
                  <a:srgbClr val="000000"/>
                </a:solidFill>
                <a:latin typeface="Rubik"/>
              </a:rPr>
              <a:t> [</a:t>
            </a:r>
            <a:r>
              <a:rPr lang="en-US" b="1" dirty="0">
                <a:solidFill>
                  <a:srgbClr val="000000"/>
                </a:solidFill>
                <a:latin typeface="RubikMedium"/>
              </a:rPr>
              <a:t>count]</a:t>
            </a:r>
            <a:r>
              <a:rPr lang="en-US" dirty="0">
                <a:solidFill>
                  <a:srgbClr val="000000"/>
                </a:solidFill>
                <a:latin typeface="Rubik"/>
              </a:rPr>
              <a:t>. </a:t>
            </a:r>
            <a:r>
              <a:rPr lang="he-IL" dirty="0">
                <a:solidFill>
                  <a:srgbClr val="000000"/>
                </a:solidFill>
                <a:latin typeface="Rubik"/>
              </a:rPr>
              <a:t>המשמעות היא שהפונקציה תיווצר מחדש רק אם ה</a:t>
            </a:r>
            <a:r>
              <a:rPr lang="en-US" b="1" dirty="0">
                <a:solidFill>
                  <a:srgbClr val="000000"/>
                </a:solidFill>
                <a:latin typeface="RubikMedium"/>
              </a:rPr>
              <a:t> count</a:t>
            </a:r>
            <a:r>
              <a:rPr lang="he-IL" dirty="0">
                <a:solidFill>
                  <a:srgbClr val="000000"/>
                </a:solidFill>
                <a:latin typeface="Rubik"/>
              </a:rPr>
              <a:t> ישתנה. </a:t>
            </a:r>
          </a:p>
          <a:p>
            <a:r>
              <a:rPr lang="he-IL" dirty="0">
                <a:solidFill>
                  <a:srgbClr val="000000"/>
                </a:solidFill>
                <a:latin typeface="Rubik"/>
              </a:rPr>
              <a:t>זה מונע </a:t>
            </a:r>
            <a:r>
              <a:rPr lang="he-IL" dirty="0" err="1">
                <a:solidFill>
                  <a:srgbClr val="000000"/>
                </a:solidFill>
                <a:latin typeface="Rubik"/>
              </a:rPr>
              <a:t>רינדור</a:t>
            </a:r>
            <a:r>
              <a:rPr lang="he-IL" dirty="0">
                <a:solidFill>
                  <a:srgbClr val="000000"/>
                </a:solidFill>
                <a:latin typeface="Rubik"/>
              </a:rPr>
              <a:t> מיותר של ה</a:t>
            </a:r>
            <a:r>
              <a:rPr lang="en-US" dirty="0">
                <a:solidFill>
                  <a:srgbClr val="000000"/>
                </a:solidFill>
                <a:latin typeface="Rubik"/>
              </a:rPr>
              <a:t> </a:t>
            </a:r>
            <a:r>
              <a:rPr lang="en-US" dirty="0" err="1">
                <a:solidFill>
                  <a:srgbClr val="000000"/>
                </a:solidFill>
                <a:latin typeface="Rubik"/>
              </a:rPr>
              <a:t>ChildComponent</a:t>
            </a:r>
            <a:r>
              <a:rPr lang="en-US" dirty="0">
                <a:solidFill>
                  <a:srgbClr val="000000"/>
                </a:solidFill>
                <a:latin typeface="Rubik"/>
              </a:rPr>
              <a:t> </a:t>
            </a:r>
            <a:r>
              <a:rPr lang="he-IL" dirty="0">
                <a:solidFill>
                  <a:srgbClr val="000000"/>
                </a:solidFill>
                <a:latin typeface="Rubik"/>
              </a:rPr>
              <a:t>כאשר </a:t>
            </a:r>
            <a:r>
              <a:rPr lang="he-IL" dirty="0" err="1">
                <a:solidFill>
                  <a:srgbClr val="000000"/>
                </a:solidFill>
                <a:latin typeface="Rubik"/>
              </a:rPr>
              <a:t>סטייטים</a:t>
            </a:r>
            <a:r>
              <a:rPr lang="he-IL" dirty="0">
                <a:solidFill>
                  <a:srgbClr val="000000"/>
                </a:solidFill>
                <a:latin typeface="Rubik"/>
              </a:rPr>
              <a:t> אחרים ברכיב האב משתנים.</a:t>
            </a:r>
            <a:endParaRPr lang="he-IL" dirty="0"/>
          </a:p>
        </p:txBody>
      </p:sp>
    </p:spTree>
    <p:extLst>
      <p:ext uri="{BB962C8B-B14F-4D97-AF65-F5344CB8AC3E}">
        <p14:creationId xmlns:p14="http://schemas.microsoft.com/office/powerpoint/2010/main" val="28078583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לבן 1">
            <a:extLst>
              <a:ext uri="{FF2B5EF4-FFF2-40B4-BE49-F238E27FC236}">
                <a16:creationId xmlns:a16="http://schemas.microsoft.com/office/drawing/2014/main" id="{93E15401-C9F4-40D7-AE5E-5C59ED11D6BE}"/>
              </a:ext>
            </a:extLst>
          </p:cNvPr>
          <p:cNvSpPr/>
          <p:nvPr/>
        </p:nvSpPr>
        <p:spPr>
          <a:xfrm>
            <a:off x="7194004" y="943012"/>
            <a:ext cx="1444627" cy="461665"/>
          </a:xfrm>
          <a:prstGeom prst="rect">
            <a:avLst/>
          </a:prstGeom>
        </p:spPr>
        <p:txBody>
          <a:bodyPr wrap="none">
            <a:spAutoFit/>
          </a:bodyPr>
          <a:lstStyle/>
          <a:p>
            <a:r>
              <a:rPr lang="en-US" sz="2400" dirty="0" err="1">
                <a:solidFill>
                  <a:srgbClr val="000000"/>
                </a:solidFill>
                <a:latin typeface="Rubik"/>
              </a:rPr>
              <a:t>useMemo</a:t>
            </a:r>
            <a:endParaRPr lang="he-IL" sz="2400" dirty="0"/>
          </a:p>
        </p:txBody>
      </p:sp>
      <p:sp>
        <p:nvSpPr>
          <p:cNvPr id="3" name="מלבן 2">
            <a:extLst>
              <a:ext uri="{FF2B5EF4-FFF2-40B4-BE49-F238E27FC236}">
                <a16:creationId xmlns:a16="http://schemas.microsoft.com/office/drawing/2014/main" id="{8AB3316E-2FED-4277-AE03-8A6EA101AB45}"/>
              </a:ext>
            </a:extLst>
          </p:cNvPr>
          <p:cNvSpPr/>
          <p:nvPr/>
        </p:nvSpPr>
        <p:spPr>
          <a:xfrm>
            <a:off x="4423608" y="1741210"/>
            <a:ext cx="6540710" cy="1569660"/>
          </a:xfrm>
          <a:prstGeom prst="rect">
            <a:avLst/>
          </a:prstGeom>
        </p:spPr>
        <p:txBody>
          <a:bodyPr wrap="square">
            <a:spAutoFit/>
          </a:bodyPr>
          <a:lstStyle/>
          <a:p>
            <a:r>
              <a:rPr lang="he-IL" sz="2400" dirty="0">
                <a:solidFill>
                  <a:srgbClr val="1F1F1F"/>
                </a:solidFill>
                <a:latin typeface="Assistant"/>
              </a:rPr>
              <a:t>הפונקציה </a:t>
            </a:r>
            <a:r>
              <a:rPr lang="en-US" sz="2400" dirty="0">
                <a:solidFill>
                  <a:srgbClr val="1F1F1F"/>
                </a:solidFill>
                <a:latin typeface="Assistant"/>
              </a:rPr>
              <a:t> </a:t>
            </a:r>
            <a:r>
              <a:rPr lang="en-US" sz="2400" dirty="0" err="1">
                <a:solidFill>
                  <a:srgbClr val="1F1F1F"/>
                </a:solidFill>
                <a:latin typeface="Assistant"/>
              </a:rPr>
              <a:t>useMemo</a:t>
            </a:r>
            <a:r>
              <a:rPr lang="en-US" sz="2400" dirty="0">
                <a:solidFill>
                  <a:srgbClr val="1F1F1F"/>
                </a:solidFill>
                <a:latin typeface="Assistant"/>
              </a:rPr>
              <a:t> </a:t>
            </a:r>
            <a:r>
              <a:rPr lang="he-IL" sz="2400" dirty="0">
                <a:solidFill>
                  <a:srgbClr val="1F1F1F"/>
                </a:solidFill>
                <a:latin typeface="Assistant"/>
              </a:rPr>
              <a:t>מקבלת ביטוי ורשימת משתנים שמשפיעים על הביטוי ותפקידה לזכור את הביטוי כך שהיא תחשב אותו מחדש רק אם אחד המשתנים האלה ישתנה.</a:t>
            </a:r>
            <a:endParaRPr lang="he-IL" sz="2400" dirty="0"/>
          </a:p>
        </p:txBody>
      </p:sp>
      <p:sp>
        <p:nvSpPr>
          <p:cNvPr id="4" name="מלבן 3">
            <a:extLst>
              <a:ext uri="{FF2B5EF4-FFF2-40B4-BE49-F238E27FC236}">
                <a16:creationId xmlns:a16="http://schemas.microsoft.com/office/drawing/2014/main" id="{C63A5685-8F8A-4012-A028-1F1592111C7C}"/>
              </a:ext>
            </a:extLst>
          </p:cNvPr>
          <p:cNvSpPr/>
          <p:nvPr/>
        </p:nvSpPr>
        <p:spPr>
          <a:xfrm>
            <a:off x="4868318" y="3547130"/>
            <a:ext cx="6096000" cy="2677656"/>
          </a:xfrm>
          <a:prstGeom prst="rect">
            <a:avLst/>
          </a:prstGeom>
        </p:spPr>
        <p:txBody>
          <a:bodyPr>
            <a:spAutoFit/>
          </a:bodyPr>
          <a:lstStyle/>
          <a:p>
            <a:r>
              <a:rPr lang="he-IL" sz="2400" dirty="0">
                <a:solidFill>
                  <a:srgbClr val="000000"/>
                </a:solidFill>
                <a:latin typeface="Rubik"/>
              </a:rPr>
              <a:t>הרעיון הבסיסי מאחורי </a:t>
            </a:r>
            <a:r>
              <a:rPr lang="en-US" sz="2400" dirty="0" err="1">
                <a:solidFill>
                  <a:srgbClr val="000000"/>
                </a:solidFill>
                <a:latin typeface="Rubik"/>
              </a:rPr>
              <a:t>useMemo</a:t>
            </a:r>
            <a:r>
              <a:rPr lang="en-US" sz="2400" dirty="0">
                <a:solidFill>
                  <a:srgbClr val="000000"/>
                </a:solidFill>
                <a:latin typeface="Rubik"/>
              </a:rPr>
              <a:t> </a:t>
            </a:r>
            <a:r>
              <a:rPr lang="he-IL" sz="2400" dirty="0">
                <a:solidFill>
                  <a:srgbClr val="000000"/>
                </a:solidFill>
                <a:latin typeface="Rubik"/>
              </a:rPr>
              <a:t> הוא שהוא מאפשר לאחסן את התוצאה של קריאת פונקציה ולעשות בה שימוש חוזר עד שהתלות של הפונקציה הזו תשתנה. </a:t>
            </a:r>
          </a:p>
          <a:p>
            <a:r>
              <a:rPr lang="he-IL" sz="2400" dirty="0">
                <a:solidFill>
                  <a:srgbClr val="000000"/>
                </a:solidFill>
                <a:latin typeface="Rubik"/>
              </a:rPr>
              <a:t>זה שימושי במיוחד כאשר הקריאה לפונקציה יקרה מבחינה חישובית או מחזירה ערך המשמש במספר מקומות בתוך הרכיב שלך.</a:t>
            </a:r>
            <a:endParaRPr lang="he-IL" sz="2400" dirty="0"/>
          </a:p>
        </p:txBody>
      </p:sp>
    </p:spTree>
    <p:extLst>
      <p:ext uri="{BB962C8B-B14F-4D97-AF65-F5344CB8AC3E}">
        <p14:creationId xmlns:p14="http://schemas.microsoft.com/office/powerpoint/2010/main" val="13075095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a:extLst>
              <a:ext uri="{FF2B5EF4-FFF2-40B4-BE49-F238E27FC236}">
                <a16:creationId xmlns:a16="http://schemas.microsoft.com/office/drawing/2014/main" id="{621DC0CD-FF59-4650-8E65-CCAAD479CF69}"/>
              </a:ext>
            </a:extLst>
          </p:cNvPr>
          <p:cNvPicPr>
            <a:picLocks noChangeAspect="1"/>
          </p:cNvPicPr>
          <p:nvPr/>
        </p:nvPicPr>
        <p:blipFill>
          <a:blip r:embed="rId2"/>
          <a:stretch>
            <a:fillRect/>
          </a:stretch>
        </p:blipFill>
        <p:spPr>
          <a:xfrm>
            <a:off x="4168218" y="507850"/>
            <a:ext cx="6811184" cy="4074310"/>
          </a:xfrm>
          <a:prstGeom prst="rect">
            <a:avLst/>
          </a:prstGeom>
        </p:spPr>
      </p:pic>
    </p:spTree>
    <p:extLst>
      <p:ext uri="{BB962C8B-B14F-4D97-AF65-F5344CB8AC3E}">
        <p14:creationId xmlns:p14="http://schemas.microsoft.com/office/powerpoint/2010/main" val="41999449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לבן 1">
            <a:extLst>
              <a:ext uri="{FF2B5EF4-FFF2-40B4-BE49-F238E27FC236}">
                <a16:creationId xmlns:a16="http://schemas.microsoft.com/office/drawing/2014/main" id="{497DF9F2-6E5F-4C82-9DD0-9EA260CF4BD7}"/>
              </a:ext>
            </a:extLst>
          </p:cNvPr>
          <p:cNvSpPr/>
          <p:nvPr/>
        </p:nvSpPr>
        <p:spPr>
          <a:xfrm>
            <a:off x="1920240" y="790416"/>
            <a:ext cx="9083040" cy="1477328"/>
          </a:xfrm>
          <a:prstGeom prst="rect">
            <a:avLst/>
          </a:prstGeom>
        </p:spPr>
        <p:txBody>
          <a:bodyPr wrap="square">
            <a:spAutoFit/>
          </a:bodyPr>
          <a:lstStyle/>
          <a:p>
            <a:r>
              <a:rPr lang="en-US" dirty="0">
                <a:solidFill>
                  <a:srgbClr val="1F1F1F"/>
                </a:solidFill>
                <a:latin typeface="Google Sans"/>
              </a:rPr>
              <a:t> Hooks </a:t>
            </a:r>
            <a:r>
              <a:rPr lang="he-IL" dirty="0">
                <a:solidFill>
                  <a:srgbClr val="1F1F1F"/>
                </a:solidFill>
                <a:latin typeface="Google Sans"/>
              </a:rPr>
              <a:t>הם פונקציות שאפשר להשתמש בהן בתוך רכיבי </a:t>
            </a:r>
            <a:r>
              <a:rPr lang="en-US" dirty="0">
                <a:solidFill>
                  <a:srgbClr val="1F1F1F"/>
                </a:solidFill>
                <a:latin typeface="Google Sans"/>
              </a:rPr>
              <a:t>React </a:t>
            </a:r>
            <a:r>
              <a:rPr lang="he-IL" dirty="0">
                <a:solidFill>
                  <a:srgbClr val="1F1F1F"/>
                </a:solidFill>
                <a:latin typeface="Google Sans"/>
              </a:rPr>
              <a:t> כדי לספק פונקציונליות מורכבת. </a:t>
            </a:r>
            <a:r>
              <a:rPr lang="en-US" dirty="0">
                <a:solidFill>
                  <a:srgbClr val="1F1F1F"/>
                </a:solidFill>
                <a:latin typeface="Google Sans"/>
              </a:rPr>
              <a:t>React </a:t>
            </a:r>
            <a:r>
              <a:rPr lang="he-IL" dirty="0">
                <a:solidFill>
                  <a:srgbClr val="1F1F1F"/>
                </a:solidFill>
                <a:latin typeface="Google Sans"/>
              </a:rPr>
              <a:t> מספק כמה </a:t>
            </a:r>
            <a:r>
              <a:rPr lang="en-US" dirty="0">
                <a:solidFill>
                  <a:srgbClr val="1F1F1F"/>
                </a:solidFill>
                <a:latin typeface="Google Sans"/>
              </a:rPr>
              <a:t>Hooks </a:t>
            </a:r>
            <a:r>
              <a:rPr lang="he-IL" dirty="0">
                <a:solidFill>
                  <a:srgbClr val="1F1F1F"/>
                </a:solidFill>
                <a:latin typeface="Google Sans"/>
              </a:rPr>
              <a:t> מובנים, כמו </a:t>
            </a:r>
            <a:r>
              <a:rPr lang="en-US" dirty="0" err="1">
                <a:solidFill>
                  <a:srgbClr val="1F1F1F"/>
                </a:solidFill>
                <a:latin typeface="Google Sans"/>
              </a:rPr>
              <a:t>useState</a:t>
            </a:r>
            <a:r>
              <a:rPr lang="en-US" dirty="0">
                <a:solidFill>
                  <a:srgbClr val="1F1F1F"/>
                </a:solidFill>
                <a:latin typeface="Google Sans"/>
              </a:rPr>
              <a:t> </a:t>
            </a:r>
            <a:r>
              <a:rPr lang="he-IL" dirty="0">
                <a:solidFill>
                  <a:srgbClr val="1F1F1F"/>
                </a:solidFill>
                <a:latin typeface="Google Sans"/>
              </a:rPr>
              <a:t>ו-</a:t>
            </a:r>
            <a:r>
              <a:rPr lang="en-US" dirty="0" err="1">
                <a:solidFill>
                  <a:srgbClr val="1F1F1F"/>
                </a:solidFill>
                <a:latin typeface="Google Sans"/>
              </a:rPr>
              <a:t>useEffect</a:t>
            </a:r>
            <a:r>
              <a:rPr lang="en-US" dirty="0">
                <a:solidFill>
                  <a:srgbClr val="1F1F1F"/>
                </a:solidFill>
                <a:latin typeface="Google Sans"/>
              </a:rPr>
              <a:t>, </a:t>
            </a:r>
            <a:r>
              <a:rPr lang="he-IL" dirty="0">
                <a:solidFill>
                  <a:srgbClr val="1F1F1F"/>
                </a:solidFill>
                <a:latin typeface="Google Sans"/>
              </a:rPr>
              <a:t> אבל אפשר גם ליצור </a:t>
            </a:r>
            <a:r>
              <a:rPr lang="en-US" dirty="0">
                <a:solidFill>
                  <a:srgbClr val="1F1F1F"/>
                </a:solidFill>
                <a:latin typeface="Google Sans"/>
              </a:rPr>
              <a:t>Hooks </a:t>
            </a:r>
            <a:r>
              <a:rPr lang="he-IL" dirty="0">
                <a:solidFill>
                  <a:srgbClr val="1F1F1F"/>
                </a:solidFill>
                <a:latin typeface="Google Sans"/>
              </a:rPr>
              <a:t> מותאמים אישית.</a:t>
            </a:r>
          </a:p>
          <a:p>
            <a:br>
              <a:rPr lang="he-IL" dirty="0"/>
            </a:br>
            <a:endParaRPr lang="he-IL" dirty="0"/>
          </a:p>
        </p:txBody>
      </p:sp>
      <p:pic>
        <p:nvPicPr>
          <p:cNvPr id="3" name="תמונה 2">
            <a:extLst>
              <a:ext uri="{FF2B5EF4-FFF2-40B4-BE49-F238E27FC236}">
                <a16:creationId xmlns:a16="http://schemas.microsoft.com/office/drawing/2014/main" id="{119A33B9-7D56-4509-B389-BD43A9DD1629}"/>
              </a:ext>
            </a:extLst>
          </p:cNvPr>
          <p:cNvPicPr>
            <a:picLocks noChangeAspect="1"/>
          </p:cNvPicPr>
          <p:nvPr/>
        </p:nvPicPr>
        <p:blipFill>
          <a:blip r:embed="rId2"/>
          <a:stretch>
            <a:fillRect/>
          </a:stretch>
        </p:blipFill>
        <p:spPr>
          <a:xfrm>
            <a:off x="6550550" y="2262663"/>
            <a:ext cx="5204570" cy="2848655"/>
          </a:xfrm>
          <a:prstGeom prst="rect">
            <a:avLst/>
          </a:prstGeom>
        </p:spPr>
      </p:pic>
      <p:pic>
        <p:nvPicPr>
          <p:cNvPr id="4" name="תמונה 3">
            <a:extLst>
              <a:ext uri="{FF2B5EF4-FFF2-40B4-BE49-F238E27FC236}">
                <a16:creationId xmlns:a16="http://schemas.microsoft.com/office/drawing/2014/main" id="{C9228F35-A5A4-4DFD-8B1B-1115B45E024E}"/>
              </a:ext>
            </a:extLst>
          </p:cNvPr>
          <p:cNvPicPr>
            <a:picLocks noChangeAspect="1"/>
          </p:cNvPicPr>
          <p:nvPr/>
        </p:nvPicPr>
        <p:blipFill>
          <a:blip r:embed="rId3"/>
          <a:stretch>
            <a:fillRect/>
          </a:stretch>
        </p:blipFill>
        <p:spPr>
          <a:xfrm>
            <a:off x="58015" y="2262664"/>
            <a:ext cx="6045033" cy="2848655"/>
          </a:xfrm>
          <a:prstGeom prst="rect">
            <a:avLst/>
          </a:prstGeom>
        </p:spPr>
      </p:pic>
    </p:spTree>
    <p:extLst>
      <p:ext uri="{BB962C8B-B14F-4D97-AF65-F5344CB8AC3E}">
        <p14:creationId xmlns:p14="http://schemas.microsoft.com/office/powerpoint/2010/main" val="42466698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7BC4F79-35FC-4835-817D-3277A83665E0}"/>
              </a:ext>
            </a:extLst>
          </p:cNvPr>
          <p:cNvSpPr txBox="1"/>
          <p:nvPr/>
        </p:nvSpPr>
        <p:spPr>
          <a:xfrm>
            <a:off x="2946400" y="558800"/>
            <a:ext cx="8117840" cy="1754326"/>
          </a:xfrm>
          <a:prstGeom prst="rect">
            <a:avLst/>
          </a:prstGeom>
          <a:noFill/>
        </p:spPr>
        <p:txBody>
          <a:bodyPr wrap="square" rtlCol="1">
            <a:spAutoFit/>
          </a:bodyPr>
          <a:lstStyle/>
          <a:p>
            <a:pPr marL="342900" indent="-342900">
              <a:buFont typeface="+mj-lt"/>
              <a:buAutoNum type="arabicPeriod"/>
            </a:pPr>
            <a:r>
              <a:rPr lang="he-IL" dirty="0"/>
              <a:t>צרי מחשבון, בשביל הפונקציות השתמשי ב</a:t>
            </a:r>
            <a:r>
              <a:rPr lang="en-US" dirty="0"/>
              <a:t>custom hook</a:t>
            </a:r>
            <a:endParaRPr lang="he-IL" dirty="0"/>
          </a:p>
          <a:p>
            <a:pPr marL="342900" indent="-342900">
              <a:buFont typeface="+mj-lt"/>
              <a:buAutoNum type="arabicPeriod"/>
            </a:pPr>
            <a:r>
              <a:rPr lang="he-IL" dirty="0"/>
              <a:t>צרי </a:t>
            </a:r>
            <a:r>
              <a:rPr lang="he-IL" dirty="0" err="1"/>
              <a:t>קומפוננטה</a:t>
            </a:r>
            <a:r>
              <a:rPr lang="he-IL" dirty="0"/>
              <a:t> שמציגה מזג אויר בארצות שונות.</a:t>
            </a:r>
            <a:br>
              <a:rPr lang="en-US" dirty="0"/>
            </a:br>
            <a:r>
              <a:rPr lang="he-IL" dirty="0"/>
              <a:t>צרי </a:t>
            </a:r>
            <a:r>
              <a:rPr lang="he-IL" dirty="0" err="1"/>
              <a:t>קומפוננטת</a:t>
            </a:r>
            <a:r>
              <a:rPr lang="he-IL" dirty="0"/>
              <a:t> בן שמציגה את התוצאה. </a:t>
            </a:r>
            <a:r>
              <a:rPr lang="he-IL" dirty="0" err="1"/>
              <a:t>השתשי</a:t>
            </a:r>
            <a:r>
              <a:rPr lang="he-IL" dirty="0"/>
              <a:t> ב</a:t>
            </a:r>
            <a:r>
              <a:rPr lang="en-US" dirty="0" err="1"/>
              <a:t>useCalback</a:t>
            </a:r>
            <a:endParaRPr lang="he-IL" dirty="0"/>
          </a:p>
          <a:p>
            <a:pPr marL="342900" indent="-342900">
              <a:buFont typeface="+mj-lt"/>
              <a:buAutoNum type="arabicPeriod"/>
            </a:pPr>
            <a:r>
              <a:rPr lang="he-IL" dirty="0"/>
              <a:t>צרי </a:t>
            </a:r>
            <a:r>
              <a:rPr lang="he-IL" dirty="0" err="1"/>
              <a:t>קומפוננטת</a:t>
            </a:r>
            <a:r>
              <a:rPr lang="he-IL" dirty="0"/>
              <a:t> בנק. </a:t>
            </a:r>
            <a:br>
              <a:rPr lang="en-US" dirty="0"/>
            </a:br>
            <a:r>
              <a:rPr lang="he-IL" dirty="0"/>
              <a:t>אפשרי לבצע 3 פעולות: משיכת מזומן, צפייה ביתרה והוספת משכורת</a:t>
            </a:r>
            <a:br>
              <a:rPr lang="en-US" dirty="0"/>
            </a:br>
            <a:r>
              <a:rPr lang="he-IL" dirty="0"/>
              <a:t>הציגי את היתרה בתגית </a:t>
            </a:r>
            <a:r>
              <a:rPr lang="en-US" dirty="0"/>
              <a:t>P</a:t>
            </a:r>
            <a:r>
              <a:rPr lang="he-IL" dirty="0"/>
              <a:t> , השתמשי ב</a:t>
            </a:r>
            <a:r>
              <a:rPr lang="en-US" dirty="0" err="1"/>
              <a:t>useRef</a:t>
            </a:r>
            <a:endParaRPr lang="he-IL" dirty="0"/>
          </a:p>
        </p:txBody>
      </p:sp>
    </p:spTree>
    <p:extLst>
      <p:ext uri="{BB962C8B-B14F-4D97-AF65-F5344CB8AC3E}">
        <p14:creationId xmlns:p14="http://schemas.microsoft.com/office/powerpoint/2010/main" val="3113091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2B6833A-2BFF-49CB-A03E-78AFC83D7DF7}"/>
              </a:ext>
            </a:extLst>
          </p:cNvPr>
          <p:cNvSpPr txBox="1"/>
          <p:nvPr/>
        </p:nvSpPr>
        <p:spPr>
          <a:xfrm>
            <a:off x="1087120" y="762000"/>
            <a:ext cx="10556240" cy="5355312"/>
          </a:xfrm>
          <a:prstGeom prst="rect">
            <a:avLst/>
          </a:prstGeom>
          <a:noFill/>
        </p:spPr>
        <p:txBody>
          <a:bodyPr wrap="square" rtlCol="1">
            <a:spAutoFit/>
          </a:bodyPr>
          <a:lstStyle/>
          <a:p>
            <a:r>
              <a:rPr lang="en-US" dirty="0" err="1"/>
              <a:t>useReducer</a:t>
            </a:r>
            <a:r>
              <a:rPr lang="he-IL" dirty="0"/>
              <a:t> מחזיר מערך של 2 אלמנטים, </a:t>
            </a:r>
          </a:p>
          <a:p>
            <a:r>
              <a:rPr lang="he-IL" dirty="0"/>
              <a:t>בדומה ל-</a:t>
            </a:r>
            <a:r>
              <a:rPr lang="en-US" dirty="0" err="1"/>
              <a:t>useState</a:t>
            </a:r>
            <a:r>
              <a:rPr lang="en-US" dirty="0"/>
              <a:t>. </a:t>
            </a:r>
            <a:r>
              <a:rPr lang="he-IL" dirty="0"/>
              <a:t> </a:t>
            </a:r>
          </a:p>
          <a:p>
            <a:r>
              <a:rPr lang="he-IL" dirty="0"/>
              <a:t>הראשון הוא ה-</a:t>
            </a:r>
            <a:r>
              <a:rPr lang="en-US" dirty="0"/>
              <a:t>State </a:t>
            </a:r>
            <a:r>
              <a:rPr lang="he-IL" dirty="0"/>
              <a:t>הנוכחי, והשני הוא </a:t>
            </a:r>
            <a:r>
              <a:rPr lang="en-US" dirty="0"/>
              <a:t>dispatch(</a:t>
            </a:r>
            <a:r>
              <a:rPr lang="he-IL" dirty="0"/>
              <a:t>פונקציה).</a:t>
            </a:r>
          </a:p>
          <a:p>
            <a:endParaRPr lang="he-IL" dirty="0"/>
          </a:p>
          <a:p>
            <a:r>
              <a:rPr lang="he-IL" dirty="0"/>
              <a:t>למרות ש- </a:t>
            </a:r>
            <a:r>
              <a:rPr lang="en-US" dirty="0" err="1"/>
              <a:t>useState</a:t>
            </a:r>
            <a:r>
              <a:rPr lang="en-US" dirty="0"/>
              <a:t> </a:t>
            </a:r>
            <a:r>
              <a:rPr lang="he-IL" dirty="0"/>
              <a:t> הוא הוק בסיסי ו </a:t>
            </a:r>
            <a:r>
              <a:rPr lang="en-US" dirty="0" err="1"/>
              <a:t>useReducer</a:t>
            </a:r>
            <a:r>
              <a:rPr lang="en-US" dirty="0"/>
              <a:t> </a:t>
            </a:r>
            <a:r>
              <a:rPr lang="he-IL" dirty="0"/>
              <a:t> הוא לא,</a:t>
            </a:r>
          </a:p>
          <a:p>
            <a:r>
              <a:rPr lang="he-IL" dirty="0"/>
              <a:t> </a:t>
            </a:r>
            <a:r>
              <a:rPr lang="en-US" dirty="0" err="1"/>
              <a:t>useState</a:t>
            </a:r>
            <a:r>
              <a:rPr lang="en-US" dirty="0"/>
              <a:t> </a:t>
            </a:r>
            <a:r>
              <a:rPr lang="he-IL" dirty="0"/>
              <a:t> מיושם למעשה באמצעות </a:t>
            </a:r>
            <a:r>
              <a:rPr lang="en-US" dirty="0" err="1"/>
              <a:t>useReducer</a:t>
            </a:r>
            <a:r>
              <a:rPr lang="en-US" dirty="0"/>
              <a:t>. </a:t>
            </a:r>
            <a:endParaRPr lang="he-IL" dirty="0"/>
          </a:p>
          <a:p>
            <a:r>
              <a:rPr lang="he-IL" dirty="0"/>
              <a:t> משמעות הדבר היא ש </a:t>
            </a:r>
            <a:r>
              <a:rPr lang="en-US" dirty="0" err="1"/>
              <a:t>useReducer</a:t>
            </a:r>
            <a:r>
              <a:rPr lang="en-US" dirty="0"/>
              <a:t> </a:t>
            </a:r>
            <a:r>
              <a:rPr lang="he-IL" dirty="0"/>
              <a:t> הוא </a:t>
            </a:r>
            <a:r>
              <a:rPr lang="he-IL" dirty="0" err="1"/>
              <a:t>פרימיטיב</a:t>
            </a:r>
            <a:endParaRPr lang="he-IL" dirty="0"/>
          </a:p>
          <a:p>
            <a:r>
              <a:rPr lang="he-IL" dirty="0"/>
              <a:t> ואנחנו יכולים להשתמש ב-</a:t>
            </a:r>
            <a:r>
              <a:rPr lang="en-US" dirty="0"/>
              <a:t> </a:t>
            </a:r>
            <a:r>
              <a:rPr lang="en-US" dirty="0" err="1"/>
              <a:t>useReducer</a:t>
            </a:r>
            <a:r>
              <a:rPr lang="en-US" dirty="0"/>
              <a:t> </a:t>
            </a:r>
            <a:r>
              <a:rPr lang="he-IL" dirty="0"/>
              <a:t>עבור כל מה שהיינו משתמשים עם </a:t>
            </a:r>
            <a:r>
              <a:rPr lang="en-US" dirty="0" err="1"/>
              <a:t>useState</a:t>
            </a:r>
            <a:r>
              <a:rPr lang="en-US" dirty="0"/>
              <a:t>.</a:t>
            </a:r>
            <a:endParaRPr lang="he-IL" dirty="0"/>
          </a:p>
          <a:p>
            <a:endParaRPr lang="he-IL" dirty="0"/>
          </a:p>
          <a:p>
            <a:r>
              <a:rPr lang="he-IL" dirty="0"/>
              <a:t>אנחנו נעביר ל- </a:t>
            </a:r>
            <a:r>
              <a:rPr lang="en-US" dirty="0" err="1"/>
              <a:t>useReducer</a:t>
            </a:r>
            <a:r>
              <a:rPr lang="en-US" dirty="0"/>
              <a:t> </a:t>
            </a:r>
            <a:r>
              <a:rPr lang="he-IL" dirty="0"/>
              <a:t> פונקציית </a:t>
            </a:r>
            <a:r>
              <a:rPr lang="en-US" dirty="0"/>
              <a:t>reducer(</a:t>
            </a:r>
            <a:r>
              <a:rPr lang="he-IL" dirty="0"/>
              <a:t> נראה דוגמא בהמשך) וערך התחלתי(</a:t>
            </a:r>
            <a:r>
              <a:rPr lang="en-US" dirty="0"/>
              <a:t>initial state). </a:t>
            </a:r>
            <a:r>
              <a:rPr lang="he-IL" dirty="0"/>
              <a:t> </a:t>
            </a:r>
          </a:p>
          <a:p>
            <a:r>
              <a:rPr lang="he-IL" dirty="0"/>
              <a:t>פונקציית ה </a:t>
            </a:r>
            <a:r>
              <a:rPr lang="en-US" dirty="0"/>
              <a:t>Reducer </a:t>
            </a:r>
            <a:r>
              <a:rPr lang="he-IL" dirty="0"/>
              <a:t> שלנו מקבלת את ה-</a:t>
            </a:r>
            <a:r>
              <a:rPr lang="en-US" dirty="0"/>
              <a:t>State </a:t>
            </a:r>
            <a:r>
              <a:rPr lang="he-IL" dirty="0"/>
              <a:t> הנוכחי ופעולה(</a:t>
            </a:r>
            <a:r>
              <a:rPr lang="en-US" dirty="0"/>
              <a:t>action) </a:t>
            </a:r>
            <a:r>
              <a:rPr lang="he-IL" dirty="0"/>
              <a:t> ותחזיר לנו את  ה- </a:t>
            </a:r>
            <a:r>
              <a:rPr lang="en-US" dirty="0"/>
              <a:t> state </a:t>
            </a:r>
            <a:r>
              <a:rPr lang="he-IL" dirty="0"/>
              <a:t>החדש.</a:t>
            </a:r>
          </a:p>
          <a:p>
            <a:endParaRPr lang="he-IL" dirty="0"/>
          </a:p>
          <a:p>
            <a:r>
              <a:rPr lang="he-IL" b="1" dirty="0"/>
              <a:t>מתי נשתמש ב </a:t>
            </a:r>
            <a:r>
              <a:rPr lang="en-US" b="1" dirty="0" err="1"/>
              <a:t>useReducer</a:t>
            </a:r>
            <a:endParaRPr lang="en-US" b="1" dirty="0"/>
          </a:p>
          <a:p>
            <a:endParaRPr lang="he-IL" dirty="0"/>
          </a:p>
          <a:p>
            <a:r>
              <a:rPr lang="he-IL" dirty="0"/>
              <a:t>יש לנו שתי </a:t>
            </a:r>
            <a:r>
              <a:rPr lang="he-IL" dirty="0" err="1"/>
              <a:t>הוקס</a:t>
            </a:r>
            <a:r>
              <a:rPr lang="he-IL" dirty="0"/>
              <a:t> שבעזרתם אנחנו יכולים לנהל את ה </a:t>
            </a:r>
            <a:r>
              <a:rPr lang="en-US" dirty="0"/>
              <a:t>state </a:t>
            </a:r>
            <a:r>
              <a:rPr lang="he-IL" dirty="0"/>
              <a:t>שלנו, וכמו תמיד שיש לנו שתי אפשרויות לעשות את אותה הפעולה תמיד נשאל את עצמינו מתי יהיה נכון להשתמש בכל אחת מהאופציות?</a:t>
            </a:r>
          </a:p>
          <a:p>
            <a:br>
              <a:rPr lang="he-IL" dirty="0"/>
            </a:br>
            <a:r>
              <a:rPr lang="he-IL" dirty="0"/>
              <a:t>כאשר יש לנו לוגיקה מורכבת הכוללת </a:t>
            </a:r>
            <a:r>
              <a:rPr lang="en-US" dirty="0"/>
              <a:t>State </a:t>
            </a:r>
            <a:r>
              <a:rPr lang="he-IL" dirty="0"/>
              <a:t> עם מספר תתי-ערכים (</a:t>
            </a:r>
            <a:r>
              <a:rPr lang="en-US" dirty="0" err="1"/>
              <a:t>useReducer</a:t>
            </a:r>
            <a:r>
              <a:rPr lang="en-US" dirty="0"/>
              <a:t>  </a:t>
            </a:r>
            <a:r>
              <a:rPr lang="he-IL" dirty="0"/>
              <a:t>תעזור לנו גם לשפר את הביצועים) או כאשר ה-</a:t>
            </a:r>
            <a:r>
              <a:rPr lang="en-US" dirty="0"/>
              <a:t>State </a:t>
            </a:r>
            <a:r>
              <a:rPr lang="he-IL" dirty="0"/>
              <a:t> הבא תלוי ב-</a:t>
            </a:r>
            <a:r>
              <a:rPr lang="en-US" dirty="0"/>
              <a:t> State </a:t>
            </a:r>
            <a:r>
              <a:rPr lang="he-IL" dirty="0"/>
              <a:t>הקודם נעדיף בדרך כלל להשתמש ב- </a:t>
            </a:r>
            <a:r>
              <a:rPr lang="en-US" dirty="0"/>
              <a:t> </a:t>
            </a:r>
            <a:r>
              <a:rPr lang="en-US" dirty="0" err="1"/>
              <a:t>useReducer</a:t>
            </a:r>
            <a:r>
              <a:rPr lang="en-US" dirty="0"/>
              <a:t> </a:t>
            </a:r>
            <a:r>
              <a:rPr lang="he-IL" dirty="0"/>
              <a:t>ולא ב-</a:t>
            </a:r>
            <a:r>
              <a:rPr lang="en-US" dirty="0" err="1"/>
              <a:t>useState</a:t>
            </a:r>
            <a:r>
              <a:rPr lang="en-US" dirty="0"/>
              <a:t>.</a:t>
            </a:r>
            <a:endParaRPr lang="he-IL" dirty="0"/>
          </a:p>
        </p:txBody>
      </p:sp>
      <p:pic>
        <p:nvPicPr>
          <p:cNvPr id="6" name="תמונה 5">
            <a:extLst>
              <a:ext uri="{FF2B5EF4-FFF2-40B4-BE49-F238E27FC236}">
                <a16:creationId xmlns:a16="http://schemas.microsoft.com/office/drawing/2014/main" id="{AE58B487-40D9-4382-B0FC-936DF8ACFCD0}"/>
              </a:ext>
            </a:extLst>
          </p:cNvPr>
          <p:cNvPicPr>
            <a:picLocks noChangeAspect="1"/>
          </p:cNvPicPr>
          <p:nvPr/>
        </p:nvPicPr>
        <p:blipFill>
          <a:blip r:embed="rId2"/>
          <a:stretch>
            <a:fillRect/>
          </a:stretch>
        </p:blipFill>
        <p:spPr>
          <a:xfrm>
            <a:off x="361655" y="243840"/>
            <a:ext cx="5734345" cy="2368672"/>
          </a:xfrm>
          <a:prstGeom prst="rect">
            <a:avLst/>
          </a:prstGeom>
        </p:spPr>
      </p:pic>
    </p:spTree>
    <p:extLst>
      <p:ext uri="{BB962C8B-B14F-4D97-AF65-F5344CB8AC3E}">
        <p14:creationId xmlns:p14="http://schemas.microsoft.com/office/powerpoint/2010/main" val="42349853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לבן 2">
            <a:extLst>
              <a:ext uri="{FF2B5EF4-FFF2-40B4-BE49-F238E27FC236}">
                <a16:creationId xmlns:a16="http://schemas.microsoft.com/office/drawing/2014/main" id="{EA9BD2F3-B84F-429C-AF0C-59960D83C7BE}"/>
              </a:ext>
            </a:extLst>
          </p:cNvPr>
          <p:cNvSpPr/>
          <p:nvPr/>
        </p:nvSpPr>
        <p:spPr>
          <a:xfrm>
            <a:off x="751840" y="400596"/>
            <a:ext cx="10576560" cy="1477328"/>
          </a:xfrm>
          <a:prstGeom prst="rect">
            <a:avLst/>
          </a:prstGeom>
        </p:spPr>
        <p:txBody>
          <a:bodyPr wrap="square">
            <a:spAutoFit/>
          </a:bodyPr>
          <a:lstStyle/>
          <a:p>
            <a:r>
              <a:rPr lang="he-IL" dirty="0"/>
              <a:t>בדוגמא הבאה נראה איך אנחנו יכולים להשתמש ב- </a:t>
            </a:r>
            <a:r>
              <a:rPr lang="he-IL" dirty="0" err="1"/>
              <a:t>useReducerב</a:t>
            </a:r>
            <a:r>
              <a:rPr lang="he-IL" dirty="0"/>
              <a:t> על מנת ליצור </a:t>
            </a:r>
            <a:r>
              <a:rPr lang="he-IL" dirty="0" err="1"/>
              <a:t>Counter</a:t>
            </a:r>
            <a:r>
              <a:rPr lang="he-IL" dirty="0"/>
              <a:t>. יהיה לנו כפתור שמעלה  ב-1 כל פעם. כפתור שמחסיר 1 וכפתור אתחול שיחזיר את ה </a:t>
            </a:r>
            <a:r>
              <a:rPr lang="he-IL" dirty="0" err="1"/>
              <a:t>counter</a:t>
            </a:r>
            <a:r>
              <a:rPr lang="he-IL" dirty="0"/>
              <a:t> לערך ההתחלתי( 0- שאותו אנחנו קבענו).</a:t>
            </a:r>
          </a:p>
          <a:p>
            <a:endParaRPr lang="he-IL" dirty="0"/>
          </a:p>
          <a:p>
            <a:r>
              <a:rPr lang="he-IL" dirty="0"/>
              <a:t>יצרנו כאן משתנה </a:t>
            </a:r>
            <a:r>
              <a:rPr lang="he-IL" dirty="0" err="1"/>
              <a:t>ואיתחלנו</a:t>
            </a:r>
            <a:r>
              <a:rPr lang="he-IL" dirty="0"/>
              <a:t> אותו.</a:t>
            </a:r>
          </a:p>
          <a:p>
            <a:endParaRPr lang="he-IL" dirty="0"/>
          </a:p>
        </p:txBody>
      </p:sp>
      <p:pic>
        <p:nvPicPr>
          <p:cNvPr id="4" name="תמונה 3">
            <a:extLst>
              <a:ext uri="{FF2B5EF4-FFF2-40B4-BE49-F238E27FC236}">
                <a16:creationId xmlns:a16="http://schemas.microsoft.com/office/drawing/2014/main" id="{65021ACD-A2F5-4493-A205-BA63F5D28A34}"/>
              </a:ext>
            </a:extLst>
          </p:cNvPr>
          <p:cNvPicPr>
            <a:picLocks noChangeAspect="1"/>
          </p:cNvPicPr>
          <p:nvPr/>
        </p:nvPicPr>
        <p:blipFill>
          <a:blip r:embed="rId2"/>
          <a:stretch>
            <a:fillRect/>
          </a:stretch>
        </p:blipFill>
        <p:spPr>
          <a:xfrm>
            <a:off x="1475205" y="2237731"/>
            <a:ext cx="9853195" cy="607069"/>
          </a:xfrm>
          <a:prstGeom prst="rect">
            <a:avLst/>
          </a:prstGeom>
        </p:spPr>
      </p:pic>
      <p:sp>
        <p:nvSpPr>
          <p:cNvPr id="5" name="TextBox 4">
            <a:extLst>
              <a:ext uri="{FF2B5EF4-FFF2-40B4-BE49-F238E27FC236}">
                <a16:creationId xmlns:a16="http://schemas.microsoft.com/office/drawing/2014/main" id="{EAD398AF-03F6-4E08-ADE7-72F32AC7BC9D}"/>
              </a:ext>
            </a:extLst>
          </p:cNvPr>
          <p:cNvSpPr txBox="1"/>
          <p:nvPr/>
        </p:nvSpPr>
        <p:spPr>
          <a:xfrm>
            <a:off x="7406640" y="1826921"/>
            <a:ext cx="3921760" cy="369332"/>
          </a:xfrm>
          <a:prstGeom prst="rect">
            <a:avLst/>
          </a:prstGeom>
          <a:noFill/>
        </p:spPr>
        <p:txBody>
          <a:bodyPr wrap="square" rtlCol="1">
            <a:spAutoFit/>
          </a:bodyPr>
          <a:lstStyle/>
          <a:p>
            <a:r>
              <a:rPr lang="he-IL" dirty="0"/>
              <a:t>יצירת המשתנה</a:t>
            </a:r>
          </a:p>
        </p:txBody>
      </p:sp>
      <p:sp>
        <p:nvSpPr>
          <p:cNvPr id="6" name="TextBox 5">
            <a:extLst>
              <a:ext uri="{FF2B5EF4-FFF2-40B4-BE49-F238E27FC236}">
                <a16:creationId xmlns:a16="http://schemas.microsoft.com/office/drawing/2014/main" id="{BEC6013D-C0CE-4EF2-A778-C4B0EBFA4B1F}"/>
              </a:ext>
            </a:extLst>
          </p:cNvPr>
          <p:cNvSpPr txBox="1"/>
          <p:nvPr/>
        </p:nvSpPr>
        <p:spPr>
          <a:xfrm>
            <a:off x="7559040" y="4481376"/>
            <a:ext cx="3921760" cy="369332"/>
          </a:xfrm>
          <a:prstGeom prst="rect">
            <a:avLst/>
          </a:prstGeom>
          <a:noFill/>
        </p:spPr>
        <p:txBody>
          <a:bodyPr wrap="square" rtlCol="1">
            <a:spAutoFit/>
          </a:bodyPr>
          <a:lstStyle/>
          <a:p>
            <a:r>
              <a:rPr lang="he-IL" dirty="0"/>
              <a:t>יצירת אירוע</a:t>
            </a:r>
          </a:p>
        </p:txBody>
      </p:sp>
      <p:pic>
        <p:nvPicPr>
          <p:cNvPr id="7" name="תמונה 6">
            <a:extLst>
              <a:ext uri="{FF2B5EF4-FFF2-40B4-BE49-F238E27FC236}">
                <a16:creationId xmlns:a16="http://schemas.microsoft.com/office/drawing/2014/main" id="{957A1C79-22B7-470F-98FE-875A1DE2EC6A}"/>
              </a:ext>
            </a:extLst>
          </p:cNvPr>
          <p:cNvPicPr>
            <a:picLocks noChangeAspect="1"/>
          </p:cNvPicPr>
          <p:nvPr/>
        </p:nvPicPr>
        <p:blipFill>
          <a:blip r:embed="rId3"/>
          <a:stretch>
            <a:fillRect/>
          </a:stretch>
        </p:blipFill>
        <p:spPr>
          <a:xfrm>
            <a:off x="1475205" y="3429000"/>
            <a:ext cx="5748842" cy="525096"/>
          </a:xfrm>
          <a:prstGeom prst="rect">
            <a:avLst/>
          </a:prstGeom>
        </p:spPr>
      </p:pic>
      <p:pic>
        <p:nvPicPr>
          <p:cNvPr id="8" name="תמונה 7">
            <a:extLst>
              <a:ext uri="{FF2B5EF4-FFF2-40B4-BE49-F238E27FC236}">
                <a16:creationId xmlns:a16="http://schemas.microsoft.com/office/drawing/2014/main" id="{057B4790-D632-405A-9DB6-C4943488662D}"/>
              </a:ext>
            </a:extLst>
          </p:cNvPr>
          <p:cNvPicPr>
            <a:picLocks noChangeAspect="1"/>
          </p:cNvPicPr>
          <p:nvPr/>
        </p:nvPicPr>
        <p:blipFill>
          <a:blip r:embed="rId4"/>
          <a:stretch>
            <a:fillRect/>
          </a:stretch>
        </p:blipFill>
        <p:spPr>
          <a:xfrm>
            <a:off x="1475205" y="4919958"/>
            <a:ext cx="5656271" cy="1094762"/>
          </a:xfrm>
          <a:prstGeom prst="rect">
            <a:avLst/>
          </a:prstGeom>
        </p:spPr>
      </p:pic>
      <p:sp>
        <p:nvSpPr>
          <p:cNvPr id="9" name="TextBox 8">
            <a:extLst>
              <a:ext uri="{FF2B5EF4-FFF2-40B4-BE49-F238E27FC236}">
                <a16:creationId xmlns:a16="http://schemas.microsoft.com/office/drawing/2014/main" id="{C460BCCE-521B-43FD-A9E3-D064BBA04CBB}"/>
              </a:ext>
            </a:extLst>
          </p:cNvPr>
          <p:cNvSpPr txBox="1"/>
          <p:nvPr/>
        </p:nvSpPr>
        <p:spPr>
          <a:xfrm>
            <a:off x="7650480" y="3087317"/>
            <a:ext cx="3921760" cy="369332"/>
          </a:xfrm>
          <a:prstGeom prst="rect">
            <a:avLst/>
          </a:prstGeom>
          <a:noFill/>
        </p:spPr>
        <p:txBody>
          <a:bodyPr wrap="square" rtlCol="1">
            <a:spAutoFit/>
          </a:bodyPr>
          <a:lstStyle/>
          <a:p>
            <a:r>
              <a:rPr lang="he-IL" dirty="0"/>
              <a:t>האתחול</a:t>
            </a:r>
          </a:p>
        </p:txBody>
      </p:sp>
    </p:spTree>
    <p:extLst>
      <p:ext uri="{BB962C8B-B14F-4D97-AF65-F5344CB8AC3E}">
        <p14:creationId xmlns:p14="http://schemas.microsoft.com/office/powerpoint/2010/main" val="12491009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07A9DD5-4FBE-40B9-8EEB-D4C58A87BF01}"/>
              </a:ext>
            </a:extLst>
          </p:cNvPr>
          <p:cNvSpPr txBox="1"/>
          <p:nvPr/>
        </p:nvSpPr>
        <p:spPr>
          <a:xfrm>
            <a:off x="7538720" y="384757"/>
            <a:ext cx="3921760" cy="369332"/>
          </a:xfrm>
          <a:prstGeom prst="rect">
            <a:avLst/>
          </a:prstGeom>
          <a:noFill/>
        </p:spPr>
        <p:txBody>
          <a:bodyPr wrap="square" rtlCol="1">
            <a:spAutoFit/>
          </a:bodyPr>
          <a:lstStyle/>
          <a:p>
            <a:r>
              <a:rPr lang="he-IL" dirty="0"/>
              <a:t>האתחול</a:t>
            </a:r>
          </a:p>
        </p:txBody>
      </p:sp>
      <p:pic>
        <p:nvPicPr>
          <p:cNvPr id="3" name="תמונה 2">
            <a:extLst>
              <a:ext uri="{FF2B5EF4-FFF2-40B4-BE49-F238E27FC236}">
                <a16:creationId xmlns:a16="http://schemas.microsoft.com/office/drawing/2014/main" id="{2A570753-DF97-411A-BF46-0387EB56644B}"/>
              </a:ext>
            </a:extLst>
          </p:cNvPr>
          <p:cNvPicPr>
            <a:picLocks noChangeAspect="1"/>
          </p:cNvPicPr>
          <p:nvPr/>
        </p:nvPicPr>
        <p:blipFill>
          <a:blip r:embed="rId2"/>
          <a:stretch>
            <a:fillRect/>
          </a:stretch>
        </p:blipFill>
        <p:spPr>
          <a:xfrm>
            <a:off x="2217950" y="784568"/>
            <a:ext cx="5881905" cy="1196631"/>
          </a:xfrm>
          <a:prstGeom prst="rect">
            <a:avLst/>
          </a:prstGeom>
        </p:spPr>
      </p:pic>
      <p:pic>
        <p:nvPicPr>
          <p:cNvPr id="4" name="תמונה 3">
            <a:extLst>
              <a:ext uri="{FF2B5EF4-FFF2-40B4-BE49-F238E27FC236}">
                <a16:creationId xmlns:a16="http://schemas.microsoft.com/office/drawing/2014/main" id="{CB38CB8A-6904-43ED-9BE3-790CCE525667}"/>
              </a:ext>
            </a:extLst>
          </p:cNvPr>
          <p:cNvPicPr>
            <a:picLocks noChangeAspect="1"/>
          </p:cNvPicPr>
          <p:nvPr/>
        </p:nvPicPr>
        <p:blipFill>
          <a:blip r:embed="rId3"/>
          <a:stretch>
            <a:fillRect/>
          </a:stretch>
        </p:blipFill>
        <p:spPr>
          <a:xfrm>
            <a:off x="2217950" y="2776791"/>
            <a:ext cx="5881905" cy="3776396"/>
          </a:xfrm>
          <a:prstGeom prst="rect">
            <a:avLst/>
          </a:prstGeom>
        </p:spPr>
      </p:pic>
      <p:sp>
        <p:nvSpPr>
          <p:cNvPr id="5" name="TextBox 4">
            <a:extLst>
              <a:ext uri="{FF2B5EF4-FFF2-40B4-BE49-F238E27FC236}">
                <a16:creationId xmlns:a16="http://schemas.microsoft.com/office/drawing/2014/main" id="{AB7C1AA7-D3F4-4A80-B439-6E2254A80F50}"/>
              </a:ext>
            </a:extLst>
          </p:cNvPr>
          <p:cNvSpPr txBox="1"/>
          <p:nvPr/>
        </p:nvSpPr>
        <p:spPr>
          <a:xfrm>
            <a:off x="7538720" y="2052781"/>
            <a:ext cx="3921760" cy="369332"/>
          </a:xfrm>
          <a:prstGeom prst="rect">
            <a:avLst/>
          </a:prstGeom>
          <a:noFill/>
        </p:spPr>
        <p:txBody>
          <a:bodyPr wrap="square" rtlCol="1">
            <a:spAutoFit/>
          </a:bodyPr>
          <a:lstStyle/>
          <a:p>
            <a:r>
              <a:rPr lang="he-IL" dirty="0"/>
              <a:t>המימוש</a:t>
            </a:r>
          </a:p>
        </p:txBody>
      </p:sp>
    </p:spTree>
    <p:extLst>
      <p:ext uri="{BB962C8B-B14F-4D97-AF65-F5344CB8AC3E}">
        <p14:creationId xmlns:p14="http://schemas.microsoft.com/office/powerpoint/2010/main" val="8070532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a:extLst>
              <a:ext uri="{FF2B5EF4-FFF2-40B4-BE49-F238E27FC236}">
                <a16:creationId xmlns:a16="http://schemas.microsoft.com/office/drawing/2014/main" id="{4DA89275-2A18-4CA2-8F97-AB31C1309522}"/>
              </a:ext>
            </a:extLst>
          </p:cNvPr>
          <p:cNvPicPr>
            <a:picLocks noChangeAspect="1"/>
          </p:cNvPicPr>
          <p:nvPr/>
        </p:nvPicPr>
        <p:blipFill>
          <a:blip r:embed="rId2"/>
          <a:stretch>
            <a:fillRect/>
          </a:stretch>
        </p:blipFill>
        <p:spPr>
          <a:xfrm>
            <a:off x="714278" y="437996"/>
            <a:ext cx="5025040" cy="3341524"/>
          </a:xfrm>
          <a:prstGeom prst="rect">
            <a:avLst/>
          </a:prstGeom>
        </p:spPr>
      </p:pic>
      <p:pic>
        <p:nvPicPr>
          <p:cNvPr id="3" name="תמונה 2">
            <a:extLst>
              <a:ext uri="{FF2B5EF4-FFF2-40B4-BE49-F238E27FC236}">
                <a16:creationId xmlns:a16="http://schemas.microsoft.com/office/drawing/2014/main" id="{5D130AD1-C4B4-4576-8FA2-F34F3373D315}"/>
              </a:ext>
            </a:extLst>
          </p:cNvPr>
          <p:cNvPicPr>
            <a:picLocks noChangeAspect="1"/>
          </p:cNvPicPr>
          <p:nvPr/>
        </p:nvPicPr>
        <p:blipFill>
          <a:blip r:embed="rId3"/>
          <a:stretch>
            <a:fillRect/>
          </a:stretch>
        </p:blipFill>
        <p:spPr>
          <a:xfrm>
            <a:off x="6096000" y="437996"/>
            <a:ext cx="5682718" cy="3341524"/>
          </a:xfrm>
          <a:prstGeom prst="rect">
            <a:avLst/>
          </a:prstGeom>
        </p:spPr>
      </p:pic>
    </p:spTree>
    <p:extLst>
      <p:ext uri="{BB962C8B-B14F-4D97-AF65-F5344CB8AC3E}">
        <p14:creationId xmlns:p14="http://schemas.microsoft.com/office/powerpoint/2010/main" val="25382229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a:extLst>
              <a:ext uri="{FF2B5EF4-FFF2-40B4-BE49-F238E27FC236}">
                <a16:creationId xmlns:a16="http://schemas.microsoft.com/office/drawing/2014/main" id="{255601F6-EEE7-4D8E-9C35-D954D6BF8A8E}"/>
              </a:ext>
            </a:extLst>
          </p:cNvPr>
          <p:cNvPicPr>
            <a:picLocks noChangeAspect="1"/>
          </p:cNvPicPr>
          <p:nvPr/>
        </p:nvPicPr>
        <p:blipFill>
          <a:blip r:embed="rId2"/>
          <a:stretch>
            <a:fillRect/>
          </a:stretch>
        </p:blipFill>
        <p:spPr>
          <a:xfrm>
            <a:off x="1008631" y="483208"/>
            <a:ext cx="5087369" cy="1447192"/>
          </a:xfrm>
          <a:prstGeom prst="rect">
            <a:avLst/>
          </a:prstGeom>
        </p:spPr>
      </p:pic>
      <p:pic>
        <p:nvPicPr>
          <p:cNvPr id="3" name="תמונה 2">
            <a:extLst>
              <a:ext uri="{FF2B5EF4-FFF2-40B4-BE49-F238E27FC236}">
                <a16:creationId xmlns:a16="http://schemas.microsoft.com/office/drawing/2014/main" id="{031D735D-CA32-4A94-9530-41A874AC5215}"/>
              </a:ext>
            </a:extLst>
          </p:cNvPr>
          <p:cNvPicPr>
            <a:picLocks noChangeAspect="1"/>
          </p:cNvPicPr>
          <p:nvPr/>
        </p:nvPicPr>
        <p:blipFill>
          <a:blip r:embed="rId3"/>
          <a:stretch>
            <a:fillRect/>
          </a:stretch>
        </p:blipFill>
        <p:spPr>
          <a:xfrm>
            <a:off x="1008630" y="2579304"/>
            <a:ext cx="5844297" cy="3795488"/>
          </a:xfrm>
          <a:prstGeom prst="rect">
            <a:avLst/>
          </a:prstGeom>
        </p:spPr>
      </p:pic>
    </p:spTree>
    <p:extLst>
      <p:ext uri="{BB962C8B-B14F-4D97-AF65-F5344CB8AC3E}">
        <p14:creationId xmlns:p14="http://schemas.microsoft.com/office/powerpoint/2010/main" val="19126769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a:extLst>
              <a:ext uri="{FF2B5EF4-FFF2-40B4-BE49-F238E27FC236}">
                <a16:creationId xmlns:a16="http://schemas.microsoft.com/office/drawing/2014/main" id="{E82131B2-66C3-4D6D-B741-2C2A48345CD2}"/>
              </a:ext>
            </a:extLst>
          </p:cNvPr>
          <p:cNvPicPr>
            <a:picLocks noChangeAspect="1"/>
          </p:cNvPicPr>
          <p:nvPr/>
        </p:nvPicPr>
        <p:blipFill>
          <a:blip r:embed="rId2"/>
          <a:stretch>
            <a:fillRect/>
          </a:stretch>
        </p:blipFill>
        <p:spPr>
          <a:xfrm>
            <a:off x="1108596" y="674994"/>
            <a:ext cx="6206603" cy="545537"/>
          </a:xfrm>
          <a:prstGeom prst="rect">
            <a:avLst/>
          </a:prstGeom>
        </p:spPr>
      </p:pic>
      <p:pic>
        <p:nvPicPr>
          <p:cNvPr id="3" name="תמונה 2">
            <a:extLst>
              <a:ext uri="{FF2B5EF4-FFF2-40B4-BE49-F238E27FC236}">
                <a16:creationId xmlns:a16="http://schemas.microsoft.com/office/drawing/2014/main" id="{DA3F390F-CCE0-4767-A4BC-949565973225}"/>
              </a:ext>
            </a:extLst>
          </p:cNvPr>
          <p:cNvPicPr>
            <a:picLocks noChangeAspect="1"/>
          </p:cNvPicPr>
          <p:nvPr/>
        </p:nvPicPr>
        <p:blipFill>
          <a:blip r:embed="rId3"/>
          <a:stretch>
            <a:fillRect/>
          </a:stretch>
        </p:blipFill>
        <p:spPr>
          <a:xfrm>
            <a:off x="1108596" y="1440685"/>
            <a:ext cx="6206603" cy="2889847"/>
          </a:xfrm>
          <a:prstGeom prst="rect">
            <a:avLst/>
          </a:prstGeom>
        </p:spPr>
      </p:pic>
      <p:pic>
        <p:nvPicPr>
          <p:cNvPr id="4" name="תמונה 3">
            <a:extLst>
              <a:ext uri="{FF2B5EF4-FFF2-40B4-BE49-F238E27FC236}">
                <a16:creationId xmlns:a16="http://schemas.microsoft.com/office/drawing/2014/main" id="{96138459-DB46-4F63-967F-C799A7D5E718}"/>
              </a:ext>
            </a:extLst>
          </p:cNvPr>
          <p:cNvPicPr>
            <a:picLocks noChangeAspect="1"/>
          </p:cNvPicPr>
          <p:nvPr/>
        </p:nvPicPr>
        <p:blipFill>
          <a:blip r:embed="rId4"/>
          <a:stretch>
            <a:fillRect/>
          </a:stretch>
        </p:blipFill>
        <p:spPr>
          <a:xfrm>
            <a:off x="1108596" y="4507871"/>
            <a:ext cx="6206602" cy="2350129"/>
          </a:xfrm>
          <a:prstGeom prst="rect">
            <a:avLst/>
          </a:prstGeom>
        </p:spPr>
      </p:pic>
    </p:spTree>
    <p:extLst>
      <p:ext uri="{BB962C8B-B14F-4D97-AF65-F5344CB8AC3E}">
        <p14:creationId xmlns:p14="http://schemas.microsoft.com/office/powerpoint/2010/main" val="24575793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לבן 1">
            <a:extLst>
              <a:ext uri="{FF2B5EF4-FFF2-40B4-BE49-F238E27FC236}">
                <a16:creationId xmlns:a16="http://schemas.microsoft.com/office/drawing/2014/main" id="{E805D4D8-F6AD-47A0-AE0B-62EAE32D6875}"/>
              </a:ext>
            </a:extLst>
          </p:cNvPr>
          <p:cNvSpPr/>
          <p:nvPr/>
        </p:nvSpPr>
        <p:spPr>
          <a:xfrm>
            <a:off x="5688926" y="684014"/>
            <a:ext cx="1931747" cy="369332"/>
          </a:xfrm>
          <a:prstGeom prst="rect">
            <a:avLst/>
          </a:prstGeom>
        </p:spPr>
        <p:txBody>
          <a:bodyPr wrap="none">
            <a:spAutoFit/>
          </a:bodyPr>
          <a:lstStyle/>
          <a:p>
            <a:pPr algn="l"/>
            <a:r>
              <a:rPr lang="en-US" dirty="0" err="1">
                <a:solidFill>
                  <a:srgbClr val="000000"/>
                </a:solidFill>
                <a:latin typeface="Segoe UI" panose="020B0502040204020203" pitchFamily="34" charset="0"/>
              </a:rPr>
              <a:t>useContext</a:t>
            </a:r>
            <a:r>
              <a:rPr lang="en-US" dirty="0">
                <a:solidFill>
                  <a:srgbClr val="000000"/>
                </a:solidFill>
                <a:latin typeface="Segoe UI" panose="020B0502040204020203" pitchFamily="34" charset="0"/>
              </a:rPr>
              <a:t> Hook</a:t>
            </a:r>
            <a:endParaRPr lang="en-US" b="0" i="0" dirty="0">
              <a:solidFill>
                <a:srgbClr val="000000"/>
              </a:solidFill>
              <a:effectLst/>
              <a:latin typeface="Segoe UI" panose="020B0502040204020203" pitchFamily="34" charset="0"/>
            </a:endParaRPr>
          </a:p>
        </p:txBody>
      </p:sp>
      <p:sp>
        <p:nvSpPr>
          <p:cNvPr id="3" name="TextBox 2">
            <a:extLst>
              <a:ext uri="{FF2B5EF4-FFF2-40B4-BE49-F238E27FC236}">
                <a16:creationId xmlns:a16="http://schemas.microsoft.com/office/drawing/2014/main" id="{80949368-0907-4003-98FB-5E6CD23CABE6}"/>
              </a:ext>
            </a:extLst>
          </p:cNvPr>
          <p:cNvSpPr txBox="1"/>
          <p:nvPr/>
        </p:nvSpPr>
        <p:spPr>
          <a:xfrm>
            <a:off x="3992880" y="1341120"/>
            <a:ext cx="6908800" cy="2862322"/>
          </a:xfrm>
          <a:prstGeom prst="rect">
            <a:avLst/>
          </a:prstGeom>
          <a:noFill/>
        </p:spPr>
        <p:txBody>
          <a:bodyPr wrap="square" rtlCol="1">
            <a:spAutoFit/>
          </a:bodyPr>
          <a:lstStyle/>
          <a:p>
            <a:r>
              <a:rPr lang="he-IL" dirty="0"/>
              <a:t>הגדרה: דרך לנהל </a:t>
            </a:r>
            <a:r>
              <a:rPr lang="en-US" dirty="0"/>
              <a:t>state</a:t>
            </a:r>
            <a:r>
              <a:rPr lang="he-IL" dirty="0"/>
              <a:t> גלובלי.</a:t>
            </a:r>
          </a:p>
          <a:p>
            <a:endParaRPr lang="he-IL" dirty="0"/>
          </a:p>
          <a:p>
            <a:r>
              <a:rPr lang="he-IL" dirty="0"/>
              <a:t>למה לא </a:t>
            </a:r>
            <a:r>
              <a:rPr lang="en-US" dirty="0"/>
              <a:t>state </a:t>
            </a:r>
            <a:r>
              <a:rPr lang="he-IL" dirty="0"/>
              <a:t> רגיל?</a:t>
            </a:r>
          </a:p>
          <a:p>
            <a:endParaRPr lang="he-IL" dirty="0"/>
          </a:p>
          <a:p>
            <a:r>
              <a:rPr lang="he-IL" dirty="0"/>
              <a:t>כאשר יש לנו </a:t>
            </a:r>
            <a:r>
              <a:rPr lang="en-US" dirty="0"/>
              <a:t>state</a:t>
            </a:r>
            <a:r>
              <a:rPr lang="he-IL" dirty="0"/>
              <a:t> שנמצא באבא ונרצה להעביר אותו לאחד הצאצאים,</a:t>
            </a:r>
          </a:p>
          <a:p>
            <a:r>
              <a:rPr lang="he-IL" dirty="0"/>
              <a:t>נצטרך להעביר את ה</a:t>
            </a:r>
            <a:r>
              <a:rPr lang="en-US" dirty="0"/>
              <a:t>state</a:t>
            </a:r>
            <a:r>
              <a:rPr lang="he-IL" dirty="0"/>
              <a:t> הזה דרך כל הילדים עד שנגיע </a:t>
            </a:r>
            <a:r>
              <a:rPr lang="he-IL" dirty="0" err="1"/>
              <a:t>לקומפוננטה</a:t>
            </a:r>
            <a:r>
              <a:rPr lang="he-IL" dirty="0"/>
              <a:t> הרצויה.</a:t>
            </a:r>
            <a:br>
              <a:rPr lang="en-US" dirty="0"/>
            </a:br>
            <a:endParaRPr lang="en-US" dirty="0"/>
          </a:p>
          <a:p>
            <a:r>
              <a:rPr lang="he-IL" dirty="0"/>
              <a:t>מצב כזה נקרא </a:t>
            </a:r>
            <a:r>
              <a:rPr lang="en-US" dirty="0"/>
              <a:t>prop drilling</a:t>
            </a:r>
            <a:r>
              <a:rPr lang="he-IL" dirty="0"/>
              <a:t> וזה לגמרי לא מצב רצוי.</a:t>
            </a:r>
          </a:p>
          <a:p>
            <a:endParaRPr lang="he-IL" dirty="0"/>
          </a:p>
        </p:txBody>
      </p:sp>
    </p:spTree>
    <p:extLst>
      <p:ext uri="{BB962C8B-B14F-4D97-AF65-F5344CB8AC3E}">
        <p14:creationId xmlns:p14="http://schemas.microsoft.com/office/powerpoint/2010/main" val="38971612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FC4719-E977-48C6-83CA-215FCA42AA0E}"/>
              </a:ext>
            </a:extLst>
          </p:cNvPr>
          <p:cNvSpPr txBox="1"/>
          <p:nvPr/>
        </p:nvSpPr>
        <p:spPr>
          <a:xfrm>
            <a:off x="4378960" y="619760"/>
            <a:ext cx="6725920" cy="1477328"/>
          </a:xfrm>
          <a:prstGeom prst="rect">
            <a:avLst/>
          </a:prstGeom>
          <a:noFill/>
        </p:spPr>
        <p:txBody>
          <a:bodyPr wrap="square" rtlCol="1">
            <a:spAutoFit/>
          </a:bodyPr>
          <a:lstStyle/>
          <a:p>
            <a:r>
              <a:rPr lang="he-IL" dirty="0" err="1"/>
              <a:t>הפיתרון</a:t>
            </a:r>
            <a:r>
              <a:rPr lang="he-IL" dirty="0"/>
              <a:t>: </a:t>
            </a:r>
          </a:p>
          <a:p>
            <a:r>
              <a:rPr lang="he-IL" dirty="0"/>
              <a:t>שימוש ב</a:t>
            </a:r>
            <a:r>
              <a:rPr lang="en-US" dirty="0"/>
              <a:t>state </a:t>
            </a:r>
            <a:r>
              <a:rPr lang="he-IL" dirty="0"/>
              <a:t> גלובלי שמוכר בכל המערכת.</a:t>
            </a:r>
            <a:br>
              <a:rPr lang="en-US" dirty="0"/>
            </a:br>
            <a:br>
              <a:rPr lang="en-US" dirty="0"/>
            </a:br>
            <a:r>
              <a:rPr lang="he-IL" dirty="0"/>
              <a:t>1. נייבא את ה-</a:t>
            </a:r>
            <a:r>
              <a:rPr lang="en-US" dirty="0"/>
              <a:t> </a:t>
            </a:r>
            <a:r>
              <a:rPr lang="en-US" dirty="0" err="1"/>
              <a:t>useContext</a:t>
            </a:r>
            <a:r>
              <a:rPr lang="en-US" dirty="0"/>
              <a:t> </a:t>
            </a:r>
            <a:r>
              <a:rPr lang="he-IL" dirty="0"/>
              <a:t>הוק מספריית </a:t>
            </a:r>
            <a:r>
              <a:rPr lang="en-US" dirty="0"/>
              <a:t>React</a:t>
            </a:r>
            <a:endParaRPr lang="he-IL" dirty="0"/>
          </a:p>
          <a:p>
            <a:endParaRPr lang="he-IL" dirty="0"/>
          </a:p>
        </p:txBody>
      </p:sp>
      <p:sp>
        <p:nvSpPr>
          <p:cNvPr id="4" name="TextBox 3">
            <a:extLst>
              <a:ext uri="{FF2B5EF4-FFF2-40B4-BE49-F238E27FC236}">
                <a16:creationId xmlns:a16="http://schemas.microsoft.com/office/drawing/2014/main" id="{0CACA28B-0E56-4F02-8CEC-86FB347DCBD7}"/>
              </a:ext>
            </a:extLst>
          </p:cNvPr>
          <p:cNvSpPr txBox="1"/>
          <p:nvPr/>
        </p:nvSpPr>
        <p:spPr>
          <a:xfrm>
            <a:off x="5181601" y="2712720"/>
            <a:ext cx="5913120" cy="646331"/>
          </a:xfrm>
          <a:prstGeom prst="rect">
            <a:avLst/>
          </a:prstGeom>
          <a:noFill/>
        </p:spPr>
        <p:txBody>
          <a:bodyPr wrap="square" rtlCol="1">
            <a:spAutoFit/>
          </a:bodyPr>
          <a:lstStyle/>
          <a:p>
            <a:r>
              <a:rPr lang="he-IL" dirty="0"/>
              <a:t>ניצור הקשר באמצעות הפונקציה </a:t>
            </a:r>
            <a:r>
              <a:rPr lang="en-US" dirty="0" err="1"/>
              <a:t>createContext</a:t>
            </a:r>
            <a:r>
              <a:rPr lang="en-US" dirty="0"/>
              <a:t>. </a:t>
            </a:r>
            <a:r>
              <a:rPr lang="he-IL" dirty="0"/>
              <a:t>פעולה זו תחזיר אובייקט המכיל ספק וצרכן:</a:t>
            </a:r>
          </a:p>
        </p:txBody>
      </p:sp>
      <p:pic>
        <p:nvPicPr>
          <p:cNvPr id="5" name="תמונה 4">
            <a:extLst>
              <a:ext uri="{FF2B5EF4-FFF2-40B4-BE49-F238E27FC236}">
                <a16:creationId xmlns:a16="http://schemas.microsoft.com/office/drawing/2014/main" id="{35CAD3A9-E8A3-43DE-A510-0FEF2C69669F}"/>
              </a:ext>
            </a:extLst>
          </p:cNvPr>
          <p:cNvPicPr>
            <a:picLocks noChangeAspect="1"/>
          </p:cNvPicPr>
          <p:nvPr/>
        </p:nvPicPr>
        <p:blipFill>
          <a:blip r:embed="rId2"/>
          <a:stretch>
            <a:fillRect/>
          </a:stretch>
        </p:blipFill>
        <p:spPr>
          <a:xfrm>
            <a:off x="6713265" y="1973561"/>
            <a:ext cx="4381456" cy="474999"/>
          </a:xfrm>
          <a:prstGeom prst="rect">
            <a:avLst/>
          </a:prstGeom>
        </p:spPr>
      </p:pic>
      <p:pic>
        <p:nvPicPr>
          <p:cNvPr id="6" name="תמונה 5">
            <a:extLst>
              <a:ext uri="{FF2B5EF4-FFF2-40B4-BE49-F238E27FC236}">
                <a16:creationId xmlns:a16="http://schemas.microsoft.com/office/drawing/2014/main" id="{B5C61094-0A10-4AE3-A877-1ED41803907B}"/>
              </a:ext>
            </a:extLst>
          </p:cNvPr>
          <p:cNvPicPr>
            <a:picLocks noChangeAspect="1"/>
          </p:cNvPicPr>
          <p:nvPr/>
        </p:nvPicPr>
        <p:blipFill>
          <a:blip r:embed="rId3"/>
          <a:stretch>
            <a:fillRect/>
          </a:stretch>
        </p:blipFill>
        <p:spPr>
          <a:xfrm>
            <a:off x="6892185" y="3807440"/>
            <a:ext cx="4212696" cy="474999"/>
          </a:xfrm>
          <a:prstGeom prst="rect">
            <a:avLst/>
          </a:prstGeom>
        </p:spPr>
      </p:pic>
      <p:sp>
        <p:nvSpPr>
          <p:cNvPr id="8" name="TextBox 7">
            <a:extLst>
              <a:ext uri="{FF2B5EF4-FFF2-40B4-BE49-F238E27FC236}">
                <a16:creationId xmlns:a16="http://schemas.microsoft.com/office/drawing/2014/main" id="{B05D5DF4-EB98-494A-9093-9806BE08FA3A}"/>
              </a:ext>
            </a:extLst>
          </p:cNvPr>
          <p:cNvSpPr txBox="1"/>
          <p:nvPr/>
        </p:nvSpPr>
        <p:spPr>
          <a:xfrm>
            <a:off x="619760" y="4582160"/>
            <a:ext cx="10485120" cy="646331"/>
          </a:xfrm>
          <a:prstGeom prst="rect">
            <a:avLst/>
          </a:prstGeom>
          <a:noFill/>
        </p:spPr>
        <p:txBody>
          <a:bodyPr wrap="square" rtlCol="1">
            <a:spAutoFit/>
          </a:bodyPr>
          <a:lstStyle/>
          <a:p>
            <a:r>
              <a:rPr lang="he-IL" dirty="0"/>
              <a:t>נעטוף את עץ הרכיבים או את החלק הספציפי של העץ שבו נרצה לגשת להקשר עם רכיב הספק. זה יהפוך את הערך שמספק ההקשר לזמין לכל הרכיבים בתוך העץ העטוף:</a:t>
            </a:r>
          </a:p>
        </p:txBody>
      </p:sp>
      <p:pic>
        <p:nvPicPr>
          <p:cNvPr id="9" name="תמונה 8">
            <a:extLst>
              <a:ext uri="{FF2B5EF4-FFF2-40B4-BE49-F238E27FC236}">
                <a16:creationId xmlns:a16="http://schemas.microsoft.com/office/drawing/2014/main" id="{5C1DCC11-D286-434D-A7AB-51DC80F737F1}"/>
              </a:ext>
            </a:extLst>
          </p:cNvPr>
          <p:cNvPicPr>
            <a:picLocks noChangeAspect="1"/>
          </p:cNvPicPr>
          <p:nvPr/>
        </p:nvPicPr>
        <p:blipFill>
          <a:blip r:embed="rId4"/>
          <a:stretch>
            <a:fillRect/>
          </a:stretch>
        </p:blipFill>
        <p:spPr>
          <a:xfrm>
            <a:off x="5506527" y="5582899"/>
            <a:ext cx="5707680" cy="980461"/>
          </a:xfrm>
          <a:prstGeom prst="rect">
            <a:avLst/>
          </a:prstGeom>
        </p:spPr>
      </p:pic>
    </p:spTree>
    <p:extLst>
      <p:ext uri="{BB962C8B-B14F-4D97-AF65-F5344CB8AC3E}">
        <p14:creationId xmlns:p14="http://schemas.microsoft.com/office/powerpoint/2010/main" val="351794812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a:extLst>
              <a:ext uri="{FF2B5EF4-FFF2-40B4-BE49-F238E27FC236}">
                <a16:creationId xmlns:a16="http://schemas.microsoft.com/office/drawing/2014/main" id="{AE4F4BB3-37FE-4BBF-8EB3-82735A465C92}"/>
              </a:ext>
            </a:extLst>
          </p:cNvPr>
          <p:cNvPicPr>
            <a:picLocks noChangeAspect="1"/>
          </p:cNvPicPr>
          <p:nvPr/>
        </p:nvPicPr>
        <p:blipFill>
          <a:blip r:embed="rId2"/>
          <a:stretch>
            <a:fillRect/>
          </a:stretch>
        </p:blipFill>
        <p:spPr>
          <a:xfrm>
            <a:off x="5016106" y="1151848"/>
            <a:ext cx="5463400" cy="2277152"/>
          </a:xfrm>
          <a:prstGeom prst="rect">
            <a:avLst/>
          </a:prstGeom>
        </p:spPr>
      </p:pic>
      <p:sp>
        <p:nvSpPr>
          <p:cNvPr id="3" name="TextBox 2">
            <a:extLst>
              <a:ext uri="{FF2B5EF4-FFF2-40B4-BE49-F238E27FC236}">
                <a16:creationId xmlns:a16="http://schemas.microsoft.com/office/drawing/2014/main" id="{9F61AA37-1F96-420B-9012-2513CEE17023}"/>
              </a:ext>
            </a:extLst>
          </p:cNvPr>
          <p:cNvSpPr txBox="1"/>
          <p:nvPr/>
        </p:nvSpPr>
        <p:spPr>
          <a:xfrm>
            <a:off x="3495040" y="304800"/>
            <a:ext cx="6939280" cy="646331"/>
          </a:xfrm>
          <a:prstGeom prst="rect">
            <a:avLst/>
          </a:prstGeom>
          <a:noFill/>
        </p:spPr>
        <p:txBody>
          <a:bodyPr wrap="square" rtlCol="1">
            <a:spAutoFit/>
          </a:bodyPr>
          <a:lstStyle/>
          <a:p>
            <a:r>
              <a:rPr lang="he-IL" dirty="0"/>
              <a:t>ברכיב שבו נרצה להשתמש בהקשר, נשתמש ב-</a:t>
            </a:r>
            <a:r>
              <a:rPr lang="en-US" dirty="0" err="1"/>
              <a:t>useContext</a:t>
            </a:r>
            <a:r>
              <a:rPr lang="en-US" dirty="0"/>
              <a:t> hook </a:t>
            </a:r>
            <a:r>
              <a:rPr lang="he-IL" dirty="0"/>
              <a:t>כדי לגשת לערך שמספק ההקשר:</a:t>
            </a:r>
          </a:p>
        </p:txBody>
      </p:sp>
    </p:spTree>
    <p:extLst>
      <p:ext uri="{BB962C8B-B14F-4D97-AF65-F5344CB8AC3E}">
        <p14:creationId xmlns:p14="http://schemas.microsoft.com/office/powerpoint/2010/main" val="24407425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a:extLst>
              <a:ext uri="{FF2B5EF4-FFF2-40B4-BE49-F238E27FC236}">
                <a16:creationId xmlns:a16="http://schemas.microsoft.com/office/drawing/2014/main" id="{DB44B6DF-CF20-439D-90D5-5CCA2A4C0A94}"/>
              </a:ext>
            </a:extLst>
          </p:cNvPr>
          <p:cNvPicPr>
            <a:picLocks noChangeAspect="1"/>
          </p:cNvPicPr>
          <p:nvPr/>
        </p:nvPicPr>
        <p:blipFill>
          <a:blip r:embed="rId2"/>
          <a:stretch>
            <a:fillRect/>
          </a:stretch>
        </p:blipFill>
        <p:spPr>
          <a:xfrm>
            <a:off x="979379" y="90104"/>
            <a:ext cx="6116335" cy="1789496"/>
          </a:xfrm>
          <a:prstGeom prst="rect">
            <a:avLst/>
          </a:prstGeom>
        </p:spPr>
      </p:pic>
      <p:pic>
        <p:nvPicPr>
          <p:cNvPr id="3" name="תמונה 2">
            <a:extLst>
              <a:ext uri="{FF2B5EF4-FFF2-40B4-BE49-F238E27FC236}">
                <a16:creationId xmlns:a16="http://schemas.microsoft.com/office/drawing/2014/main" id="{4AB46223-6664-40EF-B6F3-771BAA22BC44}"/>
              </a:ext>
            </a:extLst>
          </p:cNvPr>
          <p:cNvPicPr>
            <a:picLocks noChangeAspect="1"/>
          </p:cNvPicPr>
          <p:nvPr/>
        </p:nvPicPr>
        <p:blipFill>
          <a:blip r:embed="rId3"/>
          <a:stretch>
            <a:fillRect/>
          </a:stretch>
        </p:blipFill>
        <p:spPr>
          <a:xfrm>
            <a:off x="979379" y="1998517"/>
            <a:ext cx="6271798" cy="4859483"/>
          </a:xfrm>
          <a:prstGeom prst="rect">
            <a:avLst/>
          </a:prstGeom>
        </p:spPr>
      </p:pic>
    </p:spTree>
    <p:extLst>
      <p:ext uri="{BB962C8B-B14F-4D97-AF65-F5344CB8AC3E}">
        <p14:creationId xmlns:p14="http://schemas.microsoft.com/office/powerpoint/2010/main" val="32815592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a:extLst>
              <a:ext uri="{FF2B5EF4-FFF2-40B4-BE49-F238E27FC236}">
                <a16:creationId xmlns:a16="http://schemas.microsoft.com/office/drawing/2014/main" id="{51CA8F87-9060-4660-9EB6-2ABE200BA091}"/>
              </a:ext>
            </a:extLst>
          </p:cNvPr>
          <p:cNvPicPr>
            <a:picLocks noChangeAspect="1"/>
          </p:cNvPicPr>
          <p:nvPr/>
        </p:nvPicPr>
        <p:blipFill>
          <a:blip r:embed="rId2"/>
          <a:stretch>
            <a:fillRect/>
          </a:stretch>
        </p:blipFill>
        <p:spPr>
          <a:xfrm>
            <a:off x="1314352" y="805020"/>
            <a:ext cx="5601080" cy="4620420"/>
          </a:xfrm>
          <a:prstGeom prst="rect">
            <a:avLst/>
          </a:prstGeom>
        </p:spPr>
      </p:pic>
    </p:spTree>
    <p:extLst>
      <p:ext uri="{BB962C8B-B14F-4D97-AF65-F5344CB8AC3E}">
        <p14:creationId xmlns:p14="http://schemas.microsoft.com/office/powerpoint/2010/main" val="299641763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a:extLst>
              <a:ext uri="{FF2B5EF4-FFF2-40B4-BE49-F238E27FC236}">
                <a16:creationId xmlns:a16="http://schemas.microsoft.com/office/drawing/2014/main" id="{9D4E6FED-4302-4F2C-8CA3-0DE67A926759}"/>
              </a:ext>
            </a:extLst>
          </p:cNvPr>
          <p:cNvPicPr>
            <a:picLocks noChangeAspect="1"/>
          </p:cNvPicPr>
          <p:nvPr/>
        </p:nvPicPr>
        <p:blipFill>
          <a:blip r:embed="rId2"/>
          <a:stretch>
            <a:fillRect/>
          </a:stretch>
        </p:blipFill>
        <p:spPr>
          <a:xfrm>
            <a:off x="986692" y="400653"/>
            <a:ext cx="5836690" cy="1844707"/>
          </a:xfrm>
          <a:prstGeom prst="rect">
            <a:avLst/>
          </a:prstGeom>
        </p:spPr>
      </p:pic>
      <p:pic>
        <p:nvPicPr>
          <p:cNvPr id="3" name="תמונה 2">
            <a:extLst>
              <a:ext uri="{FF2B5EF4-FFF2-40B4-BE49-F238E27FC236}">
                <a16:creationId xmlns:a16="http://schemas.microsoft.com/office/drawing/2014/main" id="{01C8DE24-2AAF-4C5C-A422-2B154C72ADB2}"/>
              </a:ext>
            </a:extLst>
          </p:cNvPr>
          <p:cNvPicPr>
            <a:picLocks noChangeAspect="1"/>
          </p:cNvPicPr>
          <p:nvPr/>
        </p:nvPicPr>
        <p:blipFill>
          <a:blip r:embed="rId3"/>
          <a:stretch>
            <a:fillRect/>
          </a:stretch>
        </p:blipFill>
        <p:spPr>
          <a:xfrm>
            <a:off x="986692" y="2704074"/>
            <a:ext cx="5883552" cy="3987915"/>
          </a:xfrm>
          <a:prstGeom prst="rect">
            <a:avLst/>
          </a:prstGeom>
        </p:spPr>
      </p:pic>
    </p:spTree>
    <p:extLst>
      <p:ext uri="{BB962C8B-B14F-4D97-AF65-F5344CB8AC3E}">
        <p14:creationId xmlns:p14="http://schemas.microsoft.com/office/powerpoint/2010/main" val="6441843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a:extLst>
              <a:ext uri="{FF2B5EF4-FFF2-40B4-BE49-F238E27FC236}">
                <a16:creationId xmlns:a16="http://schemas.microsoft.com/office/drawing/2014/main" id="{3F17D768-8E06-43D7-9A02-4455A90C1B96}"/>
              </a:ext>
            </a:extLst>
          </p:cNvPr>
          <p:cNvPicPr>
            <a:picLocks noChangeAspect="1"/>
          </p:cNvPicPr>
          <p:nvPr/>
        </p:nvPicPr>
        <p:blipFill>
          <a:blip r:embed="rId2"/>
          <a:stretch>
            <a:fillRect/>
          </a:stretch>
        </p:blipFill>
        <p:spPr>
          <a:xfrm>
            <a:off x="1073027" y="441887"/>
            <a:ext cx="5683373" cy="3394868"/>
          </a:xfrm>
          <a:prstGeom prst="rect">
            <a:avLst/>
          </a:prstGeom>
        </p:spPr>
      </p:pic>
    </p:spTree>
    <p:extLst>
      <p:ext uri="{BB962C8B-B14F-4D97-AF65-F5344CB8AC3E}">
        <p14:creationId xmlns:p14="http://schemas.microsoft.com/office/powerpoint/2010/main" val="175275672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לבן 1">
            <a:extLst>
              <a:ext uri="{FF2B5EF4-FFF2-40B4-BE49-F238E27FC236}">
                <a16:creationId xmlns:a16="http://schemas.microsoft.com/office/drawing/2014/main" id="{64750FF9-C3B8-4A2F-84F3-4041D188F08F}"/>
              </a:ext>
            </a:extLst>
          </p:cNvPr>
          <p:cNvSpPr/>
          <p:nvPr/>
        </p:nvSpPr>
        <p:spPr>
          <a:xfrm>
            <a:off x="8880888" y="592574"/>
            <a:ext cx="1547027" cy="369332"/>
          </a:xfrm>
          <a:prstGeom prst="rect">
            <a:avLst/>
          </a:prstGeom>
        </p:spPr>
        <p:txBody>
          <a:bodyPr wrap="none">
            <a:spAutoFit/>
          </a:bodyPr>
          <a:lstStyle/>
          <a:p>
            <a:pPr algn="l" fontAlgn="base"/>
            <a:r>
              <a:rPr lang="he-IL" b="1" dirty="0">
                <a:latin typeface="-apple-system"/>
              </a:rPr>
              <a:t>מה זה </a:t>
            </a:r>
            <a:r>
              <a:rPr lang="en-US" b="1" dirty="0">
                <a:latin typeface="-apple-system"/>
              </a:rPr>
              <a:t> Redux</a:t>
            </a:r>
            <a:r>
              <a:rPr lang="he-IL" b="1" dirty="0">
                <a:latin typeface="-apple-system"/>
              </a:rPr>
              <a:t> </a:t>
            </a:r>
            <a:endParaRPr lang="en-US" b="1" i="0" dirty="0">
              <a:effectLst/>
              <a:latin typeface="-apple-system"/>
            </a:endParaRPr>
          </a:p>
        </p:txBody>
      </p:sp>
      <p:sp>
        <p:nvSpPr>
          <p:cNvPr id="3" name="TextBox 2">
            <a:extLst>
              <a:ext uri="{FF2B5EF4-FFF2-40B4-BE49-F238E27FC236}">
                <a16:creationId xmlns:a16="http://schemas.microsoft.com/office/drawing/2014/main" id="{3BBB19D8-5704-4750-A6D1-3B69BFE58207}"/>
              </a:ext>
            </a:extLst>
          </p:cNvPr>
          <p:cNvSpPr txBox="1"/>
          <p:nvPr/>
        </p:nvSpPr>
        <p:spPr>
          <a:xfrm>
            <a:off x="4084320" y="1503680"/>
            <a:ext cx="6502400" cy="3416320"/>
          </a:xfrm>
          <a:prstGeom prst="rect">
            <a:avLst/>
          </a:prstGeom>
          <a:noFill/>
        </p:spPr>
        <p:txBody>
          <a:bodyPr wrap="square" rtlCol="1">
            <a:spAutoFit/>
          </a:bodyPr>
          <a:lstStyle/>
          <a:p>
            <a:r>
              <a:rPr lang="en-US" dirty="0"/>
              <a:t>Redux </a:t>
            </a:r>
            <a:r>
              <a:rPr lang="he-IL" dirty="0"/>
              <a:t> זה ספריית </a:t>
            </a:r>
            <a:r>
              <a:rPr lang="en-US" dirty="0"/>
              <a:t>state management </a:t>
            </a:r>
            <a:r>
              <a:rPr lang="he-IL" dirty="0"/>
              <a:t> שעוזרת לנהל את ה</a:t>
            </a:r>
            <a:r>
              <a:rPr lang="en-US" dirty="0"/>
              <a:t>state</a:t>
            </a:r>
            <a:r>
              <a:rPr lang="he-IL" dirty="0"/>
              <a:t> שלנו בצורה יותר טובה ומסודרת.</a:t>
            </a:r>
          </a:p>
          <a:p>
            <a:endParaRPr lang="he-IL" dirty="0"/>
          </a:p>
          <a:p>
            <a:r>
              <a:rPr lang="he-IL" dirty="0"/>
              <a:t>ספריית </a:t>
            </a:r>
            <a:r>
              <a:rPr lang="en-US" dirty="0"/>
              <a:t> Redux </a:t>
            </a:r>
            <a:r>
              <a:rPr lang="he-IL" dirty="0"/>
              <a:t>אינה ספציפית ל-</a:t>
            </a:r>
            <a:r>
              <a:rPr lang="en-US" dirty="0"/>
              <a:t> React </a:t>
            </a:r>
            <a:r>
              <a:rPr lang="he-IL" dirty="0"/>
              <a:t>זוהי ספרייה שתוכל להשתמש בה בכל ספרייה או מסגרת אחרת כמו </a:t>
            </a:r>
            <a:r>
              <a:rPr lang="en-US" dirty="0"/>
              <a:t> Angular, Vue </a:t>
            </a:r>
            <a:r>
              <a:rPr lang="he-IL" dirty="0"/>
              <a:t>ואפילו </a:t>
            </a:r>
            <a:r>
              <a:rPr lang="en-US" dirty="0"/>
              <a:t>JavaScript</a:t>
            </a:r>
          </a:p>
          <a:p>
            <a:endParaRPr lang="en-US" dirty="0"/>
          </a:p>
          <a:p>
            <a:r>
              <a:rPr lang="he-IL" dirty="0"/>
              <a:t>אבל מפתחים משתמשים בעיקר ב- </a:t>
            </a:r>
            <a:r>
              <a:rPr lang="en-US" dirty="0"/>
              <a:t> Redux </a:t>
            </a:r>
            <a:r>
              <a:rPr lang="he-IL" dirty="0"/>
              <a:t>כשעובדים עם </a:t>
            </a:r>
            <a:r>
              <a:rPr lang="en-US" dirty="0"/>
              <a:t>React </a:t>
            </a:r>
            <a:endParaRPr lang="he-IL" dirty="0"/>
          </a:p>
          <a:p>
            <a:endParaRPr lang="he-IL" dirty="0"/>
          </a:p>
          <a:p>
            <a:r>
              <a:rPr lang="en-US" dirty="0"/>
              <a:t>Redux</a:t>
            </a:r>
            <a:r>
              <a:rPr lang="he-IL" dirty="0"/>
              <a:t> מספקת 'חנות' אחת שנוכל להשתמש בה כדי לנהל כמות גדולה של נתונים.</a:t>
            </a:r>
          </a:p>
          <a:p>
            <a:endParaRPr lang="he-IL" dirty="0"/>
          </a:p>
          <a:p>
            <a:endParaRPr lang="he-IL" dirty="0"/>
          </a:p>
        </p:txBody>
      </p:sp>
    </p:spTree>
    <p:extLst>
      <p:ext uri="{BB962C8B-B14F-4D97-AF65-F5344CB8AC3E}">
        <p14:creationId xmlns:p14="http://schemas.microsoft.com/office/powerpoint/2010/main" val="308268373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a:extLst>
              <a:ext uri="{FF2B5EF4-FFF2-40B4-BE49-F238E27FC236}">
                <a16:creationId xmlns:a16="http://schemas.microsoft.com/office/drawing/2014/main" id="{7447BEAD-F453-41A1-A14C-E5978C07614C}"/>
              </a:ext>
            </a:extLst>
          </p:cNvPr>
          <p:cNvPicPr>
            <a:picLocks noChangeAspect="1"/>
          </p:cNvPicPr>
          <p:nvPr/>
        </p:nvPicPr>
        <p:blipFill>
          <a:blip r:embed="rId2"/>
          <a:stretch>
            <a:fillRect/>
          </a:stretch>
        </p:blipFill>
        <p:spPr>
          <a:xfrm>
            <a:off x="2235200" y="738134"/>
            <a:ext cx="5274487" cy="5381731"/>
          </a:xfrm>
          <a:prstGeom prst="rect">
            <a:avLst/>
          </a:prstGeom>
        </p:spPr>
      </p:pic>
      <p:sp>
        <p:nvSpPr>
          <p:cNvPr id="3" name="TextBox 2">
            <a:extLst>
              <a:ext uri="{FF2B5EF4-FFF2-40B4-BE49-F238E27FC236}">
                <a16:creationId xmlns:a16="http://schemas.microsoft.com/office/drawing/2014/main" id="{8860E4F1-FFF7-4810-BE25-226E2257324F}"/>
              </a:ext>
            </a:extLst>
          </p:cNvPr>
          <p:cNvSpPr txBox="1"/>
          <p:nvPr/>
        </p:nvSpPr>
        <p:spPr>
          <a:xfrm>
            <a:off x="8143240" y="1158240"/>
            <a:ext cx="3627120" cy="2585323"/>
          </a:xfrm>
          <a:prstGeom prst="rect">
            <a:avLst/>
          </a:prstGeom>
          <a:noFill/>
        </p:spPr>
        <p:txBody>
          <a:bodyPr wrap="square" rtlCol="1">
            <a:spAutoFit/>
          </a:bodyPr>
          <a:lstStyle/>
          <a:p>
            <a:r>
              <a:rPr lang="he-IL" dirty="0"/>
              <a:t>לפעמים במערכת יש צורך שכמה </a:t>
            </a:r>
            <a:r>
              <a:rPr lang="he-IL" dirty="0" err="1"/>
              <a:t>קומפוננטות</a:t>
            </a:r>
            <a:r>
              <a:rPr lang="he-IL" dirty="0"/>
              <a:t> שאין ביניהן שום קשר,  יקבלו את אותו </a:t>
            </a:r>
            <a:r>
              <a:rPr lang="en-US" dirty="0"/>
              <a:t>state</a:t>
            </a:r>
            <a:endParaRPr lang="he-IL" dirty="0"/>
          </a:p>
          <a:p>
            <a:r>
              <a:rPr lang="he-IL" dirty="0"/>
              <a:t>בצורת כתיבה הרגילה, אין כזאת אפשרות.</a:t>
            </a:r>
          </a:p>
          <a:p>
            <a:r>
              <a:rPr lang="he-IL" dirty="0"/>
              <a:t>בשביל לגשת ל2 </a:t>
            </a:r>
            <a:r>
              <a:rPr lang="he-IL" dirty="0" err="1"/>
              <a:t>קומפוננטות</a:t>
            </a:r>
            <a:r>
              <a:rPr lang="he-IL" dirty="0"/>
              <a:t> שונות- נצטרך לחפש אבא משותף.</a:t>
            </a:r>
          </a:p>
          <a:p>
            <a:endParaRPr lang="he-IL" dirty="0"/>
          </a:p>
          <a:p>
            <a:endParaRPr lang="he-IL" dirty="0"/>
          </a:p>
        </p:txBody>
      </p:sp>
    </p:spTree>
    <p:extLst>
      <p:ext uri="{BB962C8B-B14F-4D97-AF65-F5344CB8AC3E}">
        <p14:creationId xmlns:p14="http://schemas.microsoft.com/office/powerpoint/2010/main" val="416576690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a:extLst>
              <a:ext uri="{FF2B5EF4-FFF2-40B4-BE49-F238E27FC236}">
                <a16:creationId xmlns:a16="http://schemas.microsoft.com/office/drawing/2014/main" id="{79438FE4-333F-452F-A61E-CEF4F8FC7066}"/>
              </a:ext>
            </a:extLst>
          </p:cNvPr>
          <p:cNvPicPr>
            <a:picLocks noChangeAspect="1"/>
          </p:cNvPicPr>
          <p:nvPr/>
        </p:nvPicPr>
        <p:blipFill>
          <a:blip r:embed="rId2"/>
          <a:stretch>
            <a:fillRect/>
          </a:stretch>
        </p:blipFill>
        <p:spPr>
          <a:xfrm>
            <a:off x="1087121" y="591098"/>
            <a:ext cx="6606650" cy="5169997"/>
          </a:xfrm>
          <a:prstGeom prst="rect">
            <a:avLst/>
          </a:prstGeom>
        </p:spPr>
      </p:pic>
      <p:sp>
        <p:nvSpPr>
          <p:cNvPr id="3" name="TextBox 2">
            <a:extLst>
              <a:ext uri="{FF2B5EF4-FFF2-40B4-BE49-F238E27FC236}">
                <a16:creationId xmlns:a16="http://schemas.microsoft.com/office/drawing/2014/main" id="{7F54D754-19D4-4146-8C67-B107EC6D82B9}"/>
              </a:ext>
            </a:extLst>
          </p:cNvPr>
          <p:cNvSpPr txBox="1"/>
          <p:nvPr/>
        </p:nvSpPr>
        <p:spPr>
          <a:xfrm>
            <a:off x="8188960" y="599440"/>
            <a:ext cx="3789680" cy="2585323"/>
          </a:xfrm>
          <a:prstGeom prst="rect">
            <a:avLst/>
          </a:prstGeom>
          <a:noFill/>
        </p:spPr>
        <p:txBody>
          <a:bodyPr wrap="square" rtlCol="1">
            <a:spAutoFit/>
          </a:bodyPr>
          <a:lstStyle/>
          <a:p>
            <a:r>
              <a:rPr lang="he-IL" dirty="0"/>
              <a:t>בשביל המצב הזה – </a:t>
            </a:r>
            <a:r>
              <a:rPr lang="he-IL" dirty="0" err="1"/>
              <a:t>ריאקט</a:t>
            </a:r>
            <a:r>
              <a:rPr lang="he-IL" dirty="0"/>
              <a:t> יצרה לנו אפשרות לנהל </a:t>
            </a:r>
            <a:r>
              <a:rPr lang="en-US" dirty="0"/>
              <a:t>state </a:t>
            </a:r>
            <a:r>
              <a:rPr lang="he-IL" dirty="0"/>
              <a:t>ברמת האפליקציה.</a:t>
            </a:r>
          </a:p>
          <a:p>
            <a:endParaRPr lang="he-IL" dirty="0"/>
          </a:p>
          <a:p>
            <a:r>
              <a:rPr lang="he-IL" dirty="0"/>
              <a:t>כלומר, ה</a:t>
            </a:r>
            <a:r>
              <a:rPr lang="en-US" dirty="0"/>
              <a:t>state</a:t>
            </a:r>
            <a:r>
              <a:rPr lang="he-IL" dirty="0"/>
              <a:t> יהיה מוכר בכל </a:t>
            </a:r>
            <a:r>
              <a:rPr lang="he-IL" dirty="0" err="1"/>
              <a:t>הקומפננטות</a:t>
            </a:r>
            <a:r>
              <a:rPr lang="he-IL" dirty="0"/>
              <a:t> ולא רק </a:t>
            </a:r>
            <a:r>
              <a:rPr lang="he-IL" dirty="0" err="1"/>
              <a:t>בקומפוננטה</a:t>
            </a:r>
            <a:r>
              <a:rPr lang="he-IL" dirty="0"/>
              <a:t> אחת או ביחידה מצומצמת של </a:t>
            </a:r>
            <a:r>
              <a:rPr lang="he-IL" dirty="0" err="1"/>
              <a:t>קומפוננטות</a:t>
            </a:r>
            <a:r>
              <a:rPr lang="he-IL" dirty="0"/>
              <a:t> שיורשות את אותו אבא.</a:t>
            </a:r>
          </a:p>
          <a:p>
            <a:endParaRPr lang="he-IL" dirty="0"/>
          </a:p>
          <a:p>
            <a:endParaRPr lang="he-IL" dirty="0"/>
          </a:p>
        </p:txBody>
      </p:sp>
    </p:spTree>
    <p:extLst>
      <p:ext uri="{BB962C8B-B14F-4D97-AF65-F5344CB8AC3E}">
        <p14:creationId xmlns:p14="http://schemas.microsoft.com/office/powerpoint/2010/main" val="57237946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5821980E-2955-4175-B931-FF8C0CFF570B}"/>
              </a:ext>
            </a:extLst>
          </p:cNvPr>
          <p:cNvPicPr>
            <a:picLocks noChangeAspect="1"/>
          </p:cNvPicPr>
          <p:nvPr/>
        </p:nvPicPr>
        <p:blipFill>
          <a:blip r:embed="rId2"/>
          <a:stretch>
            <a:fillRect/>
          </a:stretch>
        </p:blipFill>
        <p:spPr>
          <a:xfrm>
            <a:off x="2497845" y="1297841"/>
            <a:ext cx="7939188" cy="4523839"/>
          </a:xfrm>
          <a:prstGeom prst="rect">
            <a:avLst/>
          </a:prstGeom>
        </p:spPr>
      </p:pic>
      <p:sp>
        <p:nvSpPr>
          <p:cNvPr id="2" name="TextBox 1">
            <a:extLst>
              <a:ext uri="{FF2B5EF4-FFF2-40B4-BE49-F238E27FC236}">
                <a16:creationId xmlns:a16="http://schemas.microsoft.com/office/drawing/2014/main" id="{D53F9884-7244-4204-90F5-42E22CC79E08}"/>
              </a:ext>
            </a:extLst>
          </p:cNvPr>
          <p:cNvSpPr txBox="1"/>
          <p:nvPr/>
        </p:nvSpPr>
        <p:spPr>
          <a:xfrm>
            <a:off x="4358640" y="335280"/>
            <a:ext cx="6177280" cy="461665"/>
          </a:xfrm>
          <a:prstGeom prst="rect">
            <a:avLst/>
          </a:prstGeom>
          <a:noFill/>
        </p:spPr>
        <p:txBody>
          <a:bodyPr wrap="square" rtlCol="1">
            <a:spAutoFit/>
          </a:bodyPr>
          <a:lstStyle/>
          <a:p>
            <a:r>
              <a:rPr lang="en-US" sz="2400" b="1" dirty="0" err="1"/>
              <a:t>lifeSycle</a:t>
            </a:r>
            <a:r>
              <a:rPr lang="en-US" sz="2400" b="1" dirty="0"/>
              <a:t> </a:t>
            </a:r>
            <a:r>
              <a:rPr lang="he-IL" sz="2400" b="1" dirty="0"/>
              <a:t> של </a:t>
            </a:r>
            <a:r>
              <a:rPr lang="en-US" sz="2400" b="1" dirty="0"/>
              <a:t>redux</a:t>
            </a:r>
            <a:endParaRPr lang="he-IL" sz="2400" b="1" dirty="0"/>
          </a:p>
        </p:txBody>
      </p:sp>
    </p:spTree>
    <p:extLst>
      <p:ext uri="{BB962C8B-B14F-4D97-AF65-F5344CB8AC3E}">
        <p14:creationId xmlns:p14="http://schemas.microsoft.com/office/powerpoint/2010/main" val="417349982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757FB406-8AE0-4175-9D3C-686DC4C672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spTree>
    <p:extLst>
      <p:ext uri="{BB962C8B-B14F-4D97-AF65-F5344CB8AC3E}">
        <p14:creationId xmlns:p14="http://schemas.microsoft.com/office/powerpoint/2010/main" val="158750948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a:extLst>
              <a:ext uri="{FF2B5EF4-FFF2-40B4-BE49-F238E27FC236}">
                <a16:creationId xmlns:a16="http://schemas.microsoft.com/office/drawing/2014/main" id="{1351B17E-CE5D-4B02-9AA9-393439197CDE}"/>
              </a:ext>
            </a:extLst>
          </p:cNvPr>
          <p:cNvPicPr>
            <a:picLocks noChangeAspect="1"/>
          </p:cNvPicPr>
          <p:nvPr/>
        </p:nvPicPr>
        <p:blipFill>
          <a:blip r:embed="rId2"/>
          <a:stretch>
            <a:fillRect/>
          </a:stretch>
        </p:blipFill>
        <p:spPr>
          <a:xfrm>
            <a:off x="3654028" y="675566"/>
            <a:ext cx="6101570" cy="4820993"/>
          </a:xfrm>
          <a:prstGeom prst="rect">
            <a:avLst/>
          </a:prstGeom>
        </p:spPr>
      </p:pic>
      <p:sp>
        <p:nvSpPr>
          <p:cNvPr id="3" name="TextBox 2">
            <a:extLst>
              <a:ext uri="{FF2B5EF4-FFF2-40B4-BE49-F238E27FC236}">
                <a16:creationId xmlns:a16="http://schemas.microsoft.com/office/drawing/2014/main" id="{22B2546B-E9CE-4B45-973C-5A9678AE136A}"/>
              </a:ext>
            </a:extLst>
          </p:cNvPr>
          <p:cNvSpPr txBox="1"/>
          <p:nvPr/>
        </p:nvSpPr>
        <p:spPr>
          <a:xfrm>
            <a:off x="1056640" y="992109"/>
            <a:ext cx="4693920" cy="369332"/>
          </a:xfrm>
          <a:prstGeom prst="rect">
            <a:avLst/>
          </a:prstGeom>
          <a:noFill/>
        </p:spPr>
        <p:txBody>
          <a:bodyPr wrap="square" rtlCol="1">
            <a:spAutoFit/>
          </a:bodyPr>
          <a:lstStyle/>
          <a:p>
            <a:r>
              <a:rPr lang="en-US" dirty="0"/>
              <a:t>store</a:t>
            </a:r>
            <a:endParaRPr lang="he-IL" dirty="0"/>
          </a:p>
        </p:txBody>
      </p:sp>
    </p:spTree>
    <p:extLst>
      <p:ext uri="{BB962C8B-B14F-4D97-AF65-F5344CB8AC3E}">
        <p14:creationId xmlns:p14="http://schemas.microsoft.com/office/powerpoint/2010/main" val="17866587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997558A-0156-4082-AE04-A9F955C83D4B}"/>
              </a:ext>
            </a:extLst>
          </p:cNvPr>
          <p:cNvSpPr txBox="1"/>
          <p:nvPr/>
        </p:nvSpPr>
        <p:spPr>
          <a:xfrm>
            <a:off x="5069840" y="396240"/>
            <a:ext cx="6035040" cy="5355312"/>
          </a:xfrm>
          <a:prstGeom prst="rect">
            <a:avLst/>
          </a:prstGeom>
          <a:noFill/>
        </p:spPr>
        <p:txBody>
          <a:bodyPr wrap="square" rtlCol="1">
            <a:spAutoFit/>
          </a:bodyPr>
          <a:lstStyle/>
          <a:p>
            <a:r>
              <a:rPr lang="he-IL" dirty="0"/>
              <a:t>התקנות:</a:t>
            </a:r>
            <a:br>
              <a:rPr lang="en-US" dirty="0"/>
            </a:br>
            <a:r>
              <a:rPr lang="en-US" dirty="0"/>
              <a:t>redux </a:t>
            </a:r>
            <a:r>
              <a:rPr lang="he-IL" dirty="0"/>
              <a:t> זו ספרייה חיצונית ולכן היא דורשת התקנה.</a:t>
            </a:r>
            <a:br>
              <a:rPr lang="en-US" dirty="0"/>
            </a:br>
            <a:r>
              <a:rPr lang="en-US" dirty="0" err="1"/>
              <a:t>npm</a:t>
            </a:r>
            <a:r>
              <a:rPr lang="en-US" dirty="0"/>
              <a:t> install redux</a:t>
            </a:r>
            <a:endParaRPr lang="he-IL" dirty="0"/>
          </a:p>
          <a:p>
            <a:r>
              <a:rPr lang="en-US" dirty="0" err="1"/>
              <a:t>npm</a:t>
            </a:r>
            <a:r>
              <a:rPr lang="en-US" dirty="0"/>
              <a:t> install react-redux</a:t>
            </a:r>
            <a:endParaRPr lang="he-IL" dirty="0"/>
          </a:p>
          <a:p>
            <a:endParaRPr lang="he-IL" dirty="0"/>
          </a:p>
          <a:p>
            <a:endParaRPr lang="he-IL" dirty="0"/>
          </a:p>
          <a:p>
            <a:r>
              <a:rPr lang="he-IL" dirty="0"/>
              <a:t>את כל החלק הטכני והלוגי נשים בתוך תיקיית </a:t>
            </a:r>
            <a:r>
              <a:rPr lang="en-US" dirty="0"/>
              <a:t>store</a:t>
            </a:r>
            <a:br>
              <a:rPr lang="en-US" dirty="0"/>
            </a:br>
            <a:r>
              <a:rPr lang="he-IL" dirty="0"/>
              <a:t>בתוך התיקייה ניצור תיקייה נוספת בשם </a:t>
            </a:r>
            <a:r>
              <a:rPr lang="en-US" dirty="0"/>
              <a:t>reducer</a:t>
            </a:r>
            <a:endParaRPr lang="he-IL" dirty="0"/>
          </a:p>
          <a:p>
            <a:r>
              <a:rPr lang="he-IL" dirty="0"/>
              <a:t>שם נשים את כל הפעולות שנרצה לבצע על ה</a:t>
            </a:r>
            <a:r>
              <a:rPr lang="en-US" dirty="0"/>
              <a:t>state</a:t>
            </a:r>
            <a:endParaRPr lang="he-IL" dirty="0"/>
          </a:p>
          <a:p>
            <a:endParaRPr lang="he-IL" dirty="0"/>
          </a:p>
          <a:p>
            <a:r>
              <a:rPr lang="he-IL" dirty="0"/>
              <a:t>הקובץ </a:t>
            </a:r>
            <a:r>
              <a:rPr lang="en-US" dirty="0"/>
              <a:t>index</a:t>
            </a:r>
            <a:r>
              <a:rPr lang="he-IL" dirty="0"/>
              <a:t>- בתוכו נעשה איחוד לכל הפעולות על ה</a:t>
            </a:r>
            <a:r>
              <a:rPr lang="en-US" dirty="0"/>
              <a:t>state</a:t>
            </a:r>
            <a:endParaRPr lang="he-IL" dirty="0"/>
          </a:p>
          <a:p>
            <a:r>
              <a:rPr lang="he-IL" dirty="0"/>
              <a:t>ונכין אותם לקובץ </a:t>
            </a:r>
            <a:r>
              <a:rPr lang="en-US" dirty="0"/>
              <a:t>store</a:t>
            </a:r>
            <a:r>
              <a:rPr lang="he-IL" dirty="0"/>
              <a:t>.</a:t>
            </a:r>
          </a:p>
          <a:p>
            <a:endParaRPr lang="he-IL" dirty="0"/>
          </a:p>
          <a:p>
            <a:r>
              <a:rPr lang="he-IL" dirty="0"/>
              <a:t>הקובץ </a:t>
            </a:r>
            <a:r>
              <a:rPr lang="en-US" dirty="0"/>
              <a:t>store</a:t>
            </a:r>
            <a:r>
              <a:rPr lang="he-IL" dirty="0"/>
              <a:t> – הוא הקובץ שמכיל את כל הפעולות </a:t>
            </a:r>
            <a:r>
              <a:rPr lang="he-IL" dirty="0" err="1"/>
              <a:t>וה</a:t>
            </a:r>
            <a:r>
              <a:rPr lang="en-US" dirty="0"/>
              <a:t>state</a:t>
            </a:r>
            <a:r>
              <a:rPr lang="he-IL" dirty="0"/>
              <a:t> שנרצה לעשות בצורה גלובלית.</a:t>
            </a:r>
          </a:p>
          <a:p>
            <a:endParaRPr lang="he-IL" dirty="0"/>
          </a:p>
          <a:p>
            <a:r>
              <a:rPr lang="he-IL" dirty="0"/>
              <a:t>בתוך התיקייה </a:t>
            </a:r>
            <a:r>
              <a:rPr lang="en-US" dirty="0"/>
              <a:t>actions</a:t>
            </a:r>
            <a:r>
              <a:rPr lang="he-IL" dirty="0"/>
              <a:t> – שם נשים את כל הגדרות ה</a:t>
            </a:r>
            <a:r>
              <a:rPr lang="en-US" dirty="0"/>
              <a:t>dispatch</a:t>
            </a:r>
            <a:endParaRPr lang="he-IL" dirty="0"/>
          </a:p>
          <a:p>
            <a:endParaRPr lang="he-IL" dirty="0"/>
          </a:p>
          <a:p>
            <a:endParaRPr lang="he-IL" dirty="0"/>
          </a:p>
        </p:txBody>
      </p:sp>
    </p:spTree>
    <p:extLst>
      <p:ext uri="{BB962C8B-B14F-4D97-AF65-F5344CB8AC3E}">
        <p14:creationId xmlns:p14="http://schemas.microsoft.com/office/powerpoint/2010/main" val="222345916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a:extLst>
              <a:ext uri="{FF2B5EF4-FFF2-40B4-BE49-F238E27FC236}">
                <a16:creationId xmlns:a16="http://schemas.microsoft.com/office/drawing/2014/main" id="{1E566069-86C7-4B6F-A530-9191E7B89DE2}"/>
              </a:ext>
            </a:extLst>
          </p:cNvPr>
          <p:cNvPicPr>
            <a:picLocks noChangeAspect="1"/>
          </p:cNvPicPr>
          <p:nvPr/>
        </p:nvPicPr>
        <p:blipFill>
          <a:blip r:embed="rId2"/>
          <a:stretch>
            <a:fillRect/>
          </a:stretch>
        </p:blipFill>
        <p:spPr>
          <a:xfrm>
            <a:off x="342766" y="111017"/>
            <a:ext cx="5753234" cy="4637668"/>
          </a:xfrm>
          <a:prstGeom prst="rect">
            <a:avLst/>
          </a:prstGeom>
        </p:spPr>
      </p:pic>
      <p:pic>
        <p:nvPicPr>
          <p:cNvPr id="3" name="תמונה 2">
            <a:extLst>
              <a:ext uri="{FF2B5EF4-FFF2-40B4-BE49-F238E27FC236}">
                <a16:creationId xmlns:a16="http://schemas.microsoft.com/office/drawing/2014/main" id="{6F1E420B-F47D-46B0-A01F-F1456F7D6F78}"/>
              </a:ext>
            </a:extLst>
          </p:cNvPr>
          <p:cNvPicPr>
            <a:picLocks noChangeAspect="1"/>
          </p:cNvPicPr>
          <p:nvPr/>
        </p:nvPicPr>
        <p:blipFill>
          <a:blip r:embed="rId3"/>
          <a:stretch>
            <a:fillRect/>
          </a:stretch>
        </p:blipFill>
        <p:spPr>
          <a:xfrm>
            <a:off x="342766" y="4748685"/>
            <a:ext cx="5753234" cy="1682836"/>
          </a:xfrm>
          <a:prstGeom prst="rect">
            <a:avLst/>
          </a:prstGeom>
        </p:spPr>
      </p:pic>
      <p:sp>
        <p:nvSpPr>
          <p:cNvPr id="4" name="TextBox 3">
            <a:extLst>
              <a:ext uri="{FF2B5EF4-FFF2-40B4-BE49-F238E27FC236}">
                <a16:creationId xmlns:a16="http://schemas.microsoft.com/office/drawing/2014/main" id="{B3756A64-8548-4817-BD80-BAFEDA814914}"/>
              </a:ext>
            </a:extLst>
          </p:cNvPr>
          <p:cNvSpPr txBox="1"/>
          <p:nvPr/>
        </p:nvSpPr>
        <p:spPr>
          <a:xfrm>
            <a:off x="6593840" y="386080"/>
            <a:ext cx="5242560" cy="2308324"/>
          </a:xfrm>
          <a:prstGeom prst="rect">
            <a:avLst/>
          </a:prstGeom>
          <a:noFill/>
        </p:spPr>
        <p:txBody>
          <a:bodyPr wrap="square" rtlCol="1">
            <a:spAutoFit/>
          </a:bodyPr>
          <a:lstStyle/>
          <a:p>
            <a:r>
              <a:rPr lang="he-IL" dirty="0"/>
              <a:t>בתוך ה</a:t>
            </a:r>
            <a:r>
              <a:rPr lang="en-US" dirty="0"/>
              <a:t>reducer </a:t>
            </a:r>
            <a:r>
              <a:rPr lang="he-IL" dirty="0"/>
              <a:t>הזה הגדרנו משתנה</a:t>
            </a:r>
          </a:p>
          <a:p>
            <a:endParaRPr lang="he-IL" dirty="0"/>
          </a:p>
          <a:p>
            <a:r>
              <a:rPr lang="he-IL" dirty="0"/>
              <a:t>וכשנרצה לעדכן את המשתנה-</a:t>
            </a:r>
          </a:p>
          <a:p>
            <a:endParaRPr lang="he-IL" dirty="0"/>
          </a:p>
          <a:p>
            <a:r>
              <a:rPr lang="he-IL" dirty="0"/>
              <a:t>ניצור עוד פעולה בתוך ה</a:t>
            </a:r>
            <a:r>
              <a:rPr lang="en-US" dirty="0"/>
              <a:t>reducer </a:t>
            </a:r>
            <a:r>
              <a:rPr lang="he-IL" dirty="0"/>
              <a:t> הזה.</a:t>
            </a:r>
          </a:p>
          <a:p>
            <a:endParaRPr lang="he-IL" dirty="0"/>
          </a:p>
          <a:p>
            <a:r>
              <a:rPr lang="he-IL" dirty="0"/>
              <a:t>כל </a:t>
            </a:r>
            <a:r>
              <a:rPr lang="en-US" dirty="0"/>
              <a:t>state</a:t>
            </a:r>
            <a:r>
              <a:rPr lang="he-IL" dirty="0"/>
              <a:t> יהיה בתוך </a:t>
            </a:r>
            <a:r>
              <a:rPr lang="en-US" dirty="0"/>
              <a:t>reducer </a:t>
            </a:r>
            <a:r>
              <a:rPr lang="he-IL" dirty="0"/>
              <a:t>חדש.</a:t>
            </a:r>
          </a:p>
          <a:p>
            <a:endParaRPr lang="he-IL" dirty="0"/>
          </a:p>
        </p:txBody>
      </p:sp>
    </p:spTree>
    <p:extLst>
      <p:ext uri="{BB962C8B-B14F-4D97-AF65-F5344CB8AC3E}">
        <p14:creationId xmlns:p14="http://schemas.microsoft.com/office/powerpoint/2010/main" val="321398673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a:extLst>
              <a:ext uri="{FF2B5EF4-FFF2-40B4-BE49-F238E27FC236}">
                <a16:creationId xmlns:a16="http://schemas.microsoft.com/office/drawing/2014/main" id="{568D2B47-31F1-490E-A3FD-D15B88CA7E0C}"/>
              </a:ext>
            </a:extLst>
          </p:cNvPr>
          <p:cNvPicPr>
            <a:picLocks noChangeAspect="1"/>
          </p:cNvPicPr>
          <p:nvPr/>
        </p:nvPicPr>
        <p:blipFill>
          <a:blip r:embed="rId2"/>
          <a:stretch>
            <a:fillRect/>
          </a:stretch>
        </p:blipFill>
        <p:spPr>
          <a:xfrm>
            <a:off x="625361" y="948560"/>
            <a:ext cx="6415586" cy="3643760"/>
          </a:xfrm>
          <a:prstGeom prst="rect">
            <a:avLst/>
          </a:prstGeom>
        </p:spPr>
      </p:pic>
      <p:sp>
        <p:nvSpPr>
          <p:cNvPr id="3" name="TextBox 2">
            <a:extLst>
              <a:ext uri="{FF2B5EF4-FFF2-40B4-BE49-F238E27FC236}">
                <a16:creationId xmlns:a16="http://schemas.microsoft.com/office/drawing/2014/main" id="{7885F3C1-A116-4BBE-A619-5139F42E13DD}"/>
              </a:ext>
            </a:extLst>
          </p:cNvPr>
          <p:cNvSpPr txBox="1"/>
          <p:nvPr/>
        </p:nvSpPr>
        <p:spPr>
          <a:xfrm>
            <a:off x="7721600" y="948560"/>
            <a:ext cx="4023360" cy="1754326"/>
          </a:xfrm>
          <a:prstGeom prst="rect">
            <a:avLst/>
          </a:prstGeom>
          <a:noFill/>
        </p:spPr>
        <p:txBody>
          <a:bodyPr wrap="square" rtlCol="1">
            <a:spAutoFit/>
          </a:bodyPr>
          <a:lstStyle/>
          <a:p>
            <a:r>
              <a:rPr lang="he-IL" dirty="0"/>
              <a:t>אחרי שיצרנו את ה</a:t>
            </a:r>
            <a:r>
              <a:rPr lang="en-US" dirty="0"/>
              <a:t>reducer</a:t>
            </a:r>
            <a:r>
              <a:rPr lang="he-IL" dirty="0"/>
              <a:t> אנחנו נצהיר עליו בקובץ ה</a:t>
            </a:r>
            <a:r>
              <a:rPr lang="en-US" dirty="0"/>
              <a:t>index</a:t>
            </a:r>
            <a:r>
              <a:rPr lang="he-IL" dirty="0"/>
              <a:t>.</a:t>
            </a:r>
          </a:p>
          <a:p>
            <a:endParaRPr lang="he-IL" dirty="0"/>
          </a:p>
          <a:p>
            <a:r>
              <a:rPr lang="he-IL" dirty="0"/>
              <a:t>הפונקציה </a:t>
            </a:r>
            <a:r>
              <a:rPr lang="en-US" dirty="0" err="1"/>
              <a:t>combineReducers</a:t>
            </a:r>
            <a:r>
              <a:rPr lang="he-IL" dirty="0"/>
              <a:t> מאחדת את כל ה</a:t>
            </a:r>
            <a:r>
              <a:rPr lang="en-US" dirty="0"/>
              <a:t>reducers</a:t>
            </a:r>
            <a:r>
              <a:rPr lang="he-IL" dirty="0"/>
              <a:t> שקיימים לי.</a:t>
            </a:r>
          </a:p>
          <a:p>
            <a:endParaRPr lang="he-IL" dirty="0"/>
          </a:p>
        </p:txBody>
      </p:sp>
    </p:spTree>
    <p:extLst>
      <p:ext uri="{BB962C8B-B14F-4D97-AF65-F5344CB8AC3E}">
        <p14:creationId xmlns:p14="http://schemas.microsoft.com/office/powerpoint/2010/main" val="428144910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a:extLst>
              <a:ext uri="{FF2B5EF4-FFF2-40B4-BE49-F238E27FC236}">
                <a16:creationId xmlns:a16="http://schemas.microsoft.com/office/drawing/2014/main" id="{948346CD-0E85-4013-BFC3-F0D8764786E4}"/>
              </a:ext>
            </a:extLst>
          </p:cNvPr>
          <p:cNvPicPr>
            <a:picLocks noChangeAspect="1"/>
          </p:cNvPicPr>
          <p:nvPr/>
        </p:nvPicPr>
        <p:blipFill>
          <a:blip r:embed="rId2"/>
          <a:stretch>
            <a:fillRect/>
          </a:stretch>
        </p:blipFill>
        <p:spPr>
          <a:xfrm>
            <a:off x="1612669" y="1017852"/>
            <a:ext cx="6900737" cy="3137588"/>
          </a:xfrm>
          <a:prstGeom prst="rect">
            <a:avLst/>
          </a:prstGeom>
        </p:spPr>
      </p:pic>
    </p:spTree>
    <p:extLst>
      <p:ext uri="{BB962C8B-B14F-4D97-AF65-F5344CB8AC3E}">
        <p14:creationId xmlns:p14="http://schemas.microsoft.com/office/powerpoint/2010/main" val="392431553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08FFDF-1591-4A2E-AFEC-B27CAB3786E7}"/>
              </a:ext>
            </a:extLst>
          </p:cNvPr>
          <p:cNvSpPr txBox="1"/>
          <p:nvPr/>
        </p:nvSpPr>
        <p:spPr>
          <a:xfrm>
            <a:off x="4185920" y="812800"/>
            <a:ext cx="6959600" cy="2862322"/>
          </a:xfrm>
          <a:prstGeom prst="rect">
            <a:avLst/>
          </a:prstGeom>
          <a:noFill/>
        </p:spPr>
        <p:txBody>
          <a:bodyPr wrap="square" rtlCol="1">
            <a:spAutoFit/>
          </a:bodyPr>
          <a:lstStyle/>
          <a:p>
            <a:r>
              <a:rPr lang="en-US" dirty="0"/>
              <a:t>Provider</a:t>
            </a:r>
            <a:endParaRPr lang="he-IL" dirty="0"/>
          </a:p>
          <a:p>
            <a:endParaRPr lang="he-IL" dirty="0"/>
          </a:p>
          <a:p>
            <a:r>
              <a:rPr lang="he-IL" dirty="0"/>
              <a:t>עכשיו כשיש לנו את כל ה</a:t>
            </a:r>
            <a:r>
              <a:rPr lang="en-US" dirty="0"/>
              <a:t>state</a:t>
            </a:r>
            <a:r>
              <a:rPr lang="he-IL" dirty="0"/>
              <a:t> בתוך קובץ אחד (</a:t>
            </a:r>
            <a:r>
              <a:rPr lang="en-US" dirty="0"/>
              <a:t>store</a:t>
            </a:r>
            <a:r>
              <a:rPr lang="he-IL" dirty="0"/>
              <a:t>)</a:t>
            </a:r>
          </a:p>
          <a:p>
            <a:r>
              <a:rPr lang="he-IL" dirty="0"/>
              <a:t>נרצה לחלחל אותו לכל הפרויקט כדי שנוכל להשתמש ב</a:t>
            </a:r>
            <a:r>
              <a:rPr lang="en-US" dirty="0"/>
              <a:t>state</a:t>
            </a:r>
            <a:r>
              <a:rPr lang="he-IL" dirty="0"/>
              <a:t> </a:t>
            </a:r>
            <a:r>
              <a:rPr lang="he-IL" dirty="0" err="1"/>
              <a:t>מסויים</a:t>
            </a:r>
            <a:r>
              <a:rPr lang="he-IL" dirty="0"/>
              <a:t> במקרה הצורך.</a:t>
            </a:r>
          </a:p>
          <a:p>
            <a:endParaRPr lang="he-IL" dirty="0"/>
          </a:p>
          <a:p>
            <a:r>
              <a:rPr lang="he-IL" dirty="0"/>
              <a:t>לשם כך יש לנו את ה</a:t>
            </a:r>
            <a:r>
              <a:rPr lang="en-US" dirty="0"/>
              <a:t>provider</a:t>
            </a:r>
            <a:r>
              <a:rPr lang="he-IL" dirty="0"/>
              <a:t> שהתפקיד שלו זה לספק לי את המידע לכל המערכת:</a:t>
            </a:r>
            <a:br>
              <a:rPr lang="en-US" dirty="0"/>
            </a:br>
            <a:endParaRPr lang="he-IL" dirty="0"/>
          </a:p>
          <a:p>
            <a:endParaRPr lang="he-IL" dirty="0"/>
          </a:p>
        </p:txBody>
      </p:sp>
      <p:pic>
        <p:nvPicPr>
          <p:cNvPr id="3" name="תמונה 2">
            <a:extLst>
              <a:ext uri="{FF2B5EF4-FFF2-40B4-BE49-F238E27FC236}">
                <a16:creationId xmlns:a16="http://schemas.microsoft.com/office/drawing/2014/main" id="{64BFDA38-8F1D-4DCF-BC2B-006B12D4897B}"/>
              </a:ext>
            </a:extLst>
          </p:cNvPr>
          <p:cNvPicPr>
            <a:picLocks noChangeAspect="1"/>
          </p:cNvPicPr>
          <p:nvPr/>
        </p:nvPicPr>
        <p:blipFill>
          <a:blip r:embed="rId2"/>
          <a:stretch>
            <a:fillRect/>
          </a:stretch>
        </p:blipFill>
        <p:spPr>
          <a:xfrm>
            <a:off x="2141365" y="3429000"/>
            <a:ext cx="9004155" cy="3126999"/>
          </a:xfrm>
          <a:prstGeom prst="rect">
            <a:avLst/>
          </a:prstGeom>
        </p:spPr>
      </p:pic>
    </p:spTree>
    <p:extLst>
      <p:ext uri="{BB962C8B-B14F-4D97-AF65-F5344CB8AC3E}">
        <p14:creationId xmlns:p14="http://schemas.microsoft.com/office/powerpoint/2010/main" val="34910555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DB0970-38B4-43AF-A6C3-94E011EDF7F7}"/>
              </a:ext>
            </a:extLst>
          </p:cNvPr>
          <p:cNvSpPr txBox="1"/>
          <p:nvPr/>
        </p:nvSpPr>
        <p:spPr>
          <a:xfrm>
            <a:off x="1727200" y="426720"/>
            <a:ext cx="9418320" cy="5078313"/>
          </a:xfrm>
          <a:prstGeom prst="rect">
            <a:avLst/>
          </a:prstGeom>
          <a:noFill/>
        </p:spPr>
        <p:txBody>
          <a:bodyPr wrap="square" rtlCol="1">
            <a:spAutoFit/>
          </a:bodyPr>
          <a:lstStyle/>
          <a:p>
            <a:r>
              <a:rPr lang="he-IL" dirty="0"/>
              <a:t>הצגת נתונים ושינוי נתונים.</a:t>
            </a:r>
          </a:p>
          <a:p>
            <a:endParaRPr lang="he-IL" dirty="0"/>
          </a:p>
          <a:p>
            <a:r>
              <a:rPr lang="he-IL" dirty="0"/>
              <a:t>כדי להציג </a:t>
            </a:r>
            <a:r>
              <a:rPr lang="en-US" dirty="0"/>
              <a:t>state</a:t>
            </a:r>
            <a:r>
              <a:rPr lang="he-IL" dirty="0"/>
              <a:t> שנמצא בקובץ אחר נשתמש בפונקציה מובנית שקיימת ב</a:t>
            </a:r>
            <a:r>
              <a:rPr lang="en-US" dirty="0"/>
              <a:t>redux</a:t>
            </a:r>
            <a:endParaRPr lang="he-IL" dirty="0"/>
          </a:p>
          <a:p>
            <a:endParaRPr lang="he-IL" dirty="0"/>
          </a:p>
          <a:p>
            <a:r>
              <a:rPr lang="en-US" dirty="0" err="1"/>
              <a:t>useSelectore</a:t>
            </a:r>
            <a:endParaRPr lang="he-IL" dirty="0"/>
          </a:p>
          <a:p>
            <a:endParaRPr lang="he-IL" dirty="0"/>
          </a:p>
          <a:p>
            <a:endParaRPr lang="he-IL" dirty="0"/>
          </a:p>
          <a:p>
            <a:endParaRPr lang="he-IL" dirty="0"/>
          </a:p>
          <a:p>
            <a:endParaRPr lang="he-IL" dirty="0"/>
          </a:p>
          <a:p>
            <a:endParaRPr lang="he-IL" dirty="0"/>
          </a:p>
          <a:p>
            <a:endParaRPr lang="he-IL" dirty="0"/>
          </a:p>
          <a:p>
            <a:endParaRPr lang="he-IL" dirty="0"/>
          </a:p>
          <a:p>
            <a:endParaRPr lang="he-IL" dirty="0"/>
          </a:p>
          <a:p>
            <a:endParaRPr lang="he-IL" dirty="0"/>
          </a:p>
          <a:p>
            <a:endParaRPr lang="he-IL" dirty="0"/>
          </a:p>
          <a:p>
            <a:endParaRPr lang="he-IL" dirty="0"/>
          </a:p>
          <a:p>
            <a:r>
              <a:rPr lang="he-IL" dirty="0"/>
              <a:t>המשתנה שמתקבל הוא </a:t>
            </a:r>
            <a:r>
              <a:rPr lang="he-IL" dirty="0" err="1"/>
              <a:t>אוביקט</a:t>
            </a:r>
            <a:r>
              <a:rPr lang="he-IL" dirty="0"/>
              <a:t> שבתוכו נמצא הערך שנרצה להציג.</a:t>
            </a:r>
          </a:p>
          <a:p>
            <a:endParaRPr lang="he-IL" dirty="0"/>
          </a:p>
        </p:txBody>
      </p:sp>
      <p:pic>
        <p:nvPicPr>
          <p:cNvPr id="3" name="תמונה 2">
            <a:extLst>
              <a:ext uri="{FF2B5EF4-FFF2-40B4-BE49-F238E27FC236}">
                <a16:creationId xmlns:a16="http://schemas.microsoft.com/office/drawing/2014/main" id="{7DB96A14-CDB0-4279-B577-7011E6AB13B3}"/>
              </a:ext>
            </a:extLst>
          </p:cNvPr>
          <p:cNvPicPr>
            <a:picLocks noChangeAspect="1"/>
          </p:cNvPicPr>
          <p:nvPr/>
        </p:nvPicPr>
        <p:blipFill>
          <a:blip r:embed="rId2"/>
          <a:stretch>
            <a:fillRect/>
          </a:stretch>
        </p:blipFill>
        <p:spPr>
          <a:xfrm>
            <a:off x="4287520" y="2263762"/>
            <a:ext cx="6858000" cy="2330475"/>
          </a:xfrm>
          <a:prstGeom prst="rect">
            <a:avLst/>
          </a:prstGeom>
        </p:spPr>
      </p:pic>
    </p:spTree>
    <p:extLst>
      <p:ext uri="{BB962C8B-B14F-4D97-AF65-F5344CB8AC3E}">
        <p14:creationId xmlns:p14="http://schemas.microsoft.com/office/powerpoint/2010/main" val="132789626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F8C5BF6-A5D9-4FCD-B9AC-7814620568D4}"/>
              </a:ext>
            </a:extLst>
          </p:cNvPr>
          <p:cNvSpPr txBox="1"/>
          <p:nvPr/>
        </p:nvSpPr>
        <p:spPr>
          <a:xfrm>
            <a:off x="5323840" y="233680"/>
            <a:ext cx="6116320" cy="923330"/>
          </a:xfrm>
          <a:prstGeom prst="rect">
            <a:avLst/>
          </a:prstGeom>
          <a:noFill/>
        </p:spPr>
        <p:txBody>
          <a:bodyPr wrap="square" rtlCol="1">
            <a:spAutoFit/>
          </a:bodyPr>
          <a:lstStyle/>
          <a:p>
            <a:r>
              <a:rPr lang="he-IL" dirty="0"/>
              <a:t>בשביל לשנות ערך ב</a:t>
            </a:r>
            <a:r>
              <a:rPr lang="en-US" dirty="0"/>
              <a:t>state</a:t>
            </a:r>
            <a:r>
              <a:rPr lang="he-IL" dirty="0"/>
              <a:t> נשתמש בפונקציה </a:t>
            </a:r>
            <a:r>
              <a:rPr lang="en-US" dirty="0"/>
              <a:t>dispatch</a:t>
            </a:r>
            <a:endParaRPr lang="he-IL" dirty="0"/>
          </a:p>
          <a:p>
            <a:endParaRPr lang="he-IL" dirty="0"/>
          </a:p>
          <a:p>
            <a:endParaRPr lang="he-IL" dirty="0"/>
          </a:p>
        </p:txBody>
      </p:sp>
      <p:pic>
        <p:nvPicPr>
          <p:cNvPr id="4" name="תמונה 3">
            <a:extLst>
              <a:ext uri="{FF2B5EF4-FFF2-40B4-BE49-F238E27FC236}">
                <a16:creationId xmlns:a16="http://schemas.microsoft.com/office/drawing/2014/main" id="{BD686F35-4E59-4748-87FD-C7DA70E26222}"/>
              </a:ext>
            </a:extLst>
          </p:cNvPr>
          <p:cNvPicPr>
            <a:picLocks noChangeAspect="1"/>
          </p:cNvPicPr>
          <p:nvPr/>
        </p:nvPicPr>
        <p:blipFill>
          <a:blip r:embed="rId2"/>
          <a:stretch>
            <a:fillRect/>
          </a:stretch>
        </p:blipFill>
        <p:spPr>
          <a:xfrm>
            <a:off x="5700471" y="1485335"/>
            <a:ext cx="6182399" cy="792216"/>
          </a:xfrm>
          <a:prstGeom prst="rect">
            <a:avLst/>
          </a:prstGeom>
        </p:spPr>
      </p:pic>
      <p:pic>
        <p:nvPicPr>
          <p:cNvPr id="5" name="תמונה 4">
            <a:extLst>
              <a:ext uri="{FF2B5EF4-FFF2-40B4-BE49-F238E27FC236}">
                <a16:creationId xmlns:a16="http://schemas.microsoft.com/office/drawing/2014/main" id="{95CD2976-D88F-437C-9CE0-B108C9DD7749}"/>
              </a:ext>
            </a:extLst>
          </p:cNvPr>
          <p:cNvPicPr>
            <a:picLocks noChangeAspect="1"/>
          </p:cNvPicPr>
          <p:nvPr/>
        </p:nvPicPr>
        <p:blipFill>
          <a:blip r:embed="rId3"/>
          <a:stretch>
            <a:fillRect/>
          </a:stretch>
        </p:blipFill>
        <p:spPr>
          <a:xfrm>
            <a:off x="5700472" y="2560274"/>
            <a:ext cx="6288570" cy="2651806"/>
          </a:xfrm>
          <a:prstGeom prst="rect">
            <a:avLst/>
          </a:prstGeom>
        </p:spPr>
      </p:pic>
      <p:pic>
        <p:nvPicPr>
          <p:cNvPr id="7" name="תמונה 6">
            <a:extLst>
              <a:ext uri="{FF2B5EF4-FFF2-40B4-BE49-F238E27FC236}">
                <a16:creationId xmlns:a16="http://schemas.microsoft.com/office/drawing/2014/main" id="{753E365C-368F-4BB0-A223-4098C49B9932}"/>
              </a:ext>
            </a:extLst>
          </p:cNvPr>
          <p:cNvPicPr>
            <a:picLocks noChangeAspect="1"/>
          </p:cNvPicPr>
          <p:nvPr/>
        </p:nvPicPr>
        <p:blipFill>
          <a:blip r:embed="rId4"/>
          <a:stretch>
            <a:fillRect/>
          </a:stretch>
        </p:blipFill>
        <p:spPr>
          <a:xfrm>
            <a:off x="309129" y="1289299"/>
            <a:ext cx="5219482" cy="3953261"/>
          </a:xfrm>
          <a:prstGeom prst="rect">
            <a:avLst/>
          </a:prstGeom>
        </p:spPr>
      </p:pic>
      <p:sp>
        <p:nvSpPr>
          <p:cNvPr id="8" name="TextBox 7">
            <a:extLst>
              <a:ext uri="{FF2B5EF4-FFF2-40B4-BE49-F238E27FC236}">
                <a16:creationId xmlns:a16="http://schemas.microsoft.com/office/drawing/2014/main" id="{74430FC0-387A-4B86-A5F7-4739BB7DF439}"/>
              </a:ext>
            </a:extLst>
          </p:cNvPr>
          <p:cNvSpPr txBox="1"/>
          <p:nvPr/>
        </p:nvSpPr>
        <p:spPr>
          <a:xfrm>
            <a:off x="-304800" y="233680"/>
            <a:ext cx="6116320" cy="923330"/>
          </a:xfrm>
          <a:prstGeom prst="rect">
            <a:avLst/>
          </a:prstGeom>
          <a:noFill/>
        </p:spPr>
        <p:txBody>
          <a:bodyPr wrap="square" rtlCol="1">
            <a:spAutoFit/>
          </a:bodyPr>
          <a:lstStyle/>
          <a:p>
            <a:r>
              <a:rPr lang="he-IL" dirty="0"/>
              <a:t>בשביל הסדר- את כל הכתיבה ל</a:t>
            </a:r>
            <a:r>
              <a:rPr lang="en-US" dirty="0"/>
              <a:t>dispatch </a:t>
            </a:r>
            <a:r>
              <a:rPr lang="he-IL" dirty="0"/>
              <a:t> נייצא לקובץ חדש.</a:t>
            </a:r>
          </a:p>
          <a:p>
            <a:endParaRPr lang="he-IL" dirty="0"/>
          </a:p>
          <a:p>
            <a:endParaRPr lang="he-IL" dirty="0"/>
          </a:p>
        </p:txBody>
      </p:sp>
      <p:pic>
        <p:nvPicPr>
          <p:cNvPr id="9" name="תמונה 8">
            <a:extLst>
              <a:ext uri="{FF2B5EF4-FFF2-40B4-BE49-F238E27FC236}">
                <a16:creationId xmlns:a16="http://schemas.microsoft.com/office/drawing/2014/main" id="{59B834F2-2958-4EC2-A8D8-2EC7CF931117}"/>
              </a:ext>
            </a:extLst>
          </p:cNvPr>
          <p:cNvPicPr>
            <a:picLocks noChangeAspect="1"/>
          </p:cNvPicPr>
          <p:nvPr/>
        </p:nvPicPr>
        <p:blipFill>
          <a:blip r:embed="rId5"/>
          <a:stretch>
            <a:fillRect/>
          </a:stretch>
        </p:blipFill>
        <p:spPr>
          <a:xfrm>
            <a:off x="309128" y="5525282"/>
            <a:ext cx="9223613" cy="580877"/>
          </a:xfrm>
          <a:prstGeom prst="rect">
            <a:avLst/>
          </a:prstGeom>
        </p:spPr>
      </p:pic>
    </p:spTree>
    <p:extLst>
      <p:ext uri="{BB962C8B-B14F-4D97-AF65-F5344CB8AC3E}">
        <p14:creationId xmlns:p14="http://schemas.microsoft.com/office/powerpoint/2010/main" val="428536986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6988DC-BFFB-41EA-966F-5FCBDF3CA919}"/>
              </a:ext>
            </a:extLst>
          </p:cNvPr>
          <p:cNvSpPr txBox="1"/>
          <p:nvPr/>
        </p:nvSpPr>
        <p:spPr>
          <a:xfrm>
            <a:off x="2042160" y="538480"/>
            <a:ext cx="9255760" cy="923330"/>
          </a:xfrm>
          <a:prstGeom prst="rect">
            <a:avLst/>
          </a:prstGeom>
          <a:noFill/>
        </p:spPr>
        <p:txBody>
          <a:bodyPr wrap="square" rtlCol="1">
            <a:spAutoFit/>
          </a:bodyPr>
          <a:lstStyle/>
          <a:p>
            <a:r>
              <a:rPr lang="en-US" dirty="0"/>
              <a:t>Redux toolkit</a:t>
            </a:r>
            <a:endParaRPr lang="he-IL" dirty="0"/>
          </a:p>
          <a:p>
            <a:endParaRPr lang="he-IL" dirty="0"/>
          </a:p>
          <a:p>
            <a:endParaRPr lang="he-IL" dirty="0"/>
          </a:p>
        </p:txBody>
      </p:sp>
      <p:pic>
        <p:nvPicPr>
          <p:cNvPr id="3" name="תמונה 2">
            <a:extLst>
              <a:ext uri="{FF2B5EF4-FFF2-40B4-BE49-F238E27FC236}">
                <a16:creationId xmlns:a16="http://schemas.microsoft.com/office/drawing/2014/main" id="{ACAA8A98-4AD7-46CD-B650-3BA1F629EBEB}"/>
              </a:ext>
            </a:extLst>
          </p:cNvPr>
          <p:cNvPicPr>
            <a:picLocks noChangeAspect="1"/>
          </p:cNvPicPr>
          <p:nvPr/>
        </p:nvPicPr>
        <p:blipFill>
          <a:blip r:embed="rId2"/>
          <a:stretch>
            <a:fillRect/>
          </a:stretch>
        </p:blipFill>
        <p:spPr>
          <a:xfrm>
            <a:off x="3840481" y="1370369"/>
            <a:ext cx="5468730" cy="5363561"/>
          </a:xfrm>
          <a:prstGeom prst="rect">
            <a:avLst/>
          </a:prstGeom>
        </p:spPr>
      </p:pic>
      <p:cxnSp>
        <p:nvCxnSpPr>
          <p:cNvPr id="5" name="מחבר חץ ישר 4">
            <a:extLst>
              <a:ext uri="{FF2B5EF4-FFF2-40B4-BE49-F238E27FC236}">
                <a16:creationId xmlns:a16="http://schemas.microsoft.com/office/drawing/2014/main" id="{0CBCFF57-470B-4C24-A636-537CFB2A2554}"/>
              </a:ext>
            </a:extLst>
          </p:cNvPr>
          <p:cNvCxnSpPr>
            <a:cxnSpLocks/>
          </p:cNvCxnSpPr>
          <p:nvPr/>
        </p:nvCxnSpPr>
        <p:spPr>
          <a:xfrm flipH="1">
            <a:off x="8788400" y="3058160"/>
            <a:ext cx="1515165" cy="1422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CC6E8F8A-1587-4FA3-97F7-9F603138F0B8}"/>
              </a:ext>
            </a:extLst>
          </p:cNvPr>
          <p:cNvSpPr txBox="1"/>
          <p:nvPr/>
        </p:nvSpPr>
        <p:spPr>
          <a:xfrm>
            <a:off x="8871668" y="2644097"/>
            <a:ext cx="1869440" cy="369332"/>
          </a:xfrm>
          <a:prstGeom prst="rect">
            <a:avLst/>
          </a:prstGeom>
          <a:noFill/>
        </p:spPr>
        <p:txBody>
          <a:bodyPr wrap="square" rtlCol="1">
            <a:spAutoFit/>
          </a:bodyPr>
          <a:lstStyle/>
          <a:p>
            <a:r>
              <a:rPr lang="en-US" dirty="0"/>
              <a:t>slice</a:t>
            </a:r>
            <a:endParaRPr lang="he-IL" dirty="0"/>
          </a:p>
        </p:txBody>
      </p:sp>
    </p:spTree>
    <p:extLst>
      <p:ext uri="{BB962C8B-B14F-4D97-AF65-F5344CB8AC3E}">
        <p14:creationId xmlns:p14="http://schemas.microsoft.com/office/powerpoint/2010/main" val="300849047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516F2BC-0ED2-44CA-9625-7F1CFFF88073}"/>
              </a:ext>
            </a:extLst>
          </p:cNvPr>
          <p:cNvSpPr txBox="1"/>
          <p:nvPr/>
        </p:nvSpPr>
        <p:spPr>
          <a:xfrm>
            <a:off x="4500880" y="538480"/>
            <a:ext cx="6096000" cy="2585323"/>
          </a:xfrm>
          <a:prstGeom prst="rect">
            <a:avLst/>
          </a:prstGeom>
          <a:noFill/>
        </p:spPr>
        <p:txBody>
          <a:bodyPr wrap="square" rtlCol="1">
            <a:spAutoFit/>
          </a:bodyPr>
          <a:lstStyle/>
          <a:p>
            <a:r>
              <a:rPr lang="en-US" dirty="0"/>
              <a:t>Toolkit</a:t>
            </a:r>
            <a:r>
              <a:rPr lang="he-IL" dirty="0"/>
              <a:t> בדומה ל</a:t>
            </a:r>
            <a:r>
              <a:rPr lang="en-US" dirty="0"/>
              <a:t>react-redux</a:t>
            </a:r>
            <a:r>
              <a:rPr lang="he-IL" dirty="0"/>
              <a:t> היא ספרייה חיצונית.</a:t>
            </a:r>
          </a:p>
          <a:p>
            <a:endParaRPr lang="he-IL" dirty="0"/>
          </a:p>
          <a:p>
            <a:r>
              <a:rPr lang="he-IL" dirty="0"/>
              <a:t>ולכן היא דורשת התקנה.</a:t>
            </a:r>
          </a:p>
          <a:p>
            <a:r>
              <a:rPr lang="en-US" dirty="0" err="1"/>
              <a:t>npm</a:t>
            </a:r>
            <a:r>
              <a:rPr lang="en-US" dirty="0"/>
              <a:t> install @</a:t>
            </a:r>
            <a:r>
              <a:rPr lang="en-US" dirty="0" err="1"/>
              <a:t>reduxjs</a:t>
            </a:r>
            <a:r>
              <a:rPr lang="en-US" dirty="0"/>
              <a:t>/toolkit</a:t>
            </a:r>
            <a:endParaRPr lang="he-IL" dirty="0"/>
          </a:p>
          <a:p>
            <a:endParaRPr lang="he-IL" dirty="0"/>
          </a:p>
          <a:p>
            <a:r>
              <a:rPr lang="he-IL" dirty="0"/>
              <a:t>נצטרך </a:t>
            </a:r>
            <a:r>
              <a:rPr lang="he-IL" dirty="0" err="1"/>
              <a:t>להשמש</a:t>
            </a:r>
            <a:r>
              <a:rPr lang="he-IL" dirty="0"/>
              <a:t> גם ביכולות של </a:t>
            </a:r>
            <a:r>
              <a:rPr lang="en-US" dirty="0"/>
              <a:t>react-redux</a:t>
            </a:r>
          </a:p>
          <a:p>
            <a:r>
              <a:rPr lang="he-IL" dirty="0"/>
              <a:t>ולכן נתקין גם אותה:</a:t>
            </a:r>
          </a:p>
          <a:p>
            <a:endParaRPr lang="he-IL" dirty="0"/>
          </a:p>
          <a:p>
            <a:r>
              <a:rPr lang="en-US" dirty="0" err="1"/>
              <a:t>npm</a:t>
            </a:r>
            <a:r>
              <a:rPr lang="en-US" dirty="0"/>
              <a:t> install react-redux</a:t>
            </a:r>
            <a:endParaRPr lang="he-IL" dirty="0"/>
          </a:p>
        </p:txBody>
      </p:sp>
    </p:spTree>
    <p:extLst>
      <p:ext uri="{BB962C8B-B14F-4D97-AF65-F5344CB8AC3E}">
        <p14:creationId xmlns:p14="http://schemas.microsoft.com/office/powerpoint/2010/main" val="213914633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DFCA797-1999-4806-AC17-6AFEBFED2413}"/>
              </a:ext>
            </a:extLst>
          </p:cNvPr>
          <p:cNvSpPr txBox="1"/>
          <p:nvPr/>
        </p:nvSpPr>
        <p:spPr>
          <a:xfrm>
            <a:off x="3108960" y="1755616"/>
            <a:ext cx="7650480" cy="2585323"/>
          </a:xfrm>
          <a:prstGeom prst="rect">
            <a:avLst/>
          </a:prstGeom>
          <a:noFill/>
        </p:spPr>
        <p:txBody>
          <a:bodyPr wrap="square" rtlCol="1">
            <a:spAutoFit/>
          </a:bodyPr>
          <a:lstStyle/>
          <a:p>
            <a:r>
              <a:rPr lang="he-IL" dirty="0"/>
              <a:t>הדרך שבה ניצור את הפונקציות שונה בהרבה מ</a:t>
            </a:r>
            <a:r>
              <a:rPr lang="en-US" dirty="0"/>
              <a:t>react-redux</a:t>
            </a:r>
            <a:r>
              <a:rPr lang="he-IL" dirty="0"/>
              <a:t>.</a:t>
            </a:r>
          </a:p>
          <a:p>
            <a:endParaRPr lang="he-IL" dirty="0"/>
          </a:p>
          <a:p>
            <a:r>
              <a:rPr lang="he-IL" dirty="0"/>
              <a:t>ניצור תיקייה חדשה עבור ה</a:t>
            </a:r>
            <a:r>
              <a:rPr lang="en-US" dirty="0"/>
              <a:t>redux</a:t>
            </a:r>
            <a:endParaRPr lang="he-IL" dirty="0"/>
          </a:p>
          <a:p>
            <a:endParaRPr lang="he-IL" dirty="0"/>
          </a:p>
          <a:p>
            <a:r>
              <a:rPr lang="he-IL" dirty="0"/>
              <a:t>ועבור כל </a:t>
            </a:r>
            <a:r>
              <a:rPr lang="en-US" dirty="0"/>
              <a:t>state</a:t>
            </a:r>
            <a:r>
              <a:rPr lang="he-IL" dirty="0"/>
              <a:t> ניצור קובץ חדש ושם נכתוב את ה</a:t>
            </a:r>
            <a:r>
              <a:rPr lang="en-US" dirty="0"/>
              <a:t>slice</a:t>
            </a:r>
            <a:endParaRPr lang="he-IL" dirty="0"/>
          </a:p>
          <a:p>
            <a:endParaRPr lang="he-IL" dirty="0"/>
          </a:p>
          <a:p>
            <a:r>
              <a:rPr lang="he-IL" dirty="0"/>
              <a:t>נעשה איחוד לכל ה</a:t>
            </a:r>
            <a:r>
              <a:rPr lang="en-US" dirty="0"/>
              <a:t>slices</a:t>
            </a:r>
            <a:r>
              <a:rPr lang="he-IL" dirty="0"/>
              <a:t> ונעטוף את כל המערכת ב</a:t>
            </a:r>
            <a:r>
              <a:rPr lang="en-US" dirty="0"/>
              <a:t>state</a:t>
            </a:r>
            <a:r>
              <a:rPr lang="he-IL" dirty="0"/>
              <a:t> האלה.</a:t>
            </a:r>
          </a:p>
          <a:p>
            <a:endParaRPr lang="he-IL" dirty="0"/>
          </a:p>
          <a:p>
            <a:endParaRPr lang="he-IL" dirty="0"/>
          </a:p>
        </p:txBody>
      </p:sp>
      <p:sp>
        <p:nvSpPr>
          <p:cNvPr id="3" name="TextBox 2">
            <a:extLst>
              <a:ext uri="{FF2B5EF4-FFF2-40B4-BE49-F238E27FC236}">
                <a16:creationId xmlns:a16="http://schemas.microsoft.com/office/drawing/2014/main" id="{5E1F4280-98F8-4FFC-811F-4DB860124BBB}"/>
              </a:ext>
            </a:extLst>
          </p:cNvPr>
          <p:cNvSpPr txBox="1"/>
          <p:nvPr/>
        </p:nvSpPr>
        <p:spPr>
          <a:xfrm>
            <a:off x="4541520" y="203200"/>
            <a:ext cx="6167120" cy="923330"/>
          </a:xfrm>
          <a:prstGeom prst="rect">
            <a:avLst/>
          </a:prstGeom>
          <a:noFill/>
        </p:spPr>
        <p:txBody>
          <a:bodyPr wrap="square" rtlCol="1">
            <a:spAutoFit/>
          </a:bodyPr>
          <a:lstStyle/>
          <a:p>
            <a:r>
              <a:rPr lang="he-IL" dirty="0"/>
              <a:t>כל </a:t>
            </a:r>
            <a:r>
              <a:rPr lang="en-US" dirty="0"/>
              <a:t>state</a:t>
            </a:r>
            <a:r>
              <a:rPr lang="he-IL" dirty="0"/>
              <a:t> גלובלי שנרצה ליצור- ניצור בתוך </a:t>
            </a:r>
            <a:r>
              <a:rPr lang="en-US" dirty="0"/>
              <a:t>slice</a:t>
            </a:r>
            <a:r>
              <a:rPr lang="he-IL" dirty="0"/>
              <a:t> שזה פונקציה של </a:t>
            </a:r>
            <a:r>
              <a:rPr lang="en-US" dirty="0"/>
              <a:t>redux</a:t>
            </a:r>
            <a:endParaRPr lang="he-IL" dirty="0"/>
          </a:p>
          <a:p>
            <a:r>
              <a:rPr lang="he-IL" dirty="0"/>
              <a:t>ושם גם ננהל את הפונקציות עבור אותו </a:t>
            </a:r>
            <a:r>
              <a:rPr lang="en-US" dirty="0"/>
              <a:t>state</a:t>
            </a:r>
            <a:endParaRPr lang="he-IL" dirty="0"/>
          </a:p>
        </p:txBody>
      </p:sp>
    </p:spTree>
    <p:extLst>
      <p:ext uri="{BB962C8B-B14F-4D97-AF65-F5344CB8AC3E}">
        <p14:creationId xmlns:p14="http://schemas.microsoft.com/office/powerpoint/2010/main" val="278349721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a:extLst>
              <a:ext uri="{FF2B5EF4-FFF2-40B4-BE49-F238E27FC236}">
                <a16:creationId xmlns:a16="http://schemas.microsoft.com/office/drawing/2014/main" id="{93E9A8E1-0AEA-4889-B72E-291B198A4614}"/>
              </a:ext>
            </a:extLst>
          </p:cNvPr>
          <p:cNvPicPr>
            <a:picLocks noChangeAspect="1"/>
          </p:cNvPicPr>
          <p:nvPr/>
        </p:nvPicPr>
        <p:blipFill>
          <a:blip r:embed="rId2"/>
          <a:stretch>
            <a:fillRect/>
          </a:stretch>
        </p:blipFill>
        <p:spPr>
          <a:xfrm>
            <a:off x="3464560" y="330732"/>
            <a:ext cx="5960215" cy="5820958"/>
          </a:xfrm>
          <a:prstGeom prst="rect">
            <a:avLst/>
          </a:prstGeom>
        </p:spPr>
      </p:pic>
    </p:spTree>
    <p:extLst>
      <p:ext uri="{BB962C8B-B14F-4D97-AF65-F5344CB8AC3E}">
        <p14:creationId xmlns:p14="http://schemas.microsoft.com/office/powerpoint/2010/main" val="124836969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a:extLst>
              <a:ext uri="{FF2B5EF4-FFF2-40B4-BE49-F238E27FC236}">
                <a16:creationId xmlns:a16="http://schemas.microsoft.com/office/drawing/2014/main" id="{25C86FFB-68FF-4C0E-A67E-59B7B9867A00}"/>
              </a:ext>
            </a:extLst>
          </p:cNvPr>
          <p:cNvPicPr>
            <a:picLocks noChangeAspect="1"/>
          </p:cNvPicPr>
          <p:nvPr/>
        </p:nvPicPr>
        <p:blipFill>
          <a:blip r:embed="rId2"/>
          <a:stretch>
            <a:fillRect/>
          </a:stretch>
        </p:blipFill>
        <p:spPr>
          <a:xfrm>
            <a:off x="3434080" y="661555"/>
            <a:ext cx="5237578" cy="6127966"/>
          </a:xfrm>
          <a:prstGeom prst="rect">
            <a:avLst/>
          </a:prstGeom>
        </p:spPr>
      </p:pic>
    </p:spTree>
    <p:extLst>
      <p:ext uri="{BB962C8B-B14F-4D97-AF65-F5344CB8AC3E}">
        <p14:creationId xmlns:p14="http://schemas.microsoft.com/office/powerpoint/2010/main" val="186549667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C675BE14-A5AF-4B98-A257-D96D5E9A94CF}"/>
              </a:ext>
            </a:extLst>
          </p:cNvPr>
          <p:cNvPicPr>
            <a:picLocks noChangeAspect="1"/>
          </p:cNvPicPr>
          <p:nvPr/>
        </p:nvPicPr>
        <p:blipFill>
          <a:blip r:embed="rId2"/>
          <a:stretch>
            <a:fillRect/>
          </a:stretch>
        </p:blipFill>
        <p:spPr>
          <a:xfrm>
            <a:off x="3495040" y="287443"/>
            <a:ext cx="6760319" cy="1099814"/>
          </a:xfrm>
          <a:prstGeom prst="rect">
            <a:avLst/>
          </a:prstGeom>
        </p:spPr>
      </p:pic>
      <p:pic>
        <p:nvPicPr>
          <p:cNvPr id="4" name="תמונה 3">
            <a:extLst>
              <a:ext uri="{FF2B5EF4-FFF2-40B4-BE49-F238E27FC236}">
                <a16:creationId xmlns:a16="http://schemas.microsoft.com/office/drawing/2014/main" id="{F6708433-E026-40FA-A687-DA8910626B5C}"/>
              </a:ext>
            </a:extLst>
          </p:cNvPr>
          <p:cNvPicPr>
            <a:picLocks noChangeAspect="1"/>
          </p:cNvPicPr>
          <p:nvPr/>
        </p:nvPicPr>
        <p:blipFill>
          <a:blip r:embed="rId3"/>
          <a:stretch>
            <a:fillRect/>
          </a:stretch>
        </p:blipFill>
        <p:spPr>
          <a:xfrm>
            <a:off x="3495040" y="1571521"/>
            <a:ext cx="5669280" cy="5019098"/>
          </a:xfrm>
          <a:prstGeom prst="rect">
            <a:avLst/>
          </a:prstGeom>
        </p:spPr>
      </p:pic>
    </p:spTree>
    <p:extLst>
      <p:ext uri="{BB962C8B-B14F-4D97-AF65-F5344CB8AC3E}">
        <p14:creationId xmlns:p14="http://schemas.microsoft.com/office/powerpoint/2010/main" val="280545054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a:extLst>
              <a:ext uri="{FF2B5EF4-FFF2-40B4-BE49-F238E27FC236}">
                <a16:creationId xmlns:a16="http://schemas.microsoft.com/office/drawing/2014/main" id="{2823D5A1-A6FF-4350-9982-09DCC604077C}"/>
              </a:ext>
            </a:extLst>
          </p:cNvPr>
          <p:cNvPicPr>
            <a:picLocks noChangeAspect="1"/>
          </p:cNvPicPr>
          <p:nvPr/>
        </p:nvPicPr>
        <p:blipFill>
          <a:blip r:embed="rId2"/>
          <a:stretch>
            <a:fillRect/>
          </a:stretch>
        </p:blipFill>
        <p:spPr>
          <a:xfrm>
            <a:off x="3647440" y="526989"/>
            <a:ext cx="6553931" cy="4117071"/>
          </a:xfrm>
          <a:prstGeom prst="rect">
            <a:avLst/>
          </a:prstGeom>
        </p:spPr>
      </p:pic>
    </p:spTree>
    <p:extLst>
      <p:ext uri="{BB962C8B-B14F-4D97-AF65-F5344CB8AC3E}">
        <p14:creationId xmlns:p14="http://schemas.microsoft.com/office/powerpoint/2010/main" val="355355382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665832F-B181-416F-9A75-BBB82D03066A}"/>
              </a:ext>
            </a:extLst>
          </p:cNvPr>
          <p:cNvSpPr txBox="1"/>
          <p:nvPr/>
        </p:nvSpPr>
        <p:spPr>
          <a:xfrm>
            <a:off x="2580640" y="1503680"/>
            <a:ext cx="7894320" cy="2862322"/>
          </a:xfrm>
          <a:prstGeom prst="rect">
            <a:avLst/>
          </a:prstGeom>
          <a:noFill/>
        </p:spPr>
        <p:txBody>
          <a:bodyPr wrap="square" rtlCol="1">
            <a:spAutoFit/>
          </a:bodyPr>
          <a:lstStyle/>
          <a:p>
            <a:r>
              <a:rPr lang="en-US" dirty="0"/>
              <a:t>Router in react</a:t>
            </a:r>
          </a:p>
          <a:p>
            <a:endParaRPr lang="en-US" dirty="0"/>
          </a:p>
          <a:p>
            <a:r>
              <a:rPr lang="he-IL" dirty="0"/>
              <a:t>מערכות </a:t>
            </a:r>
            <a:r>
              <a:rPr lang="he-IL" dirty="0" err="1"/>
              <a:t>בדר"כ</a:t>
            </a:r>
            <a:r>
              <a:rPr lang="he-IL" dirty="0"/>
              <a:t> מאפשרות מעבר בין עמודים, בשביל הנוחות של המשתמש והסדר במערכת.</a:t>
            </a:r>
          </a:p>
          <a:p>
            <a:endParaRPr lang="he-IL" dirty="0"/>
          </a:p>
          <a:p>
            <a:r>
              <a:rPr lang="he-IL" dirty="0"/>
              <a:t>בשביל לאפשר זאת נשתמש בספריה חיצונית שנועדה בשביל </a:t>
            </a:r>
            <a:r>
              <a:rPr lang="he-IL" dirty="0" err="1"/>
              <a:t>ריאקט</a:t>
            </a:r>
            <a:r>
              <a:rPr lang="he-IL" dirty="0"/>
              <a:t>:</a:t>
            </a:r>
          </a:p>
          <a:p>
            <a:r>
              <a:rPr lang="en-US" dirty="0"/>
              <a:t>React-</a:t>
            </a:r>
            <a:r>
              <a:rPr lang="en-US" dirty="0" err="1"/>
              <a:t>routet</a:t>
            </a:r>
            <a:r>
              <a:rPr lang="en-US" dirty="0"/>
              <a:t>-</a:t>
            </a:r>
            <a:r>
              <a:rPr lang="en-US" dirty="0" err="1"/>
              <a:t>dom</a:t>
            </a:r>
            <a:endParaRPr lang="en-US" dirty="0"/>
          </a:p>
          <a:p>
            <a:endParaRPr lang="en-US" dirty="0"/>
          </a:p>
          <a:p>
            <a:r>
              <a:rPr lang="he-IL" dirty="0"/>
              <a:t>בעזרת הספרייה הזאת נוכל לבצע שינויים ב</a:t>
            </a:r>
            <a:r>
              <a:rPr lang="en-US" dirty="0"/>
              <a:t>URL</a:t>
            </a:r>
            <a:r>
              <a:rPr lang="he-IL" dirty="0"/>
              <a:t> בתוך המערכת.</a:t>
            </a:r>
          </a:p>
          <a:p>
            <a:endParaRPr lang="he-IL" dirty="0"/>
          </a:p>
        </p:txBody>
      </p:sp>
    </p:spTree>
    <p:extLst>
      <p:ext uri="{BB962C8B-B14F-4D97-AF65-F5344CB8AC3E}">
        <p14:creationId xmlns:p14="http://schemas.microsoft.com/office/powerpoint/2010/main" val="290084582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לבן 1">
            <a:extLst>
              <a:ext uri="{FF2B5EF4-FFF2-40B4-BE49-F238E27FC236}">
                <a16:creationId xmlns:a16="http://schemas.microsoft.com/office/drawing/2014/main" id="{2D85B935-6C13-4DD8-86BF-9AE1C2086078}"/>
              </a:ext>
            </a:extLst>
          </p:cNvPr>
          <p:cNvSpPr/>
          <p:nvPr/>
        </p:nvSpPr>
        <p:spPr>
          <a:xfrm>
            <a:off x="3048000" y="1443841"/>
            <a:ext cx="6096000" cy="3693319"/>
          </a:xfrm>
          <a:prstGeom prst="rect">
            <a:avLst/>
          </a:prstGeom>
        </p:spPr>
        <p:txBody>
          <a:bodyPr>
            <a:spAutoFit/>
          </a:bodyPr>
          <a:lstStyle/>
          <a:p>
            <a:r>
              <a:rPr lang="he-IL" dirty="0">
                <a:solidFill>
                  <a:srgbClr val="374151"/>
                </a:solidFill>
                <a:latin typeface="Assistant"/>
              </a:rPr>
              <a:t>בעולם הישן של פיתוח ווב, לכל דף באתר </a:t>
            </a:r>
            <a:r>
              <a:rPr lang="he-IL" dirty="0" err="1">
                <a:solidFill>
                  <a:srgbClr val="374151"/>
                </a:solidFill>
                <a:latin typeface="Assistant"/>
              </a:rPr>
              <a:t>היתה</a:t>
            </a:r>
            <a:r>
              <a:rPr lang="he-IL" dirty="0">
                <a:solidFill>
                  <a:srgbClr val="374151"/>
                </a:solidFill>
                <a:latin typeface="Assistant"/>
              </a:rPr>
              <a:t> כתובת </a:t>
            </a:r>
            <a:r>
              <a:rPr lang="en-US" dirty="0">
                <a:solidFill>
                  <a:srgbClr val="374151"/>
                </a:solidFill>
                <a:latin typeface="Assistant"/>
              </a:rPr>
              <a:t>URL) </a:t>
            </a:r>
            <a:r>
              <a:rPr lang="he-IL" dirty="0">
                <a:solidFill>
                  <a:srgbClr val="374151"/>
                </a:solidFill>
                <a:latin typeface="Assistant"/>
              </a:rPr>
              <a:t>) משלו, ודף </a:t>
            </a:r>
            <a:r>
              <a:rPr lang="en-US" dirty="0">
                <a:solidFill>
                  <a:srgbClr val="374151"/>
                </a:solidFill>
                <a:latin typeface="Assistant"/>
              </a:rPr>
              <a:t>HTML </a:t>
            </a:r>
            <a:r>
              <a:rPr lang="he-IL" dirty="0">
                <a:solidFill>
                  <a:srgbClr val="374151"/>
                </a:solidFill>
                <a:latin typeface="Assistant"/>
              </a:rPr>
              <a:t> שהשרת שולח כשגולש נכנס לאותה כתובת. </a:t>
            </a:r>
            <a:r>
              <a:rPr lang="he-IL" dirty="0" err="1">
                <a:solidFill>
                  <a:srgbClr val="374151"/>
                </a:solidFill>
                <a:latin typeface="Assistant"/>
              </a:rPr>
              <a:t>בריאקט</a:t>
            </a:r>
            <a:r>
              <a:rPr lang="he-IL" dirty="0">
                <a:solidFill>
                  <a:srgbClr val="374151"/>
                </a:solidFill>
                <a:latin typeface="Assistant"/>
              </a:rPr>
              <a:t> זה קצת יותר קשה ליישום. </a:t>
            </a:r>
          </a:p>
          <a:p>
            <a:r>
              <a:rPr lang="he-IL" dirty="0">
                <a:solidFill>
                  <a:srgbClr val="374151"/>
                </a:solidFill>
                <a:latin typeface="Assistant"/>
              </a:rPr>
              <a:t>אם היינו רוצים ללכת בדרך זו, זה היה אומר שצריך אפליקציית </a:t>
            </a:r>
            <a:r>
              <a:rPr lang="he-IL" dirty="0" err="1">
                <a:solidFill>
                  <a:srgbClr val="374151"/>
                </a:solidFill>
                <a:latin typeface="Assistant"/>
              </a:rPr>
              <a:t>ריאקט</a:t>
            </a:r>
            <a:r>
              <a:rPr lang="he-IL" dirty="0">
                <a:solidFill>
                  <a:srgbClr val="374151"/>
                </a:solidFill>
                <a:latin typeface="Assistant"/>
              </a:rPr>
              <a:t> חדשה עבור כל דף בגלל ש </a:t>
            </a:r>
            <a:r>
              <a:rPr lang="en-US" dirty="0">
                <a:solidFill>
                  <a:srgbClr val="374151"/>
                </a:solidFill>
                <a:latin typeface="Assistant"/>
              </a:rPr>
              <a:t>create-react-app </a:t>
            </a:r>
            <a:r>
              <a:rPr lang="he-IL" dirty="0">
                <a:solidFill>
                  <a:srgbClr val="374151"/>
                </a:solidFill>
                <a:latin typeface="Assistant"/>
              </a:rPr>
              <a:t> מייצר רק קובץ </a:t>
            </a:r>
            <a:r>
              <a:rPr lang="en-US" dirty="0">
                <a:solidFill>
                  <a:srgbClr val="374151"/>
                </a:solidFill>
                <a:latin typeface="Assistant"/>
              </a:rPr>
              <a:t> HTML </a:t>
            </a:r>
            <a:r>
              <a:rPr lang="he-IL" dirty="0">
                <a:solidFill>
                  <a:srgbClr val="374151"/>
                </a:solidFill>
                <a:latin typeface="Assistant"/>
              </a:rPr>
              <a:t>אחד. </a:t>
            </a:r>
          </a:p>
          <a:p>
            <a:r>
              <a:rPr lang="he-IL" dirty="0">
                <a:solidFill>
                  <a:srgbClr val="374151"/>
                </a:solidFill>
                <a:latin typeface="Assistant"/>
              </a:rPr>
              <a:t>אבל אפילו אם נצליח לייצר כמה קבצי </a:t>
            </a:r>
            <a:r>
              <a:rPr lang="en-US" dirty="0">
                <a:solidFill>
                  <a:srgbClr val="374151"/>
                </a:solidFill>
                <a:latin typeface="Assistant"/>
              </a:rPr>
              <a:t>HTML</a:t>
            </a:r>
            <a:r>
              <a:rPr lang="he-IL" dirty="0">
                <a:solidFill>
                  <a:srgbClr val="374151"/>
                </a:solidFill>
                <a:latin typeface="Assistant"/>
              </a:rPr>
              <a:t> , הניהול של כל העסק הזה לא שווה את המאמץ.</a:t>
            </a:r>
          </a:p>
          <a:p>
            <a:endParaRPr lang="he-IL" dirty="0">
              <a:solidFill>
                <a:srgbClr val="374151"/>
              </a:solidFill>
              <a:latin typeface="Assistant"/>
            </a:endParaRPr>
          </a:p>
          <a:p>
            <a:r>
              <a:rPr lang="he-IL" dirty="0">
                <a:solidFill>
                  <a:srgbClr val="374151"/>
                </a:solidFill>
                <a:latin typeface="Assistant"/>
              </a:rPr>
              <a:t>במקום זה, הדרך המקובלת לעבור בין דפים נקראת </a:t>
            </a:r>
            <a:r>
              <a:rPr lang="en-US" dirty="0">
                <a:solidFill>
                  <a:srgbClr val="374151"/>
                </a:solidFill>
                <a:latin typeface="Assistant"/>
              </a:rPr>
              <a:t>Single Page .Application </a:t>
            </a:r>
            <a:r>
              <a:rPr lang="he-IL" dirty="0">
                <a:solidFill>
                  <a:srgbClr val="374151"/>
                </a:solidFill>
                <a:latin typeface="Assistant"/>
              </a:rPr>
              <a:t>הרעיון שיש לנו רק קובץ </a:t>
            </a:r>
            <a:r>
              <a:rPr lang="en-US" dirty="0">
                <a:solidFill>
                  <a:srgbClr val="374151"/>
                </a:solidFill>
                <a:latin typeface="Assistant"/>
              </a:rPr>
              <a:t>HTML </a:t>
            </a:r>
            <a:r>
              <a:rPr lang="he-IL" dirty="0">
                <a:solidFill>
                  <a:srgbClr val="374151"/>
                </a:solidFill>
                <a:latin typeface="Assistant"/>
              </a:rPr>
              <a:t> אחד עם סט אחד של </a:t>
            </a:r>
            <a:r>
              <a:rPr lang="he-IL" dirty="0" err="1">
                <a:solidFill>
                  <a:srgbClr val="374151"/>
                </a:solidFill>
                <a:latin typeface="Assistant"/>
              </a:rPr>
              <a:t>קומפוננטות</a:t>
            </a:r>
            <a:r>
              <a:rPr lang="he-IL" dirty="0">
                <a:solidFill>
                  <a:srgbClr val="374151"/>
                </a:solidFill>
                <a:latin typeface="Assistant"/>
              </a:rPr>
              <a:t> </a:t>
            </a:r>
            <a:r>
              <a:rPr lang="he-IL" dirty="0" err="1">
                <a:solidFill>
                  <a:srgbClr val="374151"/>
                </a:solidFill>
                <a:latin typeface="Assistant"/>
              </a:rPr>
              <a:t>ריאקט</a:t>
            </a:r>
            <a:r>
              <a:rPr lang="he-IL" dirty="0">
                <a:solidFill>
                  <a:srgbClr val="374151"/>
                </a:solidFill>
                <a:latin typeface="Assistant"/>
              </a:rPr>
              <a:t>, וקוד </a:t>
            </a:r>
            <a:r>
              <a:rPr lang="he-IL" dirty="0" err="1">
                <a:solidFill>
                  <a:srgbClr val="374151"/>
                </a:solidFill>
                <a:latin typeface="Assistant"/>
              </a:rPr>
              <a:t>ריאקט</a:t>
            </a:r>
            <a:r>
              <a:rPr lang="he-IL" dirty="0">
                <a:solidFill>
                  <a:srgbClr val="374151"/>
                </a:solidFill>
                <a:latin typeface="Assistant"/>
              </a:rPr>
              <a:t> יודע להציג את </a:t>
            </a:r>
            <a:r>
              <a:rPr lang="he-IL" dirty="0" err="1">
                <a:solidFill>
                  <a:srgbClr val="374151"/>
                </a:solidFill>
                <a:latin typeface="Assistant"/>
              </a:rPr>
              <a:t>הקומפוננטה</a:t>
            </a:r>
            <a:r>
              <a:rPr lang="he-IL" dirty="0">
                <a:solidFill>
                  <a:srgbClr val="374151"/>
                </a:solidFill>
                <a:latin typeface="Assistant"/>
              </a:rPr>
              <a:t> שמתאימה ל </a:t>
            </a:r>
            <a:r>
              <a:rPr lang="en-US" dirty="0">
                <a:solidFill>
                  <a:srgbClr val="374151"/>
                </a:solidFill>
                <a:latin typeface="Assistant"/>
              </a:rPr>
              <a:t>URL </a:t>
            </a:r>
            <a:r>
              <a:rPr lang="he-IL" dirty="0">
                <a:solidFill>
                  <a:srgbClr val="374151"/>
                </a:solidFill>
                <a:latin typeface="Assistant"/>
              </a:rPr>
              <a:t> הנוכחי</a:t>
            </a:r>
            <a:endParaRPr lang="he-IL" dirty="0"/>
          </a:p>
        </p:txBody>
      </p:sp>
    </p:spTree>
    <p:extLst>
      <p:ext uri="{BB962C8B-B14F-4D97-AF65-F5344CB8AC3E}">
        <p14:creationId xmlns:p14="http://schemas.microsoft.com/office/powerpoint/2010/main" val="68216177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לבן 1">
            <a:extLst>
              <a:ext uri="{FF2B5EF4-FFF2-40B4-BE49-F238E27FC236}">
                <a16:creationId xmlns:a16="http://schemas.microsoft.com/office/drawing/2014/main" id="{751F18FF-7BE4-4A70-9C59-009AEA74E056}"/>
              </a:ext>
            </a:extLst>
          </p:cNvPr>
          <p:cNvSpPr/>
          <p:nvPr/>
        </p:nvSpPr>
        <p:spPr>
          <a:xfrm>
            <a:off x="8741526" y="673854"/>
            <a:ext cx="2247667" cy="369332"/>
          </a:xfrm>
          <a:prstGeom prst="rect">
            <a:avLst/>
          </a:prstGeom>
        </p:spPr>
        <p:txBody>
          <a:bodyPr wrap="none">
            <a:spAutoFit/>
          </a:bodyPr>
          <a:lstStyle/>
          <a:p>
            <a:pPr algn="l"/>
            <a:r>
              <a:rPr lang="he-IL" dirty="0">
                <a:latin typeface="Alef"/>
              </a:rPr>
              <a:t>איך עובד </a:t>
            </a:r>
            <a:r>
              <a:rPr lang="en-US" dirty="0">
                <a:latin typeface="Alef"/>
              </a:rPr>
              <a:t>React Router</a:t>
            </a:r>
            <a:endParaRPr lang="en-US" b="0" i="0" dirty="0">
              <a:effectLst/>
              <a:latin typeface="Alef"/>
            </a:endParaRPr>
          </a:p>
        </p:txBody>
      </p:sp>
      <p:sp>
        <p:nvSpPr>
          <p:cNvPr id="3" name="מלבן 2">
            <a:extLst>
              <a:ext uri="{FF2B5EF4-FFF2-40B4-BE49-F238E27FC236}">
                <a16:creationId xmlns:a16="http://schemas.microsoft.com/office/drawing/2014/main" id="{37F9CA91-C9E0-4AA8-B2A1-0974CD2DE78F}"/>
              </a:ext>
            </a:extLst>
          </p:cNvPr>
          <p:cNvSpPr/>
          <p:nvPr/>
        </p:nvSpPr>
        <p:spPr>
          <a:xfrm>
            <a:off x="2915920" y="1510159"/>
            <a:ext cx="8073273" cy="2308324"/>
          </a:xfrm>
          <a:prstGeom prst="rect">
            <a:avLst/>
          </a:prstGeom>
        </p:spPr>
        <p:txBody>
          <a:bodyPr wrap="square">
            <a:spAutoFit/>
          </a:bodyPr>
          <a:lstStyle/>
          <a:p>
            <a:r>
              <a:rPr lang="he-IL" dirty="0">
                <a:latin typeface="Assistant"/>
              </a:rPr>
              <a:t>ב </a:t>
            </a:r>
            <a:r>
              <a:rPr lang="en-US" dirty="0">
                <a:latin typeface="Assistant"/>
              </a:rPr>
              <a:t>React Router </a:t>
            </a:r>
            <a:r>
              <a:rPr lang="he-IL" dirty="0">
                <a:latin typeface="Assistant"/>
              </a:rPr>
              <a:t> אנחנו מגדירים טבלת ניתוב, שזו טבלה שאומרת ל </a:t>
            </a:r>
            <a:r>
              <a:rPr lang="en-US" dirty="0">
                <a:latin typeface="Assistant"/>
              </a:rPr>
              <a:t>react-router </a:t>
            </a:r>
            <a:r>
              <a:rPr lang="he-IL" dirty="0">
                <a:latin typeface="Assistant"/>
              </a:rPr>
              <a:t> עבור כל נתיב איזה </a:t>
            </a:r>
            <a:r>
              <a:rPr lang="he-IL" dirty="0" err="1">
                <a:latin typeface="Assistant"/>
              </a:rPr>
              <a:t>קומפוננטה</a:t>
            </a:r>
            <a:r>
              <a:rPr lang="he-IL" dirty="0">
                <a:latin typeface="Assistant"/>
              </a:rPr>
              <a:t> צריך להציג.</a:t>
            </a:r>
          </a:p>
          <a:p>
            <a:r>
              <a:rPr lang="he-IL" dirty="0">
                <a:latin typeface="Assistant"/>
              </a:rPr>
              <a:t> את הטבלה אנחנו כותבים בתור </a:t>
            </a:r>
            <a:r>
              <a:rPr lang="he-IL" dirty="0" err="1">
                <a:latin typeface="Assistant"/>
              </a:rPr>
              <a:t>קומפוננטות</a:t>
            </a:r>
            <a:r>
              <a:rPr lang="he-IL" dirty="0">
                <a:latin typeface="Assistant"/>
              </a:rPr>
              <a:t> </a:t>
            </a:r>
            <a:r>
              <a:rPr lang="he-IL" dirty="0" err="1">
                <a:latin typeface="Assistant"/>
              </a:rPr>
              <a:t>ריאקט</a:t>
            </a:r>
            <a:r>
              <a:rPr lang="he-IL" dirty="0">
                <a:latin typeface="Assistant"/>
              </a:rPr>
              <a:t>, ו </a:t>
            </a:r>
            <a:r>
              <a:rPr lang="en-US" dirty="0">
                <a:latin typeface="Assistant"/>
              </a:rPr>
              <a:t>“ react-router </a:t>
            </a:r>
            <a:r>
              <a:rPr lang="he-IL" dirty="0">
                <a:latin typeface="Assistant"/>
              </a:rPr>
              <a:t>מחליף" את כל בלוק </a:t>
            </a:r>
            <a:r>
              <a:rPr lang="he-IL" dirty="0" err="1">
                <a:latin typeface="Assistant"/>
              </a:rPr>
              <a:t>הקומפוננטות</a:t>
            </a:r>
            <a:r>
              <a:rPr lang="he-IL" dirty="0">
                <a:latin typeface="Assistant"/>
              </a:rPr>
              <a:t> הזה </a:t>
            </a:r>
            <a:r>
              <a:rPr lang="he-IL" dirty="0" err="1">
                <a:latin typeface="Assistant"/>
              </a:rPr>
              <a:t>בקומפוננטה</a:t>
            </a:r>
            <a:r>
              <a:rPr lang="he-IL" dirty="0">
                <a:latin typeface="Assistant"/>
              </a:rPr>
              <a:t> </a:t>
            </a:r>
            <a:r>
              <a:rPr lang="he-IL" dirty="0" err="1">
                <a:latin typeface="Assistant"/>
              </a:rPr>
              <a:t>האמיתית</a:t>
            </a:r>
            <a:r>
              <a:rPr lang="he-IL" dirty="0">
                <a:latin typeface="Assistant"/>
              </a:rPr>
              <a:t> שצריך להראות עבור הנתיב הנוכחי.</a:t>
            </a:r>
          </a:p>
          <a:p>
            <a:r>
              <a:rPr lang="he-IL" dirty="0">
                <a:latin typeface="Assistant"/>
              </a:rPr>
              <a:t> אפשר לדמיין את ההתנהגות שלו בתור </a:t>
            </a:r>
            <a:r>
              <a:rPr lang="en-US" dirty="0">
                <a:latin typeface="Assistant"/>
              </a:rPr>
              <a:t> switch/case </a:t>
            </a:r>
            <a:r>
              <a:rPr lang="he-IL" dirty="0">
                <a:latin typeface="Assistant"/>
              </a:rPr>
              <a:t>מתוחכם, שמסתכל על שורת הכתובת ועל טבלת הניתוב, ולפי מה שכתוב שם מחליט איזה </a:t>
            </a:r>
            <a:r>
              <a:rPr lang="he-IL" dirty="0" err="1">
                <a:latin typeface="Assistant"/>
              </a:rPr>
              <a:t>קומפוננטה</a:t>
            </a:r>
            <a:r>
              <a:rPr lang="he-IL" dirty="0">
                <a:latin typeface="Assistant"/>
              </a:rPr>
              <a:t> להראות.</a:t>
            </a:r>
          </a:p>
          <a:p>
            <a:br>
              <a:rPr lang="he-IL" dirty="0"/>
            </a:br>
            <a:endParaRPr lang="he-IL" dirty="0"/>
          </a:p>
        </p:txBody>
      </p:sp>
    </p:spTree>
    <p:extLst>
      <p:ext uri="{BB962C8B-B14F-4D97-AF65-F5344CB8AC3E}">
        <p14:creationId xmlns:p14="http://schemas.microsoft.com/office/powerpoint/2010/main" val="21454648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78AA8B-2FDB-4220-824F-1A8AC49A3A02}"/>
              </a:ext>
            </a:extLst>
          </p:cNvPr>
          <p:cNvSpPr txBox="1"/>
          <p:nvPr/>
        </p:nvSpPr>
        <p:spPr>
          <a:xfrm>
            <a:off x="3749040" y="695960"/>
            <a:ext cx="6766560" cy="2308324"/>
          </a:xfrm>
          <a:prstGeom prst="rect">
            <a:avLst/>
          </a:prstGeom>
          <a:noFill/>
        </p:spPr>
        <p:txBody>
          <a:bodyPr wrap="square" rtlCol="1">
            <a:spAutoFit/>
          </a:bodyPr>
          <a:lstStyle/>
          <a:p>
            <a:r>
              <a:rPr lang="he-IL" dirty="0"/>
              <a:t>בשביל להשתמש בספרייה הזאת נתקין:</a:t>
            </a:r>
          </a:p>
          <a:p>
            <a:r>
              <a:rPr lang="en-US" dirty="0" err="1"/>
              <a:t>npm</a:t>
            </a:r>
            <a:r>
              <a:rPr lang="en-US" dirty="0"/>
              <a:t> </a:t>
            </a:r>
            <a:r>
              <a:rPr lang="en-US" dirty="0" err="1"/>
              <a:t>i</a:t>
            </a:r>
            <a:r>
              <a:rPr lang="en-US" dirty="0"/>
              <a:t> react-router-</a:t>
            </a:r>
            <a:r>
              <a:rPr lang="en-US" dirty="0" err="1"/>
              <a:t>dom</a:t>
            </a:r>
            <a:endParaRPr lang="he-IL" dirty="0"/>
          </a:p>
          <a:p>
            <a:endParaRPr lang="he-IL" dirty="0"/>
          </a:p>
          <a:p>
            <a:r>
              <a:rPr lang="he-IL" dirty="0"/>
              <a:t>בקובץ ה</a:t>
            </a:r>
            <a:r>
              <a:rPr lang="en-US" dirty="0"/>
              <a:t>index</a:t>
            </a:r>
            <a:r>
              <a:rPr lang="he-IL" dirty="0"/>
              <a:t> נעטוף את כל המערכת ברכיב של </a:t>
            </a:r>
            <a:r>
              <a:rPr lang="en-US" dirty="0"/>
              <a:t>router</a:t>
            </a:r>
            <a:endParaRPr lang="he-IL" dirty="0"/>
          </a:p>
          <a:p>
            <a:r>
              <a:rPr lang="he-IL" dirty="0"/>
              <a:t>וכך כל המערכת תממש את הרעיון של </a:t>
            </a:r>
            <a:r>
              <a:rPr lang="en-US" dirty="0"/>
              <a:t>SPA</a:t>
            </a:r>
            <a:endParaRPr lang="he-IL" dirty="0"/>
          </a:p>
          <a:p>
            <a:endParaRPr lang="he-IL" dirty="0"/>
          </a:p>
          <a:p>
            <a:endParaRPr lang="he-IL" dirty="0"/>
          </a:p>
          <a:p>
            <a:r>
              <a:rPr lang="he-IL" dirty="0"/>
              <a:t> </a:t>
            </a:r>
          </a:p>
        </p:txBody>
      </p:sp>
      <p:pic>
        <p:nvPicPr>
          <p:cNvPr id="4" name="תמונה 3">
            <a:extLst>
              <a:ext uri="{FF2B5EF4-FFF2-40B4-BE49-F238E27FC236}">
                <a16:creationId xmlns:a16="http://schemas.microsoft.com/office/drawing/2014/main" id="{8C2AE06D-9775-4A82-9F77-A8D54B8389DC}"/>
              </a:ext>
            </a:extLst>
          </p:cNvPr>
          <p:cNvPicPr>
            <a:picLocks noChangeAspect="1"/>
          </p:cNvPicPr>
          <p:nvPr/>
        </p:nvPicPr>
        <p:blipFill>
          <a:blip r:embed="rId2"/>
          <a:stretch>
            <a:fillRect/>
          </a:stretch>
        </p:blipFill>
        <p:spPr>
          <a:xfrm>
            <a:off x="2743201" y="2565961"/>
            <a:ext cx="7772400" cy="4123944"/>
          </a:xfrm>
          <a:prstGeom prst="rect">
            <a:avLst/>
          </a:prstGeom>
        </p:spPr>
      </p:pic>
    </p:spTree>
    <p:extLst>
      <p:ext uri="{BB962C8B-B14F-4D97-AF65-F5344CB8AC3E}">
        <p14:creationId xmlns:p14="http://schemas.microsoft.com/office/powerpoint/2010/main" val="239027500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566E6573-C4E4-4E20-A849-73C5C060E04B}"/>
              </a:ext>
            </a:extLst>
          </p:cNvPr>
          <p:cNvPicPr>
            <a:picLocks noChangeAspect="1"/>
          </p:cNvPicPr>
          <p:nvPr/>
        </p:nvPicPr>
        <p:blipFill>
          <a:blip r:embed="rId2"/>
          <a:stretch>
            <a:fillRect/>
          </a:stretch>
        </p:blipFill>
        <p:spPr>
          <a:xfrm>
            <a:off x="1870952" y="1095980"/>
            <a:ext cx="8450096" cy="2002819"/>
          </a:xfrm>
          <a:prstGeom prst="rect">
            <a:avLst/>
          </a:prstGeom>
        </p:spPr>
      </p:pic>
      <p:sp>
        <p:nvSpPr>
          <p:cNvPr id="5" name="מלבן 4">
            <a:extLst>
              <a:ext uri="{FF2B5EF4-FFF2-40B4-BE49-F238E27FC236}">
                <a16:creationId xmlns:a16="http://schemas.microsoft.com/office/drawing/2014/main" id="{6D273394-22E0-4E34-8D79-C63899371889}"/>
              </a:ext>
            </a:extLst>
          </p:cNvPr>
          <p:cNvSpPr/>
          <p:nvPr/>
        </p:nvSpPr>
        <p:spPr>
          <a:xfrm>
            <a:off x="2050808" y="3743962"/>
            <a:ext cx="8270240" cy="2308324"/>
          </a:xfrm>
          <a:prstGeom prst="rect">
            <a:avLst/>
          </a:prstGeom>
        </p:spPr>
        <p:txBody>
          <a:bodyPr wrap="square">
            <a:spAutoFit/>
          </a:bodyPr>
          <a:lstStyle/>
          <a:p>
            <a:r>
              <a:rPr lang="he-IL" dirty="0"/>
              <a:t>אם הכתובת בדפדפן היא / אז תחליף את כל הבלוק שבתוך </a:t>
            </a:r>
            <a:r>
              <a:rPr lang="he-IL" dirty="0" err="1"/>
              <a:t>Routes</a:t>
            </a:r>
            <a:r>
              <a:rPr lang="he-IL" dirty="0"/>
              <a:t> </a:t>
            </a:r>
            <a:r>
              <a:rPr lang="he-IL" dirty="0" err="1"/>
              <a:t>בקומפוננטה</a:t>
            </a:r>
            <a:r>
              <a:rPr lang="he-IL" dirty="0"/>
              <a:t> </a:t>
            </a:r>
            <a:r>
              <a:rPr lang="he-IL" dirty="0" err="1"/>
              <a:t>Home</a:t>
            </a:r>
            <a:r>
              <a:rPr lang="he-IL" dirty="0"/>
              <a:t>. </a:t>
            </a:r>
          </a:p>
          <a:p>
            <a:r>
              <a:rPr lang="he-IL" dirty="0"/>
              <a:t>אם הכתובת בדפדפן היא </a:t>
            </a:r>
            <a:r>
              <a:rPr lang="he-IL" dirty="0" err="1"/>
              <a:t>about</a:t>
            </a:r>
            <a:r>
              <a:rPr lang="he-IL" dirty="0"/>
              <a:t>/ אז תחליף את כל הבלוק שבתוך </a:t>
            </a:r>
            <a:r>
              <a:rPr lang="he-IL" dirty="0" err="1"/>
              <a:t>Routes</a:t>
            </a:r>
            <a:r>
              <a:rPr lang="he-IL" dirty="0"/>
              <a:t> </a:t>
            </a:r>
            <a:r>
              <a:rPr lang="he-IL" dirty="0" err="1"/>
              <a:t>בקומפוננטה</a:t>
            </a:r>
            <a:r>
              <a:rPr lang="he-IL" dirty="0"/>
              <a:t> </a:t>
            </a:r>
            <a:r>
              <a:rPr lang="he-IL" dirty="0" err="1"/>
              <a:t>About</a:t>
            </a:r>
            <a:r>
              <a:rPr lang="he-IL" dirty="0"/>
              <a:t>.</a:t>
            </a:r>
          </a:p>
          <a:p>
            <a:r>
              <a:rPr lang="he-IL" dirty="0"/>
              <a:t> אם הכתובת בדפדפן היא /</a:t>
            </a:r>
            <a:r>
              <a:rPr lang="he-IL" dirty="0" err="1"/>
              <a:t>contact</a:t>
            </a:r>
            <a:r>
              <a:rPr lang="he-IL" dirty="0"/>
              <a:t> אז תחליף את כל הבלוק שבתוך </a:t>
            </a:r>
            <a:r>
              <a:rPr lang="he-IL" dirty="0" err="1"/>
              <a:t>Routes</a:t>
            </a:r>
            <a:r>
              <a:rPr lang="he-IL" dirty="0"/>
              <a:t> </a:t>
            </a:r>
            <a:r>
              <a:rPr lang="he-IL" dirty="0" err="1"/>
              <a:t>בקומפוננטה</a:t>
            </a:r>
            <a:r>
              <a:rPr lang="he-IL" dirty="0"/>
              <a:t> </a:t>
            </a:r>
            <a:r>
              <a:rPr lang="he-IL" dirty="0" err="1"/>
              <a:t>Contact</a:t>
            </a:r>
            <a:r>
              <a:rPr lang="he-IL" dirty="0"/>
              <a:t>. </a:t>
            </a:r>
          </a:p>
          <a:p>
            <a:r>
              <a:rPr lang="he-IL" dirty="0"/>
              <a:t>את </a:t>
            </a:r>
            <a:r>
              <a:rPr lang="he-IL" dirty="0" err="1"/>
              <a:t>קומפוננטת</a:t>
            </a:r>
            <a:r>
              <a:rPr lang="he-IL" dirty="0"/>
              <a:t> </a:t>
            </a:r>
            <a:r>
              <a:rPr lang="he-IL" dirty="0" err="1"/>
              <a:t>BrowserRouter</a:t>
            </a:r>
            <a:r>
              <a:rPr lang="he-IL" dirty="0"/>
              <a:t> צריך לשים פעם אחת ביישום מסביב לכל </a:t>
            </a:r>
            <a:r>
              <a:rPr lang="he-IL" dirty="0" err="1"/>
              <a:t>הקומפוננטות</a:t>
            </a:r>
            <a:r>
              <a:rPr lang="he-IL" dirty="0"/>
              <a:t>, אבל את </a:t>
            </a:r>
            <a:r>
              <a:rPr lang="he-IL" dirty="0" err="1"/>
              <a:t>Routes</a:t>
            </a:r>
            <a:r>
              <a:rPr lang="he-IL" dirty="0"/>
              <a:t> ניתן לשים בכמה מקומות, וכל מקום בו אני שם </a:t>
            </a:r>
            <a:r>
              <a:rPr lang="he-IL" dirty="0" err="1"/>
              <a:t>Routes</a:t>
            </a:r>
            <a:r>
              <a:rPr lang="he-IL" dirty="0"/>
              <a:t> יוחלף </a:t>
            </a:r>
            <a:r>
              <a:rPr lang="he-IL" dirty="0" err="1"/>
              <a:t>בקומפוננטה</a:t>
            </a:r>
            <a:r>
              <a:rPr lang="he-IL" dirty="0"/>
              <a:t> שמתאימה לנתיב.</a:t>
            </a:r>
          </a:p>
        </p:txBody>
      </p:sp>
    </p:spTree>
    <p:extLst>
      <p:ext uri="{BB962C8B-B14F-4D97-AF65-F5344CB8AC3E}">
        <p14:creationId xmlns:p14="http://schemas.microsoft.com/office/powerpoint/2010/main" val="271293344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לבן 1">
            <a:extLst>
              <a:ext uri="{FF2B5EF4-FFF2-40B4-BE49-F238E27FC236}">
                <a16:creationId xmlns:a16="http://schemas.microsoft.com/office/drawing/2014/main" id="{CD06E9F5-D2DD-407E-B922-8847C091CC40}"/>
              </a:ext>
            </a:extLst>
          </p:cNvPr>
          <p:cNvSpPr/>
          <p:nvPr/>
        </p:nvSpPr>
        <p:spPr>
          <a:xfrm>
            <a:off x="8568759" y="775454"/>
            <a:ext cx="1495922" cy="369332"/>
          </a:xfrm>
          <a:prstGeom prst="rect">
            <a:avLst/>
          </a:prstGeom>
        </p:spPr>
        <p:txBody>
          <a:bodyPr wrap="none">
            <a:spAutoFit/>
          </a:bodyPr>
          <a:lstStyle/>
          <a:p>
            <a:pPr algn="l"/>
            <a:r>
              <a:rPr lang="he-IL" dirty="0">
                <a:latin typeface="Alef"/>
              </a:rPr>
              <a:t>מעבר בין דפים</a:t>
            </a:r>
            <a:endParaRPr lang="he-IL" b="0" i="0" dirty="0">
              <a:effectLst/>
              <a:latin typeface="Alef"/>
            </a:endParaRPr>
          </a:p>
        </p:txBody>
      </p:sp>
      <p:sp>
        <p:nvSpPr>
          <p:cNvPr id="4" name="מלבן 3">
            <a:extLst>
              <a:ext uri="{FF2B5EF4-FFF2-40B4-BE49-F238E27FC236}">
                <a16:creationId xmlns:a16="http://schemas.microsoft.com/office/drawing/2014/main" id="{100BE688-40EA-4DCB-8EEC-CB818C91BA6A}"/>
              </a:ext>
            </a:extLst>
          </p:cNvPr>
          <p:cNvSpPr/>
          <p:nvPr/>
        </p:nvSpPr>
        <p:spPr>
          <a:xfrm>
            <a:off x="2194560" y="1506419"/>
            <a:ext cx="8361680" cy="2031325"/>
          </a:xfrm>
          <a:prstGeom prst="rect">
            <a:avLst/>
          </a:prstGeom>
        </p:spPr>
        <p:txBody>
          <a:bodyPr wrap="square">
            <a:spAutoFit/>
          </a:bodyPr>
          <a:lstStyle/>
          <a:p>
            <a:r>
              <a:rPr lang="he-IL" dirty="0"/>
              <a:t>כשאנחנו עוברים בין דפים באמצעות שינוי שורת הכתובת בדפדפן או באמצעות אלמנט a, הדפדפן פונה מחדש לשרת וטוען את העמוד שמתאים לכתובת החדשה. </a:t>
            </a:r>
          </a:p>
          <a:p>
            <a:r>
              <a:rPr lang="he-IL" dirty="0"/>
              <a:t>בגלל שהשרת הוא שרת פיתוח של </a:t>
            </a:r>
            <a:r>
              <a:rPr lang="he-IL" dirty="0" err="1"/>
              <a:t>create-react-app</a:t>
            </a:r>
            <a:r>
              <a:rPr lang="he-IL" dirty="0"/>
              <a:t>, השרת הזה יודע להגיש תמיד את אותו קובץ HTML, ולכן אנחנו מקבלים את אותה אפליקציה בעמוד שמתאים לכתובת החדשה.</a:t>
            </a:r>
          </a:p>
          <a:p>
            <a:r>
              <a:rPr lang="he-IL" dirty="0"/>
              <a:t> אבל זה מנגנון בזבזני - הרי יש לי כבר בדפדפן את כל </a:t>
            </a:r>
            <a:r>
              <a:rPr lang="he-IL" dirty="0" err="1"/>
              <a:t>הקומפוננטות</a:t>
            </a:r>
            <a:r>
              <a:rPr lang="he-IL" dirty="0"/>
              <a:t> וכל המידע שצריך בשביל להציג את העמוד הבא, בשביל מה לי ללכת שוב לשרת רק כדי לקבל את אותם קבצי </a:t>
            </a:r>
            <a:r>
              <a:rPr lang="he-IL" dirty="0" err="1"/>
              <a:t>js</a:t>
            </a:r>
            <a:r>
              <a:rPr lang="he-IL" dirty="0"/>
              <a:t>, </a:t>
            </a:r>
            <a:r>
              <a:rPr lang="he-IL" dirty="0" err="1"/>
              <a:t>css</a:t>
            </a:r>
            <a:r>
              <a:rPr lang="he-IL" dirty="0"/>
              <a:t> ו </a:t>
            </a:r>
            <a:r>
              <a:rPr lang="he-IL" dirty="0" err="1"/>
              <a:t>html</a:t>
            </a:r>
            <a:r>
              <a:rPr lang="he-IL" dirty="0"/>
              <a:t> שכבר יש לי?</a:t>
            </a:r>
          </a:p>
        </p:txBody>
      </p:sp>
      <p:sp>
        <p:nvSpPr>
          <p:cNvPr id="6" name="מלבן 5">
            <a:extLst>
              <a:ext uri="{FF2B5EF4-FFF2-40B4-BE49-F238E27FC236}">
                <a16:creationId xmlns:a16="http://schemas.microsoft.com/office/drawing/2014/main" id="{E16AC196-301D-4338-B1E8-3F59861EAA8A}"/>
              </a:ext>
            </a:extLst>
          </p:cNvPr>
          <p:cNvSpPr/>
          <p:nvPr/>
        </p:nvSpPr>
        <p:spPr>
          <a:xfrm>
            <a:off x="2123440" y="4151252"/>
            <a:ext cx="8432800" cy="923330"/>
          </a:xfrm>
          <a:prstGeom prst="rect">
            <a:avLst/>
          </a:prstGeom>
        </p:spPr>
        <p:txBody>
          <a:bodyPr wrap="square">
            <a:spAutoFit/>
          </a:bodyPr>
          <a:lstStyle/>
          <a:p>
            <a:r>
              <a:rPr lang="he-IL" dirty="0" err="1"/>
              <a:t>קומפוננטה</a:t>
            </a:r>
            <a:r>
              <a:rPr lang="he-IL" dirty="0"/>
              <a:t> מיוחדת של </a:t>
            </a:r>
            <a:r>
              <a:rPr lang="he-IL" dirty="0" err="1"/>
              <a:t>react-router</a:t>
            </a:r>
            <a:r>
              <a:rPr lang="he-IL" dirty="0"/>
              <a:t> בשם </a:t>
            </a:r>
            <a:r>
              <a:rPr lang="he-IL" dirty="0" err="1"/>
              <a:t>Link</a:t>
            </a:r>
            <a:r>
              <a:rPr lang="he-IL" dirty="0"/>
              <a:t> מציעה בדיוק את האופטימיזציה הזו.</a:t>
            </a:r>
          </a:p>
          <a:p>
            <a:r>
              <a:rPr lang="he-IL" dirty="0"/>
              <a:t> היא מקבלת מאפיין </a:t>
            </a:r>
            <a:r>
              <a:rPr lang="he-IL" dirty="0" err="1"/>
              <a:t>to</a:t>
            </a:r>
            <a:r>
              <a:rPr lang="he-IL" dirty="0"/>
              <a:t> שאומר לאיזה כתובת צריך לעבור, ומשנה רק את הכתובת בדפדפן ואת </a:t>
            </a:r>
            <a:r>
              <a:rPr lang="he-IL" dirty="0" err="1"/>
              <a:t>הקומפוננטה</a:t>
            </a:r>
            <a:r>
              <a:rPr lang="he-IL" dirty="0"/>
              <a:t> שמוצגת, בלי לעבור דרך השרת.</a:t>
            </a:r>
          </a:p>
        </p:txBody>
      </p:sp>
    </p:spTree>
    <p:extLst>
      <p:ext uri="{BB962C8B-B14F-4D97-AF65-F5344CB8AC3E}">
        <p14:creationId xmlns:p14="http://schemas.microsoft.com/office/powerpoint/2010/main" val="276194070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a:extLst>
              <a:ext uri="{FF2B5EF4-FFF2-40B4-BE49-F238E27FC236}">
                <a16:creationId xmlns:a16="http://schemas.microsoft.com/office/drawing/2014/main" id="{1AA69671-BB29-4004-9A09-2E34F0B7AD75}"/>
              </a:ext>
            </a:extLst>
          </p:cNvPr>
          <p:cNvPicPr>
            <a:picLocks noChangeAspect="1"/>
          </p:cNvPicPr>
          <p:nvPr/>
        </p:nvPicPr>
        <p:blipFill>
          <a:blip r:embed="rId2"/>
          <a:stretch>
            <a:fillRect/>
          </a:stretch>
        </p:blipFill>
        <p:spPr>
          <a:xfrm>
            <a:off x="2733041" y="589879"/>
            <a:ext cx="7333744" cy="2025333"/>
          </a:xfrm>
          <a:prstGeom prst="rect">
            <a:avLst/>
          </a:prstGeom>
        </p:spPr>
      </p:pic>
    </p:spTree>
    <p:extLst>
      <p:ext uri="{BB962C8B-B14F-4D97-AF65-F5344CB8AC3E}">
        <p14:creationId xmlns:p14="http://schemas.microsoft.com/office/powerpoint/2010/main" val="48717974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לבן 1">
            <a:extLst>
              <a:ext uri="{FF2B5EF4-FFF2-40B4-BE49-F238E27FC236}">
                <a16:creationId xmlns:a16="http://schemas.microsoft.com/office/drawing/2014/main" id="{77F54CCC-D8AF-479E-B94B-8908DB1060D8}"/>
              </a:ext>
            </a:extLst>
          </p:cNvPr>
          <p:cNvSpPr/>
          <p:nvPr/>
        </p:nvSpPr>
        <p:spPr>
          <a:xfrm>
            <a:off x="4602480" y="735876"/>
            <a:ext cx="6096000" cy="1200329"/>
          </a:xfrm>
          <a:prstGeom prst="rect">
            <a:avLst/>
          </a:prstGeom>
        </p:spPr>
        <p:txBody>
          <a:bodyPr>
            <a:spAutoFit/>
          </a:bodyPr>
          <a:lstStyle/>
          <a:p>
            <a:r>
              <a:rPr lang="he-IL" dirty="0">
                <a:solidFill>
                  <a:srgbClr val="000000"/>
                </a:solidFill>
                <a:latin typeface="Rubik"/>
              </a:rPr>
              <a:t>מסלולים מקוננים ב-</a:t>
            </a:r>
            <a:r>
              <a:rPr lang="en-US" dirty="0">
                <a:solidFill>
                  <a:srgbClr val="000000"/>
                </a:solidFill>
                <a:latin typeface="Rubik"/>
              </a:rPr>
              <a:t> React Router </a:t>
            </a:r>
            <a:r>
              <a:rPr lang="he-IL" dirty="0">
                <a:solidFill>
                  <a:srgbClr val="000000"/>
                </a:solidFill>
                <a:latin typeface="Rubik"/>
              </a:rPr>
              <a:t>מאפשרים לך להגדיר מסלולים בתוך מסלולים אחרים, תוך יצירת מבנה היררכי עבור היישום. </a:t>
            </a:r>
          </a:p>
          <a:p>
            <a:r>
              <a:rPr lang="he-IL" dirty="0">
                <a:solidFill>
                  <a:srgbClr val="000000"/>
                </a:solidFill>
                <a:latin typeface="Rubik"/>
              </a:rPr>
              <a:t>זה שימושי כאשר יש רכיבים שצריך לעבד בתוך רכיב אב.</a:t>
            </a:r>
            <a:br>
              <a:rPr lang="he-IL" dirty="0"/>
            </a:br>
            <a:endParaRPr lang="he-IL" dirty="0"/>
          </a:p>
        </p:txBody>
      </p:sp>
      <p:pic>
        <p:nvPicPr>
          <p:cNvPr id="3" name="תמונה 2">
            <a:extLst>
              <a:ext uri="{FF2B5EF4-FFF2-40B4-BE49-F238E27FC236}">
                <a16:creationId xmlns:a16="http://schemas.microsoft.com/office/drawing/2014/main" id="{52BF3C58-30D8-4191-8845-A93F4A581B84}"/>
              </a:ext>
            </a:extLst>
          </p:cNvPr>
          <p:cNvPicPr>
            <a:picLocks noChangeAspect="1"/>
          </p:cNvPicPr>
          <p:nvPr/>
        </p:nvPicPr>
        <p:blipFill>
          <a:blip r:embed="rId2"/>
          <a:stretch>
            <a:fillRect/>
          </a:stretch>
        </p:blipFill>
        <p:spPr>
          <a:xfrm>
            <a:off x="2074334" y="2054806"/>
            <a:ext cx="8509981" cy="3329993"/>
          </a:xfrm>
          <a:prstGeom prst="rect">
            <a:avLst/>
          </a:prstGeom>
        </p:spPr>
      </p:pic>
    </p:spTree>
    <p:extLst>
      <p:ext uri="{BB962C8B-B14F-4D97-AF65-F5344CB8AC3E}">
        <p14:creationId xmlns:p14="http://schemas.microsoft.com/office/powerpoint/2010/main" val="346450299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לבן 2">
            <a:extLst>
              <a:ext uri="{FF2B5EF4-FFF2-40B4-BE49-F238E27FC236}">
                <a16:creationId xmlns:a16="http://schemas.microsoft.com/office/drawing/2014/main" id="{4DA21DEF-0B1A-4940-87D5-F14E38984E23}"/>
              </a:ext>
            </a:extLst>
          </p:cNvPr>
          <p:cNvSpPr/>
          <p:nvPr/>
        </p:nvSpPr>
        <p:spPr>
          <a:xfrm>
            <a:off x="3088640" y="1176496"/>
            <a:ext cx="7548880" cy="1200329"/>
          </a:xfrm>
          <a:prstGeom prst="rect">
            <a:avLst/>
          </a:prstGeom>
        </p:spPr>
        <p:txBody>
          <a:bodyPr wrap="square">
            <a:spAutoFit/>
          </a:bodyPr>
          <a:lstStyle/>
          <a:p>
            <a:r>
              <a:rPr lang="he-IL" dirty="0"/>
              <a:t>אנחנו יכולים לראות ש </a:t>
            </a:r>
            <a:r>
              <a:rPr lang="he-IL" dirty="0" err="1"/>
              <a:t>NewTask</a:t>
            </a:r>
            <a:r>
              <a:rPr lang="he-IL" dirty="0"/>
              <a:t> ו </a:t>
            </a:r>
            <a:r>
              <a:rPr lang="he-IL" dirty="0" err="1"/>
              <a:t>ViewTask</a:t>
            </a:r>
            <a:r>
              <a:rPr lang="he-IL" dirty="0"/>
              <a:t> הולכים להופיע בתור ילדים של </a:t>
            </a:r>
            <a:r>
              <a:rPr lang="he-IL" dirty="0" err="1"/>
              <a:t>קומפוננטת</a:t>
            </a:r>
            <a:r>
              <a:rPr lang="he-IL" dirty="0"/>
              <a:t> </a:t>
            </a:r>
            <a:r>
              <a:rPr lang="he-IL" dirty="0" err="1"/>
              <a:t>TasksPage</a:t>
            </a:r>
            <a:r>
              <a:rPr lang="he-IL" dirty="0"/>
              <a:t>, ושיש קשר בין הדברים. </a:t>
            </a:r>
          </a:p>
          <a:p>
            <a:r>
              <a:rPr lang="he-IL" dirty="0"/>
              <a:t>אנחנו גם רואים איך לא צריך לחזור על התחילית /</a:t>
            </a:r>
            <a:r>
              <a:rPr lang="he-IL" dirty="0" err="1"/>
              <a:t>tasks</a:t>
            </a:r>
            <a:r>
              <a:rPr lang="he-IL" dirty="0"/>
              <a:t> כשמגדירים את נתיבי הילדים. </a:t>
            </a:r>
          </a:p>
        </p:txBody>
      </p:sp>
    </p:spTree>
    <p:extLst>
      <p:ext uri="{BB962C8B-B14F-4D97-AF65-F5344CB8AC3E}">
        <p14:creationId xmlns:p14="http://schemas.microsoft.com/office/powerpoint/2010/main" val="415405794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לבן 2">
            <a:extLst>
              <a:ext uri="{FF2B5EF4-FFF2-40B4-BE49-F238E27FC236}">
                <a16:creationId xmlns:a16="http://schemas.microsoft.com/office/drawing/2014/main" id="{336DD835-EDE7-4BAA-B01E-9558CF157BD4}"/>
              </a:ext>
            </a:extLst>
          </p:cNvPr>
          <p:cNvSpPr/>
          <p:nvPr/>
        </p:nvSpPr>
        <p:spPr>
          <a:xfrm>
            <a:off x="4846320" y="928916"/>
            <a:ext cx="6096000" cy="1477328"/>
          </a:xfrm>
          <a:prstGeom prst="rect">
            <a:avLst/>
          </a:prstGeom>
        </p:spPr>
        <p:txBody>
          <a:bodyPr>
            <a:spAutoFit/>
          </a:bodyPr>
          <a:lstStyle/>
          <a:p>
            <a:r>
              <a:rPr lang="he-IL" dirty="0"/>
              <a:t>אני רואה שאני מצליחה לגלוש לנתיב הראשי </a:t>
            </a:r>
            <a:r>
              <a:rPr lang="he-IL" dirty="0" err="1"/>
              <a:t>TasksPage</a:t>
            </a:r>
            <a:r>
              <a:rPr lang="he-IL" dirty="0"/>
              <a:t>, אבל עדיין לא רואה שם את רשימת המשימות ולא רואה דרך לגלוש לנתיבים הפנימיים. </a:t>
            </a:r>
          </a:p>
          <a:p>
            <a:r>
              <a:rPr lang="he-IL" dirty="0"/>
              <a:t>גם כשאני מנסה להכניס בשורת הכתובת ספציפית כתובת כמו /</a:t>
            </a:r>
            <a:r>
              <a:rPr lang="he-IL" dirty="0" err="1"/>
              <a:t>tasks</a:t>
            </a:r>
            <a:r>
              <a:rPr lang="he-IL" dirty="0"/>
              <a:t>/4 או /</a:t>
            </a:r>
            <a:r>
              <a:rPr lang="he-IL" dirty="0" err="1"/>
              <a:t>tasks</a:t>
            </a:r>
            <a:r>
              <a:rPr lang="he-IL" dirty="0"/>
              <a:t>/</a:t>
            </a:r>
            <a:r>
              <a:rPr lang="he-IL" dirty="0" err="1"/>
              <a:t>new</a:t>
            </a:r>
            <a:r>
              <a:rPr lang="he-IL" dirty="0"/>
              <a:t> אני תמיד מגיעה לאותו </a:t>
            </a:r>
            <a:r>
              <a:rPr lang="he-IL" dirty="0" err="1"/>
              <a:t>TasksPage</a:t>
            </a:r>
            <a:r>
              <a:rPr lang="he-IL" dirty="0"/>
              <a:t>.</a:t>
            </a:r>
          </a:p>
        </p:txBody>
      </p:sp>
      <p:sp>
        <p:nvSpPr>
          <p:cNvPr id="4" name="מלבן 3">
            <a:extLst>
              <a:ext uri="{FF2B5EF4-FFF2-40B4-BE49-F238E27FC236}">
                <a16:creationId xmlns:a16="http://schemas.microsoft.com/office/drawing/2014/main" id="{9744BAA8-786D-4702-9CCC-8A60EACDF1A4}"/>
              </a:ext>
            </a:extLst>
          </p:cNvPr>
          <p:cNvSpPr/>
          <p:nvPr/>
        </p:nvSpPr>
        <p:spPr>
          <a:xfrm>
            <a:off x="4917440" y="2779435"/>
            <a:ext cx="6096000" cy="2585323"/>
          </a:xfrm>
          <a:prstGeom prst="rect">
            <a:avLst/>
          </a:prstGeom>
        </p:spPr>
        <p:txBody>
          <a:bodyPr>
            <a:spAutoFit/>
          </a:bodyPr>
          <a:lstStyle/>
          <a:p>
            <a:r>
              <a:rPr lang="he-IL" dirty="0">
                <a:latin typeface="Assistant"/>
              </a:rPr>
              <a:t>הסיבה היא שכרגע </a:t>
            </a:r>
            <a:r>
              <a:rPr lang="en-US" dirty="0" err="1">
                <a:latin typeface="Assistant"/>
              </a:rPr>
              <a:t>TasksPage</a:t>
            </a:r>
            <a:r>
              <a:rPr lang="en-US" dirty="0">
                <a:latin typeface="Assistant"/>
              </a:rPr>
              <a:t> </a:t>
            </a:r>
            <a:r>
              <a:rPr lang="he-IL" dirty="0">
                <a:latin typeface="Assistant"/>
              </a:rPr>
              <a:t> לא מגדיר בשום מקום איפה צריך "להכניס" את הילדים שלו, ולכן </a:t>
            </a:r>
            <a:r>
              <a:rPr lang="he-IL" dirty="0" err="1">
                <a:latin typeface="Assistant"/>
              </a:rPr>
              <a:t>ריאקט</a:t>
            </a:r>
            <a:r>
              <a:rPr lang="he-IL" dirty="0">
                <a:latin typeface="Assistant"/>
              </a:rPr>
              <a:t> </a:t>
            </a:r>
            <a:r>
              <a:rPr lang="he-IL" dirty="0" err="1">
                <a:latin typeface="Assistant"/>
              </a:rPr>
              <a:t>ראוטר</a:t>
            </a:r>
            <a:r>
              <a:rPr lang="he-IL" dirty="0">
                <a:latin typeface="Assistant"/>
              </a:rPr>
              <a:t> מציג אותו על המסך ומפסיק.</a:t>
            </a:r>
          </a:p>
          <a:p>
            <a:r>
              <a:rPr lang="he-IL" dirty="0">
                <a:latin typeface="Assistant"/>
              </a:rPr>
              <a:t> בשביל להציג נתיבים מקוננים, אנחנו צריכים להגיד </a:t>
            </a:r>
            <a:r>
              <a:rPr lang="he-IL" dirty="0" err="1">
                <a:latin typeface="Assistant"/>
              </a:rPr>
              <a:t>לריאקט</a:t>
            </a:r>
            <a:r>
              <a:rPr lang="he-IL" dirty="0">
                <a:latin typeface="Assistant"/>
              </a:rPr>
              <a:t> </a:t>
            </a:r>
            <a:r>
              <a:rPr lang="he-IL" dirty="0" err="1">
                <a:latin typeface="Assistant"/>
              </a:rPr>
              <a:t>ראוטר</a:t>
            </a:r>
            <a:r>
              <a:rPr lang="he-IL" dirty="0">
                <a:latin typeface="Assistant"/>
              </a:rPr>
              <a:t> איפה לשים את </a:t>
            </a:r>
            <a:r>
              <a:rPr lang="he-IL" dirty="0" err="1">
                <a:latin typeface="Assistant"/>
              </a:rPr>
              <a:t>הקומפוננטה</a:t>
            </a:r>
            <a:r>
              <a:rPr lang="he-IL" dirty="0">
                <a:latin typeface="Assistant"/>
              </a:rPr>
              <a:t> הפנימית יותר, כלומר איפה לשים את </a:t>
            </a:r>
            <a:r>
              <a:rPr lang="en-US" dirty="0">
                <a:latin typeface="Assistant"/>
              </a:rPr>
              <a:t>   </a:t>
            </a:r>
            <a:r>
              <a:rPr lang="en-US" dirty="0" err="1">
                <a:latin typeface="Assistant"/>
              </a:rPr>
              <a:t>NewTask</a:t>
            </a:r>
            <a:r>
              <a:rPr lang="en-US" dirty="0">
                <a:latin typeface="Assistant"/>
              </a:rPr>
              <a:t> </a:t>
            </a:r>
            <a:r>
              <a:rPr lang="he-IL" dirty="0">
                <a:latin typeface="Assistant"/>
              </a:rPr>
              <a:t>או את </a:t>
            </a:r>
            <a:r>
              <a:rPr lang="en-US" dirty="0">
                <a:latin typeface="Assistant"/>
              </a:rPr>
              <a:t> </a:t>
            </a:r>
            <a:r>
              <a:rPr lang="en-US" dirty="0" err="1">
                <a:latin typeface="Assistant"/>
              </a:rPr>
              <a:t>ViewTask</a:t>
            </a:r>
            <a:r>
              <a:rPr lang="en-US" dirty="0">
                <a:latin typeface="Assistant"/>
              </a:rPr>
              <a:t>. </a:t>
            </a:r>
            <a:r>
              <a:rPr lang="he-IL" dirty="0">
                <a:latin typeface="Assistant"/>
              </a:rPr>
              <a:t>אנחנו עושים את זה באמצעות הוספת </a:t>
            </a:r>
            <a:r>
              <a:rPr lang="he-IL" dirty="0" err="1">
                <a:latin typeface="Assistant"/>
              </a:rPr>
              <a:t>קומפוננטה</a:t>
            </a:r>
            <a:r>
              <a:rPr lang="he-IL" dirty="0">
                <a:latin typeface="Assistant"/>
              </a:rPr>
              <a:t> בשם </a:t>
            </a:r>
            <a:r>
              <a:rPr lang="en-US" dirty="0">
                <a:latin typeface="Assistant"/>
              </a:rPr>
              <a:t>Outlet </a:t>
            </a:r>
            <a:r>
              <a:rPr lang="he-IL" dirty="0">
                <a:latin typeface="Assistant"/>
              </a:rPr>
              <a:t>לנתיב </a:t>
            </a:r>
            <a:r>
              <a:rPr lang="en-US" dirty="0" err="1">
                <a:latin typeface="Assistant"/>
              </a:rPr>
              <a:t>TasksPage</a:t>
            </a:r>
            <a:r>
              <a:rPr lang="en-US" dirty="0">
                <a:latin typeface="Assistant"/>
              </a:rPr>
              <a:t>. </a:t>
            </a:r>
            <a:r>
              <a:rPr lang="he-IL" dirty="0">
                <a:latin typeface="Assistant"/>
              </a:rPr>
              <a:t>נעדכן את הקוד:</a:t>
            </a:r>
          </a:p>
          <a:p>
            <a:br>
              <a:rPr lang="he-IL" dirty="0"/>
            </a:br>
            <a:endParaRPr lang="he-IL" dirty="0"/>
          </a:p>
        </p:txBody>
      </p:sp>
    </p:spTree>
    <p:extLst>
      <p:ext uri="{BB962C8B-B14F-4D97-AF65-F5344CB8AC3E}">
        <p14:creationId xmlns:p14="http://schemas.microsoft.com/office/powerpoint/2010/main" val="119051806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43ACD7-C262-4031-A190-12D680E60C79}"/>
              </a:ext>
            </a:extLst>
          </p:cNvPr>
          <p:cNvSpPr txBox="1"/>
          <p:nvPr/>
        </p:nvSpPr>
        <p:spPr>
          <a:xfrm>
            <a:off x="2600960" y="335280"/>
            <a:ext cx="7701280" cy="2677656"/>
          </a:xfrm>
          <a:prstGeom prst="rect">
            <a:avLst/>
          </a:prstGeom>
          <a:noFill/>
        </p:spPr>
        <p:txBody>
          <a:bodyPr wrap="square" rtlCol="1">
            <a:spAutoFit/>
          </a:bodyPr>
          <a:lstStyle/>
          <a:p>
            <a:r>
              <a:rPr lang="en-US" sz="2400" b="1" u="sng" dirty="0" err="1"/>
              <a:t>useParams</a:t>
            </a:r>
            <a:endParaRPr lang="he-IL" sz="2400" b="1" u="sng" dirty="0"/>
          </a:p>
          <a:p>
            <a:endParaRPr lang="he-IL" dirty="0"/>
          </a:p>
          <a:p>
            <a:r>
              <a:rPr lang="he-IL" dirty="0"/>
              <a:t>הרבה פעמים נרצה לגשת מדף מרכזי שמכיל הרבה פריטים (לדוגמא דף משמות)</a:t>
            </a:r>
          </a:p>
          <a:p>
            <a:r>
              <a:rPr lang="he-IL" dirty="0"/>
              <a:t>למשימה ספציפית בניתוב חדש.</a:t>
            </a:r>
          </a:p>
          <a:p>
            <a:endParaRPr lang="he-IL" dirty="0"/>
          </a:p>
          <a:p>
            <a:r>
              <a:rPr lang="he-IL" dirty="0"/>
              <a:t>נוכל לעשות זאת באמצעות </a:t>
            </a:r>
            <a:r>
              <a:rPr lang="en-US" dirty="0" err="1"/>
              <a:t>useParams</a:t>
            </a:r>
            <a:endParaRPr lang="he-IL" dirty="0"/>
          </a:p>
          <a:p>
            <a:endParaRPr lang="he-IL" dirty="0"/>
          </a:p>
          <a:p>
            <a:endParaRPr lang="he-IL" dirty="0"/>
          </a:p>
          <a:p>
            <a:endParaRPr lang="he-IL" dirty="0"/>
          </a:p>
        </p:txBody>
      </p:sp>
      <p:pic>
        <p:nvPicPr>
          <p:cNvPr id="3" name="תמונה 2">
            <a:extLst>
              <a:ext uri="{FF2B5EF4-FFF2-40B4-BE49-F238E27FC236}">
                <a16:creationId xmlns:a16="http://schemas.microsoft.com/office/drawing/2014/main" id="{27FC39EF-3E76-4621-A4DC-174D185A8842}"/>
              </a:ext>
            </a:extLst>
          </p:cNvPr>
          <p:cNvPicPr>
            <a:picLocks noChangeAspect="1"/>
          </p:cNvPicPr>
          <p:nvPr/>
        </p:nvPicPr>
        <p:blipFill>
          <a:blip r:embed="rId2"/>
          <a:stretch>
            <a:fillRect/>
          </a:stretch>
        </p:blipFill>
        <p:spPr>
          <a:xfrm>
            <a:off x="3210560" y="4041088"/>
            <a:ext cx="7206153" cy="2148249"/>
          </a:xfrm>
          <a:prstGeom prst="rect">
            <a:avLst/>
          </a:prstGeom>
        </p:spPr>
      </p:pic>
      <p:pic>
        <p:nvPicPr>
          <p:cNvPr id="4" name="תמונה 3">
            <a:extLst>
              <a:ext uri="{FF2B5EF4-FFF2-40B4-BE49-F238E27FC236}">
                <a16:creationId xmlns:a16="http://schemas.microsoft.com/office/drawing/2014/main" id="{17FA5C48-59A6-4788-8A26-444C49210143}"/>
              </a:ext>
            </a:extLst>
          </p:cNvPr>
          <p:cNvPicPr>
            <a:picLocks noChangeAspect="1"/>
          </p:cNvPicPr>
          <p:nvPr/>
        </p:nvPicPr>
        <p:blipFill>
          <a:blip r:embed="rId3"/>
          <a:stretch>
            <a:fillRect/>
          </a:stretch>
        </p:blipFill>
        <p:spPr>
          <a:xfrm>
            <a:off x="3210560" y="3200158"/>
            <a:ext cx="7206153" cy="472693"/>
          </a:xfrm>
          <a:prstGeom prst="rect">
            <a:avLst/>
          </a:prstGeom>
        </p:spPr>
      </p:pic>
    </p:spTree>
    <p:extLst>
      <p:ext uri="{BB962C8B-B14F-4D97-AF65-F5344CB8AC3E}">
        <p14:creationId xmlns:p14="http://schemas.microsoft.com/office/powerpoint/2010/main" val="409955871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a:extLst>
              <a:ext uri="{FF2B5EF4-FFF2-40B4-BE49-F238E27FC236}">
                <a16:creationId xmlns:a16="http://schemas.microsoft.com/office/drawing/2014/main" id="{00DB3387-75A4-451F-9558-9DA9B16B1DFD}"/>
              </a:ext>
            </a:extLst>
          </p:cNvPr>
          <p:cNvPicPr>
            <a:picLocks noChangeAspect="1"/>
          </p:cNvPicPr>
          <p:nvPr/>
        </p:nvPicPr>
        <p:blipFill>
          <a:blip r:embed="rId2"/>
          <a:stretch>
            <a:fillRect/>
          </a:stretch>
        </p:blipFill>
        <p:spPr>
          <a:xfrm>
            <a:off x="3432778" y="3226376"/>
            <a:ext cx="6975631" cy="3245543"/>
          </a:xfrm>
          <a:prstGeom prst="rect">
            <a:avLst/>
          </a:prstGeom>
        </p:spPr>
      </p:pic>
      <p:sp>
        <p:nvSpPr>
          <p:cNvPr id="3" name="מלבן 2">
            <a:extLst>
              <a:ext uri="{FF2B5EF4-FFF2-40B4-BE49-F238E27FC236}">
                <a16:creationId xmlns:a16="http://schemas.microsoft.com/office/drawing/2014/main" id="{8F371442-BE15-4CB4-99CA-4DF37FD3FF5B}"/>
              </a:ext>
            </a:extLst>
          </p:cNvPr>
          <p:cNvSpPr/>
          <p:nvPr/>
        </p:nvSpPr>
        <p:spPr>
          <a:xfrm>
            <a:off x="8355254" y="562094"/>
            <a:ext cx="1821332" cy="369332"/>
          </a:xfrm>
          <a:prstGeom prst="rect">
            <a:avLst/>
          </a:prstGeom>
        </p:spPr>
        <p:txBody>
          <a:bodyPr wrap="none">
            <a:spAutoFit/>
          </a:bodyPr>
          <a:lstStyle/>
          <a:p>
            <a:pPr algn="l"/>
            <a:r>
              <a:rPr lang="he-IL" dirty="0">
                <a:latin typeface="Alef"/>
              </a:rPr>
              <a:t>הגדרת דף אינדקס</a:t>
            </a:r>
            <a:endParaRPr lang="he-IL" b="0" i="0" dirty="0">
              <a:effectLst/>
              <a:latin typeface="Alef"/>
            </a:endParaRPr>
          </a:p>
        </p:txBody>
      </p:sp>
      <p:sp>
        <p:nvSpPr>
          <p:cNvPr id="5" name="מלבן 4">
            <a:extLst>
              <a:ext uri="{FF2B5EF4-FFF2-40B4-BE49-F238E27FC236}">
                <a16:creationId xmlns:a16="http://schemas.microsoft.com/office/drawing/2014/main" id="{D74CED30-7E66-47EF-8EA9-CB40A86704AA}"/>
              </a:ext>
            </a:extLst>
          </p:cNvPr>
          <p:cNvSpPr/>
          <p:nvPr/>
        </p:nvSpPr>
        <p:spPr>
          <a:xfrm>
            <a:off x="4429760" y="1473815"/>
            <a:ext cx="6096000" cy="1200329"/>
          </a:xfrm>
          <a:prstGeom prst="rect">
            <a:avLst/>
          </a:prstGeom>
        </p:spPr>
        <p:txBody>
          <a:bodyPr>
            <a:spAutoFit/>
          </a:bodyPr>
          <a:lstStyle/>
          <a:p>
            <a:r>
              <a:rPr lang="he-IL" dirty="0"/>
              <a:t>בשביל להכניס תוכן לאזור המרכזי בקישור של דף המשימות אנחנו צריכים ליצור משהו ש </a:t>
            </a:r>
            <a:r>
              <a:rPr lang="he-IL" dirty="0" err="1"/>
              <a:t>react-router</a:t>
            </a:r>
            <a:r>
              <a:rPr lang="he-IL" dirty="0"/>
              <a:t> קורא לו דף אינדקס. </a:t>
            </a:r>
          </a:p>
          <a:p>
            <a:r>
              <a:rPr lang="he-IL" dirty="0"/>
              <a:t>זה פשוט ילד של /</a:t>
            </a:r>
            <a:r>
              <a:rPr lang="he-IL" dirty="0" err="1"/>
              <a:t>tasks</a:t>
            </a:r>
            <a:r>
              <a:rPr lang="he-IL" dirty="0"/>
              <a:t> שמחובר לנתיב הראשי ואין לו תת-נתיב משלו.</a:t>
            </a:r>
          </a:p>
        </p:txBody>
      </p:sp>
    </p:spTree>
    <p:extLst>
      <p:ext uri="{BB962C8B-B14F-4D97-AF65-F5344CB8AC3E}">
        <p14:creationId xmlns:p14="http://schemas.microsoft.com/office/powerpoint/2010/main" val="49728676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לבן 1">
            <a:extLst>
              <a:ext uri="{FF2B5EF4-FFF2-40B4-BE49-F238E27FC236}">
                <a16:creationId xmlns:a16="http://schemas.microsoft.com/office/drawing/2014/main" id="{733F35C7-E420-49F9-B2CF-FB9AA302360A}"/>
              </a:ext>
            </a:extLst>
          </p:cNvPr>
          <p:cNvSpPr/>
          <p:nvPr/>
        </p:nvSpPr>
        <p:spPr>
          <a:xfrm>
            <a:off x="4947920" y="841216"/>
            <a:ext cx="6096000" cy="1477328"/>
          </a:xfrm>
          <a:prstGeom prst="rect">
            <a:avLst/>
          </a:prstGeom>
        </p:spPr>
        <p:txBody>
          <a:bodyPr>
            <a:spAutoFit/>
          </a:bodyPr>
          <a:lstStyle/>
          <a:p>
            <a:r>
              <a:rPr lang="he-IL" dirty="0">
                <a:solidFill>
                  <a:srgbClr val="374151"/>
                </a:solidFill>
                <a:latin typeface="Assistant"/>
              </a:rPr>
              <a:t>במקרים רבים כשהאפליקציה כבר מתפקדת אנחנו צריכים מתוך הקוד לנווט את המשתמש לנתיבים אחרים באפליקציה. בשיעור זה נראה איך לטפל בניתובים אלה באמצעות </a:t>
            </a:r>
            <a:r>
              <a:rPr lang="en-US" dirty="0">
                <a:solidFill>
                  <a:srgbClr val="374151"/>
                </a:solidFill>
                <a:latin typeface="Assistant"/>
              </a:rPr>
              <a:t>React Router.</a:t>
            </a:r>
          </a:p>
          <a:p>
            <a:br>
              <a:rPr lang="en-US" dirty="0">
                <a:solidFill>
                  <a:srgbClr val="374151"/>
                </a:solidFill>
                <a:latin typeface="Assistant"/>
              </a:rPr>
            </a:br>
            <a:endParaRPr lang="he-IL" dirty="0"/>
          </a:p>
        </p:txBody>
      </p:sp>
      <p:sp>
        <p:nvSpPr>
          <p:cNvPr id="3" name="מלבן 2">
            <a:extLst>
              <a:ext uri="{FF2B5EF4-FFF2-40B4-BE49-F238E27FC236}">
                <a16:creationId xmlns:a16="http://schemas.microsoft.com/office/drawing/2014/main" id="{C80C3141-92CF-410E-B501-F3A250CA0DA2}"/>
              </a:ext>
            </a:extLst>
          </p:cNvPr>
          <p:cNvSpPr/>
          <p:nvPr/>
        </p:nvSpPr>
        <p:spPr>
          <a:xfrm>
            <a:off x="9384427" y="2133878"/>
            <a:ext cx="1659493" cy="369332"/>
          </a:xfrm>
          <a:prstGeom prst="rect">
            <a:avLst/>
          </a:prstGeom>
        </p:spPr>
        <p:txBody>
          <a:bodyPr wrap="none">
            <a:spAutoFit/>
          </a:bodyPr>
          <a:lstStyle/>
          <a:p>
            <a:pPr algn="l"/>
            <a:r>
              <a:rPr lang="he-IL" dirty="0">
                <a:latin typeface="Alef"/>
              </a:rPr>
              <a:t>אלמנט </a:t>
            </a:r>
            <a:r>
              <a:rPr lang="en-US" dirty="0">
                <a:latin typeface="Alef"/>
              </a:rPr>
              <a:t>Navigate</a:t>
            </a:r>
            <a:endParaRPr lang="en-US" b="0" i="0" dirty="0">
              <a:effectLst/>
              <a:latin typeface="Alef"/>
            </a:endParaRPr>
          </a:p>
        </p:txBody>
      </p:sp>
      <p:sp>
        <p:nvSpPr>
          <p:cNvPr id="4" name="מלבן 3">
            <a:extLst>
              <a:ext uri="{FF2B5EF4-FFF2-40B4-BE49-F238E27FC236}">
                <a16:creationId xmlns:a16="http://schemas.microsoft.com/office/drawing/2014/main" id="{D4D25147-2554-4281-B098-94D82A19A023}"/>
              </a:ext>
            </a:extLst>
          </p:cNvPr>
          <p:cNvSpPr/>
          <p:nvPr/>
        </p:nvSpPr>
        <p:spPr>
          <a:xfrm>
            <a:off x="5100320" y="2503210"/>
            <a:ext cx="6096000" cy="4247317"/>
          </a:xfrm>
          <a:prstGeom prst="rect">
            <a:avLst/>
          </a:prstGeom>
        </p:spPr>
        <p:txBody>
          <a:bodyPr>
            <a:spAutoFit/>
          </a:bodyPr>
          <a:lstStyle/>
          <a:p>
            <a:r>
              <a:rPr lang="he-IL" dirty="0">
                <a:latin typeface="Assistant"/>
              </a:rPr>
              <a:t>הדרך הראשונה לנווט בצורה אוטומטית בין דפים היא באמצעות </a:t>
            </a:r>
            <a:r>
              <a:rPr lang="he-IL" dirty="0" err="1">
                <a:latin typeface="Assistant"/>
              </a:rPr>
              <a:t>קומפוננטה</a:t>
            </a:r>
            <a:r>
              <a:rPr lang="he-IL" dirty="0">
                <a:latin typeface="Assistant"/>
              </a:rPr>
              <a:t> של </a:t>
            </a:r>
            <a:r>
              <a:rPr lang="he-IL" dirty="0" err="1">
                <a:latin typeface="Assistant"/>
              </a:rPr>
              <a:t>ריאקט</a:t>
            </a:r>
            <a:r>
              <a:rPr lang="he-IL" dirty="0">
                <a:latin typeface="Assistant"/>
              </a:rPr>
              <a:t> </a:t>
            </a:r>
            <a:r>
              <a:rPr lang="he-IL" dirty="0" err="1">
                <a:latin typeface="Assistant"/>
              </a:rPr>
              <a:t>ראוטר</a:t>
            </a:r>
            <a:r>
              <a:rPr lang="he-IL" dirty="0">
                <a:latin typeface="Assistant"/>
              </a:rPr>
              <a:t> שנקראת </a:t>
            </a:r>
            <a:r>
              <a:rPr lang="en-US" dirty="0">
                <a:latin typeface="Assistant"/>
              </a:rPr>
              <a:t>Navigate. </a:t>
            </a:r>
            <a:r>
              <a:rPr lang="he-IL" dirty="0">
                <a:latin typeface="Assistant"/>
              </a:rPr>
              <a:t>אם </a:t>
            </a:r>
            <a:r>
              <a:rPr lang="he-IL" dirty="0" err="1">
                <a:latin typeface="Assistant"/>
              </a:rPr>
              <a:t>נרנדר</a:t>
            </a:r>
            <a:r>
              <a:rPr lang="he-IL" dirty="0">
                <a:latin typeface="Assistant"/>
              </a:rPr>
              <a:t> את </a:t>
            </a:r>
            <a:r>
              <a:rPr lang="he-IL" dirty="0" err="1">
                <a:latin typeface="Assistant"/>
              </a:rPr>
              <a:t>הקומפוננטה</a:t>
            </a:r>
            <a:r>
              <a:rPr lang="he-IL" dirty="0">
                <a:latin typeface="Assistant"/>
              </a:rPr>
              <a:t> הזאת בעץ שלנו אז </a:t>
            </a:r>
            <a:r>
              <a:rPr lang="he-IL" dirty="0" err="1">
                <a:latin typeface="Assistant"/>
              </a:rPr>
              <a:t>ריאקט</a:t>
            </a:r>
            <a:r>
              <a:rPr lang="he-IL" dirty="0">
                <a:latin typeface="Assistant"/>
              </a:rPr>
              <a:t> </a:t>
            </a:r>
            <a:r>
              <a:rPr lang="he-IL" dirty="0" err="1">
                <a:latin typeface="Assistant"/>
              </a:rPr>
              <a:t>ראוטר</a:t>
            </a:r>
            <a:r>
              <a:rPr lang="he-IL" dirty="0">
                <a:latin typeface="Assistant"/>
              </a:rPr>
              <a:t> ינתב את המשתמש למאפיין </a:t>
            </a:r>
            <a:r>
              <a:rPr lang="en-US" dirty="0">
                <a:latin typeface="Assistant"/>
              </a:rPr>
              <a:t>to </a:t>
            </a:r>
            <a:r>
              <a:rPr lang="he-IL" dirty="0">
                <a:latin typeface="Assistant"/>
              </a:rPr>
              <a:t>של </a:t>
            </a:r>
            <a:r>
              <a:rPr lang="en-US" dirty="0">
                <a:latin typeface="Assistant"/>
              </a:rPr>
              <a:t>Navigate.</a:t>
            </a:r>
          </a:p>
          <a:p>
            <a:r>
              <a:rPr lang="he-IL" dirty="0">
                <a:latin typeface="Assistant"/>
              </a:rPr>
              <a:t>אנחנו משתמשים ב </a:t>
            </a:r>
            <a:r>
              <a:rPr lang="en-US" dirty="0">
                <a:latin typeface="Assistant"/>
              </a:rPr>
              <a:t>Navigate </a:t>
            </a:r>
            <a:r>
              <a:rPr lang="he-IL" dirty="0">
                <a:latin typeface="Assistant"/>
              </a:rPr>
              <a:t> כשמשתמש הגיע למקום שלא היה צריך להגיע ורוצים לשלוח אותו חזרה למקום מבטחים. </a:t>
            </a:r>
          </a:p>
          <a:p>
            <a:r>
              <a:rPr lang="he-IL" dirty="0">
                <a:latin typeface="Assistant"/>
              </a:rPr>
              <a:t>לדוגמה במערכת שיש בה ניהול משתמשים ואולי חלק מהמסכים מוגבלים רק למשתמשים רשומים, נוכל </a:t>
            </a:r>
            <a:r>
              <a:rPr lang="he-IL" dirty="0" err="1">
                <a:latin typeface="Assistant"/>
              </a:rPr>
              <a:t>לרנדר</a:t>
            </a:r>
            <a:r>
              <a:rPr lang="he-IL" dirty="0">
                <a:latin typeface="Assistant"/>
              </a:rPr>
              <a:t> את </a:t>
            </a:r>
            <a:r>
              <a:rPr lang="en-US" dirty="0">
                <a:latin typeface="Assistant"/>
              </a:rPr>
              <a:t>Navigate </a:t>
            </a:r>
            <a:r>
              <a:rPr lang="he-IL" dirty="0">
                <a:latin typeface="Assistant"/>
              </a:rPr>
              <a:t>כדי לשלוח החוצה משתמשים שאינם מורשים לצפות בנתיב מסוים.</a:t>
            </a:r>
          </a:p>
          <a:p>
            <a:r>
              <a:rPr lang="he-IL" dirty="0">
                <a:latin typeface="Assistant"/>
              </a:rPr>
              <a:t>בקוד המשימות שכתבנו נוכל להשתמש ב </a:t>
            </a:r>
            <a:r>
              <a:rPr lang="en-US" dirty="0">
                <a:latin typeface="Assistant"/>
              </a:rPr>
              <a:t>Navigate </a:t>
            </a:r>
            <a:r>
              <a:rPr lang="he-IL" dirty="0">
                <a:latin typeface="Assistant"/>
              </a:rPr>
              <a:t>כדי שאם משתמש מנסה לגשת למשימה שאינה קיימת, נשלח אותו למסך יצירת משימה חדשה במקום להציג שגיאה. </a:t>
            </a:r>
            <a:r>
              <a:rPr lang="he-IL" dirty="0" err="1">
                <a:latin typeface="Assistant"/>
              </a:rPr>
              <a:t>זיכרו</a:t>
            </a:r>
            <a:r>
              <a:rPr lang="he-IL" dirty="0">
                <a:latin typeface="Assistant"/>
              </a:rPr>
              <a:t> שהקוד של נראה כך </a:t>
            </a:r>
            <a:r>
              <a:rPr lang="en-US" dirty="0" err="1">
                <a:latin typeface="Assistant"/>
              </a:rPr>
              <a:t>ViewTask</a:t>
            </a:r>
            <a:r>
              <a:rPr lang="he-IL" dirty="0">
                <a:latin typeface="Assistant"/>
              </a:rPr>
              <a:t>:</a:t>
            </a:r>
          </a:p>
          <a:p>
            <a:br>
              <a:rPr lang="he-IL" dirty="0"/>
            </a:br>
            <a:endParaRPr lang="he-IL" dirty="0"/>
          </a:p>
        </p:txBody>
      </p:sp>
    </p:spTree>
    <p:extLst>
      <p:ext uri="{BB962C8B-B14F-4D97-AF65-F5344CB8AC3E}">
        <p14:creationId xmlns:p14="http://schemas.microsoft.com/office/powerpoint/2010/main" val="292706626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תמונה 4">
            <a:extLst>
              <a:ext uri="{FF2B5EF4-FFF2-40B4-BE49-F238E27FC236}">
                <a16:creationId xmlns:a16="http://schemas.microsoft.com/office/drawing/2014/main" id="{18EF5BB6-DB3A-46F0-926F-15201DDC4DC5}"/>
              </a:ext>
            </a:extLst>
          </p:cNvPr>
          <p:cNvPicPr>
            <a:picLocks noChangeAspect="1"/>
          </p:cNvPicPr>
          <p:nvPr/>
        </p:nvPicPr>
        <p:blipFill>
          <a:blip r:embed="rId2"/>
          <a:stretch>
            <a:fillRect/>
          </a:stretch>
        </p:blipFill>
        <p:spPr>
          <a:xfrm>
            <a:off x="4621923" y="837539"/>
            <a:ext cx="6252562" cy="1458621"/>
          </a:xfrm>
          <a:prstGeom prst="rect">
            <a:avLst/>
          </a:prstGeom>
        </p:spPr>
      </p:pic>
    </p:spTree>
    <p:extLst>
      <p:ext uri="{BB962C8B-B14F-4D97-AF65-F5344CB8AC3E}">
        <p14:creationId xmlns:p14="http://schemas.microsoft.com/office/powerpoint/2010/main" val="61076436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לבן 1">
            <a:extLst>
              <a:ext uri="{FF2B5EF4-FFF2-40B4-BE49-F238E27FC236}">
                <a16:creationId xmlns:a16="http://schemas.microsoft.com/office/drawing/2014/main" id="{70ABB9E0-1270-48FE-A093-C15798B7DD1C}"/>
              </a:ext>
            </a:extLst>
          </p:cNvPr>
          <p:cNvSpPr/>
          <p:nvPr/>
        </p:nvSpPr>
        <p:spPr>
          <a:xfrm>
            <a:off x="8282117" y="978654"/>
            <a:ext cx="2231765" cy="369332"/>
          </a:xfrm>
          <a:prstGeom prst="rect">
            <a:avLst/>
          </a:prstGeom>
        </p:spPr>
        <p:txBody>
          <a:bodyPr wrap="square">
            <a:spAutoFit/>
          </a:bodyPr>
          <a:lstStyle/>
          <a:p>
            <a:pPr algn="l"/>
            <a:r>
              <a:rPr lang="he-IL">
                <a:latin typeface="Alef"/>
              </a:rPr>
              <a:t>הפונקציה </a:t>
            </a:r>
            <a:r>
              <a:rPr lang="en-US">
                <a:latin typeface="Alef"/>
              </a:rPr>
              <a:t>useNavigate</a:t>
            </a:r>
            <a:endParaRPr lang="en-US" b="0" i="0" dirty="0">
              <a:effectLst/>
              <a:latin typeface="Alef"/>
            </a:endParaRPr>
          </a:p>
        </p:txBody>
      </p:sp>
      <p:sp>
        <p:nvSpPr>
          <p:cNvPr id="3" name="מלבן 2">
            <a:extLst>
              <a:ext uri="{FF2B5EF4-FFF2-40B4-BE49-F238E27FC236}">
                <a16:creationId xmlns:a16="http://schemas.microsoft.com/office/drawing/2014/main" id="{3386F760-BD20-4FDA-9354-83E9BA9C1CDA}"/>
              </a:ext>
            </a:extLst>
          </p:cNvPr>
          <p:cNvSpPr/>
          <p:nvPr/>
        </p:nvSpPr>
        <p:spPr>
          <a:xfrm>
            <a:off x="4551680" y="1758295"/>
            <a:ext cx="6096000" cy="923330"/>
          </a:xfrm>
          <a:prstGeom prst="rect">
            <a:avLst/>
          </a:prstGeom>
        </p:spPr>
        <p:txBody>
          <a:bodyPr>
            <a:spAutoFit/>
          </a:bodyPr>
          <a:lstStyle/>
          <a:p>
            <a:r>
              <a:rPr lang="he-IL" dirty="0"/>
              <a:t>מקום נוסף בו נרצה לנווט לדף אחר הוא ב </a:t>
            </a:r>
            <a:r>
              <a:rPr lang="he-IL" dirty="0" err="1"/>
              <a:t>Event</a:t>
            </a:r>
            <a:r>
              <a:rPr lang="he-IL" dirty="0"/>
              <a:t> </a:t>
            </a:r>
            <a:r>
              <a:rPr lang="he-IL" dirty="0" err="1"/>
              <a:t>Handlers</a:t>
            </a:r>
            <a:r>
              <a:rPr lang="he-IL" dirty="0"/>
              <a:t>: לדוגמה משתמש יוצר משימה חדשה, ואנחנו רוצים לנווט החוצה מטופס יצירת המשימה אל דף המשימה עצמה שנוצרה.</a:t>
            </a:r>
          </a:p>
        </p:txBody>
      </p:sp>
      <p:sp>
        <p:nvSpPr>
          <p:cNvPr id="5" name="מלבן 4">
            <a:extLst>
              <a:ext uri="{FF2B5EF4-FFF2-40B4-BE49-F238E27FC236}">
                <a16:creationId xmlns:a16="http://schemas.microsoft.com/office/drawing/2014/main" id="{1A62A697-F7BB-40E4-A5D4-2AECDDAEA53B}"/>
              </a:ext>
            </a:extLst>
          </p:cNvPr>
          <p:cNvSpPr/>
          <p:nvPr/>
        </p:nvSpPr>
        <p:spPr>
          <a:xfrm>
            <a:off x="4417882" y="3091934"/>
            <a:ext cx="6096000" cy="923330"/>
          </a:xfrm>
          <a:prstGeom prst="rect">
            <a:avLst/>
          </a:prstGeom>
        </p:spPr>
        <p:txBody>
          <a:bodyPr>
            <a:spAutoFit/>
          </a:bodyPr>
          <a:lstStyle/>
          <a:p>
            <a:r>
              <a:rPr lang="he-IL" dirty="0"/>
              <a:t>הפונקציה </a:t>
            </a:r>
            <a:r>
              <a:rPr lang="he-IL" dirty="0" err="1"/>
              <a:t>useNavigate</a:t>
            </a:r>
            <a:r>
              <a:rPr lang="he-IL" dirty="0"/>
              <a:t> של </a:t>
            </a:r>
            <a:r>
              <a:rPr lang="he-IL" dirty="0" err="1"/>
              <a:t>react-router</a:t>
            </a:r>
            <a:r>
              <a:rPr lang="he-IL" dirty="0"/>
              <a:t> מחזירה לי פונקציה בשם </a:t>
            </a:r>
            <a:r>
              <a:rPr lang="he-IL" dirty="0" err="1"/>
              <a:t>navigate</a:t>
            </a:r>
            <a:r>
              <a:rPr lang="he-IL" dirty="0"/>
              <a:t>, והיא מקבלת בתור פרמטר ראשון את הנתיב אליו צריך לנווט. אני מפעיל אותה כך:</a:t>
            </a:r>
          </a:p>
        </p:txBody>
      </p:sp>
      <p:pic>
        <p:nvPicPr>
          <p:cNvPr id="6" name="תמונה 5">
            <a:extLst>
              <a:ext uri="{FF2B5EF4-FFF2-40B4-BE49-F238E27FC236}">
                <a16:creationId xmlns:a16="http://schemas.microsoft.com/office/drawing/2014/main" id="{C3D0F6DA-AEB1-4512-A04C-4DB69AE62A06}"/>
              </a:ext>
            </a:extLst>
          </p:cNvPr>
          <p:cNvPicPr>
            <a:picLocks noChangeAspect="1"/>
          </p:cNvPicPr>
          <p:nvPr/>
        </p:nvPicPr>
        <p:blipFill>
          <a:blip r:embed="rId2"/>
          <a:stretch>
            <a:fillRect/>
          </a:stretch>
        </p:blipFill>
        <p:spPr>
          <a:xfrm>
            <a:off x="4501502" y="4890752"/>
            <a:ext cx="6012380" cy="819168"/>
          </a:xfrm>
          <a:prstGeom prst="rect">
            <a:avLst/>
          </a:prstGeom>
        </p:spPr>
      </p:pic>
    </p:spTree>
    <p:extLst>
      <p:ext uri="{BB962C8B-B14F-4D97-AF65-F5344CB8AC3E}">
        <p14:creationId xmlns:p14="http://schemas.microsoft.com/office/powerpoint/2010/main" val="109378562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A35289-C600-4AE6-9D88-4F5271F7B419}"/>
              </a:ext>
            </a:extLst>
          </p:cNvPr>
          <p:cNvSpPr txBox="1"/>
          <p:nvPr/>
        </p:nvSpPr>
        <p:spPr>
          <a:xfrm>
            <a:off x="2946400" y="1016000"/>
            <a:ext cx="7457440" cy="369332"/>
          </a:xfrm>
          <a:prstGeom prst="rect">
            <a:avLst/>
          </a:prstGeom>
          <a:noFill/>
        </p:spPr>
        <p:txBody>
          <a:bodyPr wrap="square" rtlCol="1">
            <a:spAutoFit/>
          </a:bodyPr>
          <a:lstStyle/>
          <a:p>
            <a:r>
              <a:rPr lang="he-IL" dirty="0"/>
              <a:t>העברת נתונים </a:t>
            </a:r>
            <a:r>
              <a:rPr lang="he-IL" dirty="0" err="1"/>
              <a:t>מקומפוננטה</a:t>
            </a:r>
            <a:r>
              <a:rPr lang="he-IL" dirty="0"/>
              <a:t> באמצעות </a:t>
            </a:r>
            <a:r>
              <a:rPr lang="en-US" dirty="0"/>
              <a:t>navigate</a:t>
            </a:r>
            <a:endParaRPr lang="he-IL" dirty="0"/>
          </a:p>
        </p:txBody>
      </p:sp>
      <p:pic>
        <p:nvPicPr>
          <p:cNvPr id="4" name="תמונה 3">
            <a:extLst>
              <a:ext uri="{FF2B5EF4-FFF2-40B4-BE49-F238E27FC236}">
                <a16:creationId xmlns:a16="http://schemas.microsoft.com/office/drawing/2014/main" id="{6A5BDF3F-15C7-4E7F-8EE1-13FD658F5260}"/>
              </a:ext>
            </a:extLst>
          </p:cNvPr>
          <p:cNvPicPr>
            <a:picLocks noChangeAspect="1"/>
          </p:cNvPicPr>
          <p:nvPr/>
        </p:nvPicPr>
        <p:blipFill>
          <a:blip r:embed="rId2"/>
          <a:stretch>
            <a:fillRect/>
          </a:stretch>
        </p:blipFill>
        <p:spPr>
          <a:xfrm>
            <a:off x="4572018" y="1991316"/>
            <a:ext cx="5913870" cy="640124"/>
          </a:xfrm>
          <a:prstGeom prst="rect">
            <a:avLst/>
          </a:prstGeom>
        </p:spPr>
      </p:pic>
      <p:pic>
        <p:nvPicPr>
          <p:cNvPr id="5" name="תמונה 4">
            <a:extLst>
              <a:ext uri="{FF2B5EF4-FFF2-40B4-BE49-F238E27FC236}">
                <a16:creationId xmlns:a16="http://schemas.microsoft.com/office/drawing/2014/main" id="{DF5C7C06-421B-47D9-98CD-99D870622E34}"/>
              </a:ext>
            </a:extLst>
          </p:cNvPr>
          <p:cNvPicPr>
            <a:picLocks noChangeAspect="1"/>
          </p:cNvPicPr>
          <p:nvPr/>
        </p:nvPicPr>
        <p:blipFill>
          <a:blip r:embed="rId3"/>
          <a:stretch>
            <a:fillRect/>
          </a:stretch>
        </p:blipFill>
        <p:spPr>
          <a:xfrm>
            <a:off x="4572018" y="4171940"/>
            <a:ext cx="5831822" cy="1519629"/>
          </a:xfrm>
          <a:prstGeom prst="rect">
            <a:avLst/>
          </a:prstGeom>
        </p:spPr>
      </p:pic>
      <p:sp>
        <p:nvSpPr>
          <p:cNvPr id="6" name="TextBox 5">
            <a:extLst>
              <a:ext uri="{FF2B5EF4-FFF2-40B4-BE49-F238E27FC236}">
                <a16:creationId xmlns:a16="http://schemas.microsoft.com/office/drawing/2014/main" id="{E1F10FCB-E5F7-432F-A5D1-D702311C78E9}"/>
              </a:ext>
            </a:extLst>
          </p:cNvPr>
          <p:cNvSpPr txBox="1"/>
          <p:nvPr/>
        </p:nvSpPr>
        <p:spPr>
          <a:xfrm>
            <a:off x="5628640" y="3002281"/>
            <a:ext cx="4775200" cy="923330"/>
          </a:xfrm>
          <a:prstGeom prst="rect">
            <a:avLst/>
          </a:prstGeom>
          <a:noFill/>
        </p:spPr>
        <p:txBody>
          <a:bodyPr wrap="square" rtlCol="1">
            <a:spAutoFit/>
          </a:bodyPr>
          <a:lstStyle/>
          <a:p>
            <a:r>
              <a:rPr lang="he-IL" dirty="0"/>
              <a:t>ובשביל לקבל את הנתונים </a:t>
            </a:r>
            <a:r>
              <a:rPr lang="he-IL" dirty="0" err="1"/>
              <a:t>בקומפוננטה</a:t>
            </a:r>
            <a:r>
              <a:rPr lang="he-IL" dirty="0"/>
              <a:t> המבוקשת נשתמש ב</a:t>
            </a:r>
            <a:r>
              <a:rPr lang="en-US" dirty="0" err="1"/>
              <a:t>useLocation</a:t>
            </a:r>
            <a:r>
              <a:rPr lang="he-IL" dirty="0"/>
              <a:t> </a:t>
            </a:r>
          </a:p>
          <a:p>
            <a:endParaRPr lang="he-IL" dirty="0"/>
          </a:p>
        </p:txBody>
      </p:sp>
    </p:spTree>
    <p:extLst>
      <p:ext uri="{BB962C8B-B14F-4D97-AF65-F5344CB8AC3E}">
        <p14:creationId xmlns:p14="http://schemas.microsoft.com/office/powerpoint/2010/main" val="319060689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a:extLst>
              <a:ext uri="{FF2B5EF4-FFF2-40B4-BE49-F238E27FC236}">
                <a16:creationId xmlns:a16="http://schemas.microsoft.com/office/drawing/2014/main" id="{EE6E0C72-E1F1-49B6-89EC-E9C9B3DEF762}"/>
              </a:ext>
            </a:extLst>
          </p:cNvPr>
          <p:cNvPicPr>
            <a:picLocks noChangeAspect="1"/>
          </p:cNvPicPr>
          <p:nvPr/>
        </p:nvPicPr>
        <p:blipFill>
          <a:blip r:embed="rId2"/>
          <a:stretch>
            <a:fillRect/>
          </a:stretch>
        </p:blipFill>
        <p:spPr>
          <a:xfrm>
            <a:off x="2407920" y="579669"/>
            <a:ext cx="7818252" cy="5060577"/>
          </a:xfrm>
          <a:prstGeom prst="rect">
            <a:avLst/>
          </a:prstGeom>
        </p:spPr>
      </p:pic>
    </p:spTree>
    <p:extLst>
      <p:ext uri="{BB962C8B-B14F-4D97-AF65-F5344CB8AC3E}">
        <p14:creationId xmlns:p14="http://schemas.microsoft.com/office/powerpoint/2010/main" val="71022036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a:extLst>
              <a:ext uri="{FF2B5EF4-FFF2-40B4-BE49-F238E27FC236}">
                <a16:creationId xmlns:a16="http://schemas.microsoft.com/office/drawing/2014/main" id="{4F9ABFD1-55CB-4EC4-BB5E-6041D81701D9}"/>
              </a:ext>
            </a:extLst>
          </p:cNvPr>
          <p:cNvPicPr>
            <a:picLocks noChangeAspect="1"/>
          </p:cNvPicPr>
          <p:nvPr/>
        </p:nvPicPr>
        <p:blipFill>
          <a:blip r:embed="rId2"/>
          <a:stretch>
            <a:fillRect/>
          </a:stretch>
        </p:blipFill>
        <p:spPr>
          <a:xfrm>
            <a:off x="4084320" y="751812"/>
            <a:ext cx="6622017" cy="1532368"/>
          </a:xfrm>
          <a:prstGeom prst="rect">
            <a:avLst/>
          </a:prstGeom>
        </p:spPr>
      </p:pic>
      <p:pic>
        <p:nvPicPr>
          <p:cNvPr id="3" name="תמונה 2">
            <a:extLst>
              <a:ext uri="{FF2B5EF4-FFF2-40B4-BE49-F238E27FC236}">
                <a16:creationId xmlns:a16="http://schemas.microsoft.com/office/drawing/2014/main" id="{ED6CA15A-07AF-437E-9059-96A4C6330ABD}"/>
              </a:ext>
            </a:extLst>
          </p:cNvPr>
          <p:cNvPicPr>
            <a:picLocks noChangeAspect="1"/>
          </p:cNvPicPr>
          <p:nvPr/>
        </p:nvPicPr>
        <p:blipFill>
          <a:blip r:embed="rId3"/>
          <a:stretch>
            <a:fillRect/>
          </a:stretch>
        </p:blipFill>
        <p:spPr>
          <a:xfrm>
            <a:off x="4084320" y="2687774"/>
            <a:ext cx="6622017" cy="2401391"/>
          </a:xfrm>
          <a:prstGeom prst="rect">
            <a:avLst/>
          </a:prstGeom>
        </p:spPr>
      </p:pic>
    </p:spTree>
    <p:extLst>
      <p:ext uri="{BB962C8B-B14F-4D97-AF65-F5344CB8AC3E}">
        <p14:creationId xmlns:p14="http://schemas.microsoft.com/office/powerpoint/2010/main" val="306143093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a:extLst>
              <a:ext uri="{FF2B5EF4-FFF2-40B4-BE49-F238E27FC236}">
                <a16:creationId xmlns:a16="http://schemas.microsoft.com/office/drawing/2014/main" id="{3DDA2C03-111B-4395-8E22-B4B6AC027738}"/>
              </a:ext>
            </a:extLst>
          </p:cNvPr>
          <p:cNvPicPr>
            <a:picLocks noChangeAspect="1"/>
          </p:cNvPicPr>
          <p:nvPr/>
        </p:nvPicPr>
        <p:blipFill>
          <a:blip r:embed="rId2"/>
          <a:stretch>
            <a:fillRect/>
          </a:stretch>
        </p:blipFill>
        <p:spPr>
          <a:xfrm>
            <a:off x="5214797" y="1169028"/>
            <a:ext cx="5363763" cy="395612"/>
          </a:xfrm>
          <a:prstGeom prst="rect">
            <a:avLst/>
          </a:prstGeom>
        </p:spPr>
      </p:pic>
    </p:spTree>
    <p:extLst>
      <p:ext uri="{BB962C8B-B14F-4D97-AF65-F5344CB8AC3E}">
        <p14:creationId xmlns:p14="http://schemas.microsoft.com/office/powerpoint/2010/main" val="137173986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a:extLst>
              <a:ext uri="{FF2B5EF4-FFF2-40B4-BE49-F238E27FC236}">
                <a16:creationId xmlns:a16="http://schemas.microsoft.com/office/drawing/2014/main" id="{A77EEC7A-1887-4954-A18B-B7E23FF3DD56}"/>
              </a:ext>
            </a:extLst>
          </p:cNvPr>
          <p:cNvPicPr>
            <a:picLocks noChangeAspect="1"/>
          </p:cNvPicPr>
          <p:nvPr/>
        </p:nvPicPr>
        <p:blipFill>
          <a:blip r:embed="rId2"/>
          <a:stretch>
            <a:fillRect/>
          </a:stretch>
        </p:blipFill>
        <p:spPr>
          <a:xfrm>
            <a:off x="2151068" y="1443568"/>
            <a:ext cx="8781274" cy="3481517"/>
          </a:xfrm>
          <a:prstGeom prst="rect">
            <a:avLst/>
          </a:prstGeom>
        </p:spPr>
      </p:pic>
    </p:spTree>
    <p:extLst>
      <p:ext uri="{BB962C8B-B14F-4D97-AF65-F5344CB8AC3E}">
        <p14:creationId xmlns:p14="http://schemas.microsoft.com/office/powerpoint/2010/main" val="47845348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A48D3E9-2E6A-442B-89D8-D0B8245A28FF}"/>
              </a:ext>
            </a:extLst>
          </p:cNvPr>
          <p:cNvSpPr txBox="1"/>
          <p:nvPr/>
        </p:nvSpPr>
        <p:spPr>
          <a:xfrm>
            <a:off x="5359651" y="697117"/>
            <a:ext cx="4852658" cy="646331"/>
          </a:xfrm>
          <a:prstGeom prst="rect">
            <a:avLst/>
          </a:prstGeom>
          <a:noFill/>
        </p:spPr>
        <p:txBody>
          <a:bodyPr wrap="square" rtlCol="1">
            <a:spAutoFit/>
          </a:bodyPr>
          <a:lstStyle/>
          <a:p>
            <a:r>
              <a:rPr lang="he-IL" dirty="0"/>
              <a:t>קריאות </a:t>
            </a:r>
            <a:r>
              <a:rPr lang="en-US" dirty="0"/>
              <a:t>HTTP</a:t>
            </a:r>
            <a:endParaRPr lang="he-IL" dirty="0"/>
          </a:p>
          <a:p>
            <a:endParaRPr lang="he-IL" dirty="0"/>
          </a:p>
        </p:txBody>
      </p:sp>
      <p:pic>
        <p:nvPicPr>
          <p:cNvPr id="3" name="תמונה 2">
            <a:extLst>
              <a:ext uri="{FF2B5EF4-FFF2-40B4-BE49-F238E27FC236}">
                <a16:creationId xmlns:a16="http://schemas.microsoft.com/office/drawing/2014/main" id="{864108DD-2A91-4643-9287-9F922D457DD4}"/>
              </a:ext>
            </a:extLst>
          </p:cNvPr>
          <p:cNvPicPr>
            <a:picLocks noChangeAspect="1"/>
          </p:cNvPicPr>
          <p:nvPr/>
        </p:nvPicPr>
        <p:blipFill>
          <a:blip r:embed="rId2"/>
          <a:stretch>
            <a:fillRect/>
          </a:stretch>
        </p:blipFill>
        <p:spPr>
          <a:xfrm>
            <a:off x="1799625" y="1254794"/>
            <a:ext cx="8592749" cy="2791215"/>
          </a:xfrm>
          <a:prstGeom prst="rect">
            <a:avLst/>
          </a:prstGeom>
        </p:spPr>
      </p:pic>
    </p:spTree>
    <p:extLst>
      <p:ext uri="{BB962C8B-B14F-4D97-AF65-F5344CB8AC3E}">
        <p14:creationId xmlns:p14="http://schemas.microsoft.com/office/powerpoint/2010/main" val="102855031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a:extLst>
              <a:ext uri="{FF2B5EF4-FFF2-40B4-BE49-F238E27FC236}">
                <a16:creationId xmlns:a16="http://schemas.microsoft.com/office/drawing/2014/main" id="{F220A774-27C4-47C6-8637-E4E41D8B960C}"/>
              </a:ext>
            </a:extLst>
          </p:cNvPr>
          <p:cNvPicPr>
            <a:picLocks noChangeAspect="1"/>
          </p:cNvPicPr>
          <p:nvPr/>
        </p:nvPicPr>
        <p:blipFill>
          <a:blip r:embed="rId2"/>
          <a:stretch>
            <a:fillRect/>
          </a:stretch>
        </p:blipFill>
        <p:spPr>
          <a:xfrm>
            <a:off x="4209797" y="764189"/>
            <a:ext cx="6325483" cy="3772426"/>
          </a:xfrm>
          <a:prstGeom prst="rect">
            <a:avLst/>
          </a:prstGeom>
        </p:spPr>
      </p:pic>
    </p:spTree>
    <p:extLst>
      <p:ext uri="{BB962C8B-B14F-4D97-AF65-F5344CB8AC3E}">
        <p14:creationId xmlns:p14="http://schemas.microsoft.com/office/powerpoint/2010/main" val="403307139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a:extLst>
              <a:ext uri="{FF2B5EF4-FFF2-40B4-BE49-F238E27FC236}">
                <a16:creationId xmlns:a16="http://schemas.microsoft.com/office/drawing/2014/main" id="{4DEE4102-17BE-4BEE-B4EC-02BF581FF711}"/>
              </a:ext>
            </a:extLst>
          </p:cNvPr>
          <p:cNvPicPr>
            <a:picLocks noChangeAspect="1"/>
          </p:cNvPicPr>
          <p:nvPr/>
        </p:nvPicPr>
        <p:blipFill>
          <a:blip r:embed="rId2"/>
          <a:stretch>
            <a:fillRect/>
          </a:stretch>
        </p:blipFill>
        <p:spPr>
          <a:xfrm>
            <a:off x="2953902" y="1040624"/>
            <a:ext cx="7135221" cy="4124901"/>
          </a:xfrm>
          <a:prstGeom prst="rect">
            <a:avLst/>
          </a:prstGeom>
        </p:spPr>
      </p:pic>
    </p:spTree>
    <p:extLst>
      <p:ext uri="{BB962C8B-B14F-4D97-AF65-F5344CB8AC3E}">
        <p14:creationId xmlns:p14="http://schemas.microsoft.com/office/powerpoint/2010/main" val="258612142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a:extLst>
              <a:ext uri="{FF2B5EF4-FFF2-40B4-BE49-F238E27FC236}">
                <a16:creationId xmlns:a16="http://schemas.microsoft.com/office/drawing/2014/main" id="{1758CED7-4181-40AF-B4C3-486A6859856C}"/>
              </a:ext>
            </a:extLst>
          </p:cNvPr>
          <p:cNvPicPr>
            <a:picLocks noChangeAspect="1"/>
          </p:cNvPicPr>
          <p:nvPr/>
        </p:nvPicPr>
        <p:blipFill>
          <a:blip r:embed="rId2"/>
          <a:stretch>
            <a:fillRect/>
          </a:stretch>
        </p:blipFill>
        <p:spPr>
          <a:xfrm>
            <a:off x="2718916" y="1871445"/>
            <a:ext cx="6754168" cy="3115110"/>
          </a:xfrm>
          <a:prstGeom prst="rect">
            <a:avLst/>
          </a:prstGeom>
        </p:spPr>
      </p:pic>
    </p:spTree>
    <p:extLst>
      <p:ext uri="{BB962C8B-B14F-4D97-AF65-F5344CB8AC3E}">
        <p14:creationId xmlns:p14="http://schemas.microsoft.com/office/powerpoint/2010/main" val="17664252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205C6E1B-2AD8-4266-B504-D4760B0F056C}"/>
              </a:ext>
            </a:extLst>
          </p:cNvPr>
          <p:cNvPicPr>
            <a:picLocks noChangeAspect="1"/>
          </p:cNvPicPr>
          <p:nvPr/>
        </p:nvPicPr>
        <p:blipFill>
          <a:blip r:embed="rId2"/>
          <a:stretch>
            <a:fillRect/>
          </a:stretch>
        </p:blipFill>
        <p:spPr>
          <a:xfrm>
            <a:off x="3487342" y="1349181"/>
            <a:ext cx="5887272" cy="3000794"/>
          </a:xfrm>
          <a:prstGeom prst="rect">
            <a:avLst/>
          </a:prstGeom>
        </p:spPr>
      </p:pic>
    </p:spTree>
    <p:extLst>
      <p:ext uri="{BB962C8B-B14F-4D97-AF65-F5344CB8AC3E}">
        <p14:creationId xmlns:p14="http://schemas.microsoft.com/office/powerpoint/2010/main" val="145859065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a:extLst>
              <a:ext uri="{FF2B5EF4-FFF2-40B4-BE49-F238E27FC236}">
                <a16:creationId xmlns:a16="http://schemas.microsoft.com/office/drawing/2014/main" id="{E24102E5-077B-44C4-AD72-428ADAFC7014}"/>
              </a:ext>
            </a:extLst>
          </p:cNvPr>
          <p:cNvPicPr>
            <a:picLocks noChangeAspect="1"/>
          </p:cNvPicPr>
          <p:nvPr/>
        </p:nvPicPr>
        <p:blipFill>
          <a:blip r:embed="rId2"/>
          <a:stretch>
            <a:fillRect/>
          </a:stretch>
        </p:blipFill>
        <p:spPr>
          <a:xfrm>
            <a:off x="3185706" y="809259"/>
            <a:ext cx="5820587" cy="5239481"/>
          </a:xfrm>
          <a:prstGeom prst="rect">
            <a:avLst/>
          </a:prstGeom>
        </p:spPr>
      </p:pic>
    </p:spTree>
    <p:extLst>
      <p:ext uri="{BB962C8B-B14F-4D97-AF65-F5344CB8AC3E}">
        <p14:creationId xmlns:p14="http://schemas.microsoft.com/office/powerpoint/2010/main" val="211640140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a:extLst>
              <a:ext uri="{FF2B5EF4-FFF2-40B4-BE49-F238E27FC236}">
                <a16:creationId xmlns:a16="http://schemas.microsoft.com/office/drawing/2014/main" id="{CBE27D88-843F-41AD-B07E-DCFBB5D1610F}"/>
              </a:ext>
            </a:extLst>
          </p:cNvPr>
          <p:cNvPicPr>
            <a:picLocks noChangeAspect="1"/>
          </p:cNvPicPr>
          <p:nvPr/>
        </p:nvPicPr>
        <p:blipFill>
          <a:blip r:embed="rId2"/>
          <a:stretch>
            <a:fillRect/>
          </a:stretch>
        </p:blipFill>
        <p:spPr>
          <a:xfrm>
            <a:off x="2971364" y="814022"/>
            <a:ext cx="6249272" cy="5229955"/>
          </a:xfrm>
          <a:prstGeom prst="rect">
            <a:avLst/>
          </a:prstGeom>
        </p:spPr>
      </p:pic>
    </p:spTree>
    <p:extLst>
      <p:ext uri="{BB962C8B-B14F-4D97-AF65-F5344CB8AC3E}">
        <p14:creationId xmlns:p14="http://schemas.microsoft.com/office/powerpoint/2010/main" val="97654175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a:extLst>
              <a:ext uri="{FF2B5EF4-FFF2-40B4-BE49-F238E27FC236}">
                <a16:creationId xmlns:a16="http://schemas.microsoft.com/office/drawing/2014/main" id="{8625AA86-D5A6-4E53-9F5F-6134C90E4F38}"/>
              </a:ext>
            </a:extLst>
          </p:cNvPr>
          <p:cNvPicPr>
            <a:picLocks noChangeAspect="1"/>
          </p:cNvPicPr>
          <p:nvPr/>
        </p:nvPicPr>
        <p:blipFill>
          <a:blip r:embed="rId2"/>
          <a:stretch>
            <a:fillRect/>
          </a:stretch>
        </p:blipFill>
        <p:spPr>
          <a:xfrm>
            <a:off x="3247627" y="1523734"/>
            <a:ext cx="5696745" cy="3810532"/>
          </a:xfrm>
          <a:prstGeom prst="rect">
            <a:avLst/>
          </a:prstGeom>
        </p:spPr>
      </p:pic>
    </p:spTree>
    <p:extLst>
      <p:ext uri="{BB962C8B-B14F-4D97-AF65-F5344CB8AC3E}">
        <p14:creationId xmlns:p14="http://schemas.microsoft.com/office/powerpoint/2010/main" val="393214086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לבן 1">
            <a:extLst>
              <a:ext uri="{FF2B5EF4-FFF2-40B4-BE49-F238E27FC236}">
                <a16:creationId xmlns:a16="http://schemas.microsoft.com/office/drawing/2014/main" id="{EAE1CEE4-00B3-4E02-95E2-88B543285CA0}"/>
              </a:ext>
            </a:extLst>
          </p:cNvPr>
          <p:cNvSpPr/>
          <p:nvPr/>
        </p:nvSpPr>
        <p:spPr>
          <a:xfrm>
            <a:off x="4947920" y="1081316"/>
            <a:ext cx="6096000" cy="1754326"/>
          </a:xfrm>
          <a:prstGeom prst="rect">
            <a:avLst/>
          </a:prstGeom>
        </p:spPr>
        <p:txBody>
          <a:bodyPr>
            <a:spAutoFit/>
          </a:bodyPr>
          <a:lstStyle/>
          <a:p>
            <a:r>
              <a:rPr lang="he-IL" dirty="0" err="1"/>
              <a:t>TypeScript</a:t>
            </a:r>
            <a:r>
              <a:rPr lang="he-IL" dirty="0"/>
              <a:t> היא שפת תכנות שהיא שפת-על של </a:t>
            </a:r>
            <a:r>
              <a:rPr lang="he-IL" dirty="0" err="1"/>
              <a:t>JavaScript</a:t>
            </a:r>
            <a:r>
              <a:rPr lang="he-IL" dirty="0"/>
              <a:t>. המשמעות היא שכל קוד </a:t>
            </a:r>
            <a:r>
              <a:rPr lang="he-IL" dirty="0" err="1"/>
              <a:t>JavaScript</a:t>
            </a:r>
            <a:r>
              <a:rPr lang="he-IL" dirty="0"/>
              <a:t> חוקי הוא גם קוד </a:t>
            </a:r>
            <a:r>
              <a:rPr lang="he-IL" dirty="0" err="1"/>
              <a:t>TypeScript</a:t>
            </a:r>
            <a:r>
              <a:rPr lang="he-IL" dirty="0"/>
              <a:t> חוקי. </a:t>
            </a:r>
          </a:p>
          <a:p>
            <a:r>
              <a:rPr lang="he-IL" dirty="0" err="1"/>
              <a:t>TypeScript</a:t>
            </a:r>
            <a:r>
              <a:rPr lang="he-IL" dirty="0"/>
              <a:t> מוסיף הקלדה סטטית ל-</a:t>
            </a:r>
            <a:r>
              <a:rPr lang="he-IL" dirty="0" err="1"/>
              <a:t>JavaScript</a:t>
            </a:r>
            <a:r>
              <a:rPr lang="he-IL" dirty="0"/>
              <a:t>, שהיא שפה בהקלדה דינמית. </a:t>
            </a:r>
          </a:p>
          <a:p>
            <a:r>
              <a:rPr lang="he-IL" dirty="0"/>
              <a:t>להלן כמה מושגים ותכונות מפתח של </a:t>
            </a:r>
            <a:r>
              <a:rPr lang="he-IL" dirty="0" err="1"/>
              <a:t>TypeScript</a:t>
            </a:r>
            <a:r>
              <a:rPr lang="he-IL" dirty="0"/>
              <a:t>:</a:t>
            </a:r>
          </a:p>
        </p:txBody>
      </p:sp>
      <p:sp>
        <p:nvSpPr>
          <p:cNvPr id="3" name="מלבן 2">
            <a:extLst>
              <a:ext uri="{FF2B5EF4-FFF2-40B4-BE49-F238E27FC236}">
                <a16:creationId xmlns:a16="http://schemas.microsoft.com/office/drawing/2014/main" id="{3FF53B77-1F04-48B9-8C46-DC275DC91E1E}"/>
              </a:ext>
            </a:extLst>
          </p:cNvPr>
          <p:cNvSpPr/>
          <p:nvPr/>
        </p:nvSpPr>
        <p:spPr>
          <a:xfrm>
            <a:off x="4947920" y="3225076"/>
            <a:ext cx="6096000" cy="1200329"/>
          </a:xfrm>
          <a:prstGeom prst="rect">
            <a:avLst/>
          </a:prstGeom>
        </p:spPr>
        <p:txBody>
          <a:bodyPr>
            <a:spAutoFit/>
          </a:bodyPr>
          <a:lstStyle/>
          <a:p>
            <a:r>
              <a:rPr lang="en-US" b="1" dirty="0"/>
              <a:t>Static Typing</a:t>
            </a:r>
            <a:r>
              <a:rPr lang="he-IL" dirty="0"/>
              <a:t>: אחת התכונות העיקריות של </a:t>
            </a:r>
            <a:r>
              <a:rPr lang="he-IL" dirty="0" err="1"/>
              <a:t>TypeScript</a:t>
            </a:r>
            <a:r>
              <a:rPr lang="he-IL" dirty="0"/>
              <a:t> היא היכולת להשתמש בסוגים סטטיים. זה מאפשר לך להצהיר על סוג המשתנה, פרמטר הפונקציה או ערך החזרה. מידע הסוג נבדק בזמן ההידור, ועוזר לתפוס שגיאות לפני זמן הריצה.</a:t>
            </a:r>
          </a:p>
        </p:txBody>
      </p:sp>
      <p:pic>
        <p:nvPicPr>
          <p:cNvPr id="4" name="תמונה 3">
            <a:extLst>
              <a:ext uri="{FF2B5EF4-FFF2-40B4-BE49-F238E27FC236}">
                <a16:creationId xmlns:a16="http://schemas.microsoft.com/office/drawing/2014/main" id="{5468FFCB-9FDB-48FF-BEE8-C01FCBA9E25E}"/>
              </a:ext>
            </a:extLst>
          </p:cNvPr>
          <p:cNvPicPr>
            <a:picLocks noChangeAspect="1"/>
          </p:cNvPicPr>
          <p:nvPr/>
        </p:nvPicPr>
        <p:blipFill>
          <a:blip r:embed="rId2"/>
          <a:stretch>
            <a:fillRect/>
          </a:stretch>
        </p:blipFill>
        <p:spPr>
          <a:xfrm>
            <a:off x="4932566" y="4814839"/>
            <a:ext cx="5887962" cy="1494521"/>
          </a:xfrm>
          <a:prstGeom prst="rect">
            <a:avLst/>
          </a:prstGeom>
        </p:spPr>
      </p:pic>
    </p:spTree>
    <p:extLst>
      <p:ext uri="{BB962C8B-B14F-4D97-AF65-F5344CB8AC3E}">
        <p14:creationId xmlns:p14="http://schemas.microsoft.com/office/powerpoint/2010/main" val="282201991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לבן 1">
            <a:extLst>
              <a:ext uri="{FF2B5EF4-FFF2-40B4-BE49-F238E27FC236}">
                <a16:creationId xmlns:a16="http://schemas.microsoft.com/office/drawing/2014/main" id="{FEEC17E7-D90A-4629-80A9-517B1A8CDC58}"/>
              </a:ext>
            </a:extLst>
          </p:cNvPr>
          <p:cNvSpPr/>
          <p:nvPr/>
        </p:nvSpPr>
        <p:spPr>
          <a:xfrm>
            <a:off x="4632960" y="1006455"/>
            <a:ext cx="6096000" cy="1200329"/>
          </a:xfrm>
          <a:prstGeom prst="rect">
            <a:avLst/>
          </a:prstGeom>
        </p:spPr>
        <p:txBody>
          <a:bodyPr>
            <a:spAutoFit/>
          </a:bodyPr>
          <a:lstStyle/>
          <a:p>
            <a:r>
              <a:rPr lang="en-US" b="1" dirty="0"/>
              <a:t>Interfaces and Type Declarations</a:t>
            </a:r>
            <a:r>
              <a:rPr lang="he-IL" dirty="0"/>
              <a:t>: </a:t>
            </a:r>
            <a:r>
              <a:rPr lang="he-IL" dirty="0" err="1"/>
              <a:t>TypeScript</a:t>
            </a:r>
            <a:r>
              <a:rPr lang="he-IL" dirty="0"/>
              <a:t> מציג ממשקים והצהרות טיפוס כדי להגדיר את הצורה של אובייקטים או מבנים בקוד. </a:t>
            </a:r>
          </a:p>
          <a:p>
            <a:r>
              <a:rPr lang="he-IL" dirty="0"/>
              <a:t>זה עוזר בתיעוד ואכיפת המבנה הצפוי של הנתונים.</a:t>
            </a:r>
          </a:p>
        </p:txBody>
      </p:sp>
      <p:pic>
        <p:nvPicPr>
          <p:cNvPr id="3" name="תמונה 2">
            <a:extLst>
              <a:ext uri="{FF2B5EF4-FFF2-40B4-BE49-F238E27FC236}">
                <a16:creationId xmlns:a16="http://schemas.microsoft.com/office/drawing/2014/main" id="{AFFFA2C6-E277-4359-ACE7-64829CAF5B1B}"/>
              </a:ext>
            </a:extLst>
          </p:cNvPr>
          <p:cNvPicPr>
            <a:picLocks noChangeAspect="1"/>
          </p:cNvPicPr>
          <p:nvPr/>
        </p:nvPicPr>
        <p:blipFill>
          <a:blip r:embed="rId2"/>
          <a:stretch>
            <a:fillRect/>
          </a:stretch>
        </p:blipFill>
        <p:spPr>
          <a:xfrm>
            <a:off x="3061469" y="2799664"/>
            <a:ext cx="7667491" cy="2239695"/>
          </a:xfrm>
          <a:prstGeom prst="rect">
            <a:avLst/>
          </a:prstGeom>
        </p:spPr>
      </p:pic>
    </p:spTree>
    <p:extLst>
      <p:ext uri="{BB962C8B-B14F-4D97-AF65-F5344CB8AC3E}">
        <p14:creationId xmlns:p14="http://schemas.microsoft.com/office/powerpoint/2010/main" val="98545600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לבן 1">
            <a:extLst>
              <a:ext uri="{FF2B5EF4-FFF2-40B4-BE49-F238E27FC236}">
                <a16:creationId xmlns:a16="http://schemas.microsoft.com/office/drawing/2014/main" id="{0E6E6578-9BF1-46ED-AF40-CE8C7526630E}"/>
              </a:ext>
            </a:extLst>
          </p:cNvPr>
          <p:cNvSpPr/>
          <p:nvPr/>
        </p:nvSpPr>
        <p:spPr>
          <a:xfrm>
            <a:off x="4693920" y="915015"/>
            <a:ext cx="6096000" cy="923330"/>
          </a:xfrm>
          <a:prstGeom prst="rect">
            <a:avLst/>
          </a:prstGeom>
        </p:spPr>
        <p:txBody>
          <a:bodyPr>
            <a:spAutoFit/>
          </a:bodyPr>
          <a:lstStyle/>
          <a:p>
            <a:r>
              <a:rPr lang="he-IL" dirty="0"/>
              <a:t>מודולריות קוד: </a:t>
            </a:r>
            <a:r>
              <a:rPr lang="he-IL" dirty="0" err="1"/>
              <a:t>TypeScript</a:t>
            </a:r>
            <a:r>
              <a:rPr lang="he-IL" dirty="0"/>
              <a:t> תומך במודולים ומרחבי שמות, מה שמקל על ארגון ומבנה הקוד. זה שימושי במיוחד בפרויקטים גדולים יותר שבהם ארגון הקוד הוא חיוני.</a:t>
            </a:r>
          </a:p>
        </p:txBody>
      </p:sp>
      <p:sp>
        <p:nvSpPr>
          <p:cNvPr id="3" name="מלבן 2">
            <a:extLst>
              <a:ext uri="{FF2B5EF4-FFF2-40B4-BE49-F238E27FC236}">
                <a16:creationId xmlns:a16="http://schemas.microsoft.com/office/drawing/2014/main" id="{CD7C8B5B-8A70-4774-A1D9-DEAAF53BBB3F}"/>
              </a:ext>
            </a:extLst>
          </p:cNvPr>
          <p:cNvSpPr/>
          <p:nvPr/>
        </p:nvSpPr>
        <p:spPr>
          <a:xfrm>
            <a:off x="4693920" y="2351316"/>
            <a:ext cx="6096000" cy="1200329"/>
          </a:xfrm>
          <a:prstGeom prst="rect">
            <a:avLst/>
          </a:prstGeom>
        </p:spPr>
        <p:txBody>
          <a:bodyPr>
            <a:spAutoFit/>
          </a:bodyPr>
          <a:lstStyle/>
          <a:p>
            <a:r>
              <a:rPr lang="he-IL"/>
              <a:t>תמיכה בכלים: TypeScript נועד לשמש עם כלי פיתוח המספקים תכונות כמו השלמה אוטומטית, תמיכה ב-refactoring וניווט קוד. לעורכי קוד פופולריים כמו Visual Studio Code יש תמיכה מצוינת ב-TypeScript.</a:t>
            </a:r>
            <a:endParaRPr lang="he-IL" dirty="0"/>
          </a:p>
        </p:txBody>
      </p:sp>
      <p:sp>
        <p:nvSpPr>
          <p:cNvPr id="4" name="מלבן 3">
            <a:extLst>
              <a:ext uri="{FF2B5EF4-FFF2-40B4-BE49-F238E27FC236}">
                <a16:creationId xmlns:a16="http://schemas.microsoft.com/office/drawing/2014/main" id="{5422496D-1E4B-4034-9684-CBD9B40FF001}"/>
              </a:ext>
            </a:extLst>
          </p:cNvPr>
          <p:cNvSpPr/>
          <p:nvPr/>
        </p:nvSpPr>
        <p:spPr>
          <a:xfrm>
            <a:off x="4693920" y="3956596"/>
            <a:ext cx="6096000" cy="1200329"/>
          </a:xfrm>
          <a:prstGeom prst="rect">
            <a:avLst/>
          </a:prstGeom>
        </p:spPr>
        <p:txBody>
          <a:bodyPr>
            <a:spAutoFit/>
          </a:bodyPr>
          <a:lstStyle/>
          <a:p>
            <a:r>
              <a:rPr lang="he-IL" dirty="0"/>
              <a:t>תאימות עם </a:t>
            </a:r>
            <a:r>
              <a:rPr lang="en-US" dirty="0"/>
              <a:t> :JavaScript </a:t>
            </a:r>
            <a:r>
              <a:rPr lang="he-IL" dirty="0"/>
              <a:t>כפי שצוין קודם לכן, </a:t>
            </a:r>
            <a:r>
              <a:rPr lang="en-US" dirty="0"/>
              <a:t>TypeScript </a:t>
            </a:r>
            <a:r>
              <a:rPr lang="he-IL" dirty="0"/>
              <a:t>הוא שפת-על של </a:t>
            </a:r>
            <a:r>
              <a:rPr lang="en-US" dirty="0"/>
              <a:t>JavaScript, </a:t>
            </a:r>
            <a:r>
              <a:rPr lang="he-IL" dirty="0"/>
              <a:t> כך שניתן לאמץ את </a:t>
            </a:r>
            <a:r>
              <a:rPr lang="en-US" dirty="0"/>
              <a:t> TypeScript </a:t>
            </a:r>
            <a:r>
              <a:rPr lang="he-IL" dirty="0"/>
              <a:t>בהדרגה בפרויקט </a:t>
            </a:r>
            <a:r>
              <a:rPr lang="en-US" dirty="0"/>
              <a:t> JavaScript </a:t>
            </a:r>
            <a:r>
              <a:rPr lang="he-IL" dirty="0"/>
              <a:t>קיים. </a:t>
            </a:r>
          </a:p>
          <a:p>
            <a:r>
              <a:rPr lang="he-IL" dirty="0"/>
              <a:t>ניתן להשתמש בקוד </a:t>
            </a:r>
            <a:r>
              <a:rPr lang="en-US" dirty="0"/>
              <a:t> JavaScript </a:t>
            </a:r>
            <a:r>
              <a:rPr lang="he-IL" dirty="0"/>
              <a:t>קיים ב-</a:t>
            </a:r>
            <a:r>
              <a:rPr lang="en-US" dirty="0"/>
              <a:t>TypeScript </a:t>
            </a:r>
            <a:r>
              <a:rPr lang="he-IL" dirty="0"/>
              <a:t> ללא שינוי.</a:t>
            </a:r>
          </a:p>
        </p:txBody>
      </p:sp>
    </p:spTree>
    <p:extLst>
      <p:ext uri="{BB962C8B-B14F-4D97-AF65-F5344CB8AC3E}">
        <p14:creationId xmlns:p14="http://schemas.microsoft.com/office/powerpoint/2010/main" val="401634349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לבן 1">
            <a:extLst>
              <a:ext uri="{FF2B5EF4-FFF2-40B4-BE49-F238E27FC236}">
                <a16:creationId xmlns:a16="http://schemas.microsoft.com/office/drawing/2014/main" id="{559D7D5A-14E4-4005-8295-2D424B963D9F}"/>
              </a:ext>
            </a:extLst>
          </p:cNvPr>
          <p:cNvSpPr/>
          <p:nvPr/>
        </p:nvSpPr>
        <p:spPr>
          <a:xfrm>
            <a:off x="3708400" y="1013936"/>
            <a:ext cx="6096000" cy="2585323"/>
          </a:xfrm>
          <a:prstGeom prst="rect">
            <a:avLst/>
          </a:prstGeom>
        </p:spPr>
        <p:txBody>
          <a:bodyPr>
            <a:spAutoFit/>
          </a:bodyPr>
          <a:lstStyle/>
          <a:p>
            <a:r>
              <a:rPr lang="he-IL" dirty="0"/>
              <a:t>היתרונות של השימוש ב-</a:t>
            </a:r>
            <a:r>
              <a:rPr lang="he-IL" dirty="0" err="1"/>
              <a:t>TypeScript</a:t>
            </a:r>
            <a:r>
              <a:rPr lang="he-IL" dirty="0"/>
              <a:t> כוללים איכות קוד משופרת, תמיכה טובה יותר בכלים ושיתוף פעולה משופר בצוותי פיתוח גדולים יותר. זה חזק במיוחד בפרויקטים שבהם בסיס הקוד צפוי לגדול עם הזמן, שכן ההקלדה הסטטית עוזרת לתפוס בעיות פוטנציאליות בשלב מוקדם בתהליך הפיתוח.</a:t>
            </a:r>
          </a:p>
          <a:p>
            <a:endParaRPr lang="he-IL" dirty="0"/>
          </a:p>
          <a:p>
            <a:endParaRPr lang="he-IL" dirty="0"/>
          </a:p>
          <a:p>
            <a:endParaRPr lang="he-IL" dirty="0"/>
          </a:p>
          <a:p>
            <a:r>
              <a:rPr lang="he-IL" dirty="0"/>
              <a:t>התקנה:</a:t>
            </a:r>
          </a:p>
        </p:txBody>
      </p:sp>
      <p:sp>
        <p:nvSpPr>
          <p:cNvPr id="4" name="תיבת טקסט 3">
            <a:extLst>
              <a:ext uri="{FF2B5EF4-FFF2-40B4-BE49-F238E27FC236}">
                <a16:creationId xmlns:a16="http://schemas.microsoft.com/office/drawing/2014/main" id="{8B3C5535-8093-4B6B-87D7-1FB19041C401}"/>
              </a:ext>
            </a:extLst>
          </p:cNvPr>
          <p:cNvSpPr txBox="1"/>
          <p:nvPr/>
        </p:nvSpPr>
        <p:spPr>
          <a:xfrm>
            <a:off x="3708400" y="3812607"/>
            <a:ext cx="6094602" cy="646331"/>
          </a:xfrm>
          <a:prstGeom prst="rect">
            <a:avLst/>
          </a:prstGeom>
          <a:noFill/>
        </p:spPr>
        <p:txBody>
          <a:bodyPr wrap="square">
            <a:spAutoFit/>
          </a:bodyPr>
          <a:lstStyle/>
          <a:p>
            <a:r>
              <a:rPr lang="en-US" dirty="0" err="1">
                <a:solidFill>
                  <a:srgbClr val="000000"/>
                </a:solidFill>
                <a:latin typeface="Rubik"/>
              </a:rPr>
              <a:t>npx</a:t>
            </a:r>
            <a:r>
              <a:rPr lang="en-US" dirty="0">
                <a:solidFill>
                  <a:srgbClr val="000000"/>
                </a:solidFill>
                <a:latin typeface="Rubik"/>
              </a:rPr>
              <a:t> create-react-app my-app --template typescript</a:t>
            </a:r>
            <a:br>
              <a:rPr lang="en-US" dirty="0"/>
            </a:br>
            <a:endParaRPr lang="he-IL" dirty="0"/>
          </a:p>
        </p:txBody>
      </p:sp>
    </p:spTree>
    <p:extLst>
      <p:ext uri="{BB962C8B-B14F-4D97-AF65-F5344CB8AC3E}">
        <p14:creationId xmlns:p14="http://schemas.microsoft.com/office/powerpoint/2010/main" val="87573081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a:extLst>
              <a:ext uri="{FF2B5EF4-FFF2-40B4-BE49-F238E27FC236}">
                <a16:creationId xmlns:a16="http://schemas.microsoft.com/office/drawing/2014/main" id="{CA62D069-1A63-4289-9392-2429EDF87B59}"/>
              </a:ext>
            </a:extLst>
          </p:cNvPr>
          <p:cNvPicPr>
            <a:picLocks noChangeAspect="1"/>
          </p:cNvPicPr>
          <p:nvPr/>
        </p:nvPicPr>
        <p:blipFill>
          <a:blip r:embed="rId2"/>
          <a:stretch>
            <a:fillRect/>
          </a:stretch>
        </p:blipFill>
        <p:spPr>
          <a:xfrm>
            <a:off x="3584570" y="656207"/>
            <a:ext cx="5756656" cy="1176679"/>
          </a:xfrm>
          <a:prstGeom prst="rect">
            <a:avLst/>
          </a:prstGeom>
        </p:spPr>
      </p:pic>
      <p:pic>
        <p:nvPicPr>
          <p:cNvPr id="3" name="תמונה 2">
            <a:extLst>
              <a:ext uri="{FF2B5EF4-FFF2-40B4-BE49-F238E27FC236}">
                <a16:creationId xmlns:a16="http://schemas.microsoft.com/office/drawing/2014/main" id="{3882A211-D61E-430D-B993-7ABBD182921E}"/>
              </a:ext>
            </a:extLst>
          </p:cNvPr>
          <p:cNvPicPr>
            <a:picLocks noChangeAspect="1"/>
          </p:cNvPicPr>
          <p:nvPr/>
        </p:nvPicPr>
        <p:blipFill>
          <a:blip r:embed="rId3"/>
          <a:stretch>
            <a:fillRect/>
          </a:stretch>
        </p:blipFill>
        <p:spPr>
          <a:xfrm>
            <a:off x="3574151" y="2411065"/>
            <a:ext cx="5756656" cy="1399029"/>
          </a:xfrm>
          <a:prstGeom prst="rect">
            <a:avLst/>
          </a:prstGeom>
        </p:spPr>
      </p:pic>
      <p:pic>
        <p:nvPicPr>
          <p:cNvPr id="4" name="תמונה 3">
            <a:extLst>
              <a:ext uri="{FF2B5EF4-FFF2-40B4-BE49-F238E27FC236}">
                <a16:creationId xmlns:a16="http://schemas.microsoft.com/office/drawing/2014/main" id="{5597995D-D1F6-480D-AD59-AC9F531EB5BF}"/>
              </a:ext>
            </a:extLst>
          </p:cNvPr>
          <p:cNvPicPr>
            <a:picLocks noChangeAspect="1"/>
          </p:cNvPicPr>
          <p:nvPr/>
        </p:nvPicPr>
        <p:blipFill>
          <a:blip r:embed="rId4"/>
          <a:stretch>
            <a:fillRect/>
          </a:stretch>
        </p:blipFill>
        <p:spPr>
          <a:xfrm>
            <a:off x="3574151" y="4473640"/>
            <a:ext cx="5767075" cy="802592"/>
          </a:xfrm>
          <a:prstGeom prst="rect">
            <a:avLst/>
          </a:prstGeom>
        </p:spPr>
      </p:pic>
      <p:sp>
        <p:nvSpPr>
          <p:cNvPr id="6" name="TextBox 5">
            <a:extLst>
              <a:ext uri="{FF2B5EF4-FFF2-40B4-BE49-F238E27FC236}">
                <a16:creationId xmlns:a16="http://schemas.microsoft.com/office/drawing/2014/main" id="{FCF753C3-8EC9-403E-9411-7B21ED4085FD}"/>
              </a:ext>
            </a:extLst>
          </p:cNvPr>
          <p:cNvSpPr txBox="1"/>
          <p:nvPr/>
        </p:nvSpPr>
        <p:spPr>
          <a:xfrm>
            <a:off x="3860800" y="0"/>
            <a:ext cx="1524000" cy="369332"/>
          </a:xfrm>
          <a:prstGeom prst="rect">
            <a:avLst/>
          </a:prstGeom>
          <a:noFill/>
        </p:spPr>
        <p:txBody>
          <a:bodyPr wrap="square" rtlCol="1">
            <a:spAutoFit/>
          </a:bodyPr>
          <a:lstStyle/>
          <a:p>
            <a:r>
              <a:rPr lang="en-US" b="1"/>
              <a:t>Basic Types:</a:t>
            </a:r>
            <a:endParaRPr lang="he-IL" dirty="0"/>
          </a:p>
        </p:txBody>
      </p:sp>
      <p:sp>
        <p:nvSpPr>
          <p:cNvPr id="8" name="TextBox 7">
            <a:extLst>
              <a:ext uri="{FF2B5EF4-FFF2-40B4-BE49-F238E27FC236}">
                <a16:creationId xmlns:a16="http://schemas.microsoft.com/office/drawing/2014/main" id="{3A39AE4F-0522-4C46-9692-06E6FF02017E}"/>
              </a:ext>
            </a:extLst>
          </p:cNvPr>
          <p:cNvSpPr txBox="1"/>
          <p:nvPr/>
        </p:nvSpPr>
        <p:spPr>
          <a:xfrm>
            <a:off x="3584570" y="1875142"/>
            <a:ext cx="1524000" cy="369332"/>
          </a:xfrm>
          <a:prstGeom prst="rect">
            <a:avLst/>
          </a:prstGeom>
          <a:noFill/>
        </p:spPr>
        <p:txBody>
          <a:bodyPr wrap="square" rtlCol="1">
            <a:spAutoFit/>
          </a:bodyPr>
          <a:lstStyle/>
          <a:p>
            <a:r>
              <a:rPr lang="en-US" b="1" dirty="0"/>
              <a:t>Arrays:</a:t>
            </a:r>
            <a:endParaRPr lang="he-IL" dirty="0"/>
          </a:p>
        </p:txBody>
      </p:sp>
      <p:sp>
        <p:nvSpPr>
          <p:cNvPr id="10" name="TextBox 9">
            <a:extLst>
              <a:ext uri="{FF2B5EF4-FFF2-40B4-BE49-F238E27FC236}">
                <a16:creationId xmlns:a16="http://schemas.microsoft.com/office/drawing/2014/main" id="{827B1D78-E1F3-46D3-A00A-7A0303AA12BE}"/>
              </a:ext>
            </a:extLst>
          </p:cNvPr>
          <p:cNvSpPr txBox="1"/>
          <p:nvPr/>
        </p:nvSpPr>
        <p:spPr>
          <a:xfrm>
            <a:off x="3667760" y="3976685"/>
            <a:ext cx="1524000" cy="369332"/>
          </a:xfrm>
          <a:prstGeom prst="rect">
            <a:avLst/>
          </a:prstGeom>
          <a:noFill/>
        </p:spPr>
        <p:txBody>
          <a:bodyPr wrap="square" rtlCol="1">
            <a:spAutoFit/>
          </a:bodyPr>
          <a:lstStyle/>
          <a:p>
            <a:r>
              <a:rPr lang="en-US" b="1" dirty="0"/>
              <a:t>Tuples:</a:t>
            </a:r>
            <a:endParaRPr lang="he-IL" dirty="0"/>
          </a:p>
        </p:txBody>
      </p:sp>
    </p:spTree>
    <p:extLst>
      <p:ext uri="{BB962C8B-B14F-4D97-AF65-F5344CB8AC3E}">
        <p14:creationId xmlns:p14="http://schemas.microsoft.com/office/powerpoint/2010/main" val="11342139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a:extLst>
              <a:ext uri="{FF2B5EF4-FFF2-40B4-BE49-F238E27FC236}">
                <a16:creationId xmlns:a16="http://schemas.microsoft.com/office/drawing/2014/main" id="{069017AA-E2BA-4A29-883C-7960CB9771E6}"/>
              </a:ext>
            </a:extLst>
          </p:cNvPr>
          <p:cNvPicPr>
            <a:picLocks noChangeAspect="1"/>
          </p:cNvPicPr>
          <p:nvPr/>
        </p:nvPicPr>
        <p:blipFill>
          <a:blip r:embed="rId2"/>
          <a:stretch>
            <a:fillRect/>
          </a:stretch>
        </p:blipFill>
        <p:spPr>
          <a:xfrm>
            <a:off x="3660219" y="938166"/>
            <a:ext cx="4727669" cy="2490834"/>
          </a:xfrm>
          <a:prstGeom prst="rect">
            <a:avLst/>
          </a:prstGeom>
        </p:spPr>
      </p:pic>
      <p:pic>
        <p:nvPicPr>
          <p:cNvPr id="3" name="תמונה 2">
            <a:extLst>
              <a:ext uri="{FF2B5EF4-FFF2-40B4-BE49-F238E27FC236}">
                <a16:creationId xmlns:a16="http://schemas.microsoft.com/office/drawing/2014/main" id="{67AF2421-21F7-4FF7-BF62-5E77753D2C5A}"/>
              </a:ext>
            </a:extLst>
          </p:cNvPr>
          <p:cNvPicPr>
            <a:picLocks noChangeAspect="1"/>
          </p:cNvPicPr>
          <p:nvPr/>
        </p:nvPicPr>
        <p:blipFill>
          <a:blip r:embed="rId3"/>
          <a:stretch>
            <a:fillRect/>
          </a:stretch>
        </p:blipFill>
        <p:spPr>
          <a:xfrm>
            <a:off x="3874898" y="3996377"/>
            <a:ext cx="4703307" cy="681219"/>
          </a:xfrm>
          <a:prstGeom prst="rect">
            <a:avLst/>
          </a:prstGeom>
        </p:spPr>
      </p:pic>
      <p:pic>
        <p:nvPicPr>
          <p:cNvPr id="4" name="תמונה 3">
            <a:extLst>
              <a:ext uri="{FF2B5EF4-FFF2-40B4-BE49-F238E27FC236}">
                <a16:creationId xmlns:a16="http://schemas.microsoft.com/office/drawing/2014/main" id="{8765123F-8910-4366-A16B-11B1E5751D68}"/>
              </a:ext>
            </a:extLst>
          </p:cNvPr>
          <p:cNvPicPr>
            <a:picLocks noChangeAspect="1"/>
          </p:cNvPicPr>
          <p:nvPr/>
        </p:nvPicPr>
        <p:blipFill>
          <a:blip r:embed="rId4"/>
          <a:stretch>
            <a:fillRect/>
          </a:stretch>
        </p:blipFill>
        <p:spPr>
          <a:xfrm>
            <a:off x="3874898" y="5645757"/>
            <a:ext cx="4780648" cy="1090323"/>
          </a:xfrm>
          <a:prstGeom prst="rect">
            <a:avLst/>
          </a:prstGeom>
        </p:spPr>
      </p:pic>
      <p:sp>
        <p:nvSpPr>
          <p:cNvPr id="5" name="מלבן 4">
            <a:extLst>
              <a:ext uri="{FF2B5EF4-FFF2-40B4-BE49-F238E27FC236}">
                <a16:creationId xmlns:a16="http://schemas.microsoft.com/office/drawing/2014/main" id="{60751E57-F9B5-4C21-88EC-2523A9277EDD}"/>
              </a:ext>
            </a:extLst>
          </p:cNvPr>
          <p:cNvSpPr/>
          <p:nvPr/>
        </p:nvSpPr>
        <p:spPr>
          <a:xfrm>
            <a:off x="3937812" y="541774"/>
            <a:ext cx="877163" cy="369332"/>
          </a:xfrm>
          <a:prstGeom prst="rect">
            <a:avLst/>
          </a:prstGeom>
        </p:spPr>
        <p:txBody>
          <a:bodyPr wrap="none">
            <a:spAutoFit/>
          </a:bodyPr>
          <a:lstStyle/>
          <a:p>
            <a:r>
              <a:rPr lang="en-US" dirty="0" err="1"/>
              <a:t>Enums</a:t>
            </a:r>
            <a:r>
              <a:rPr lang="en-US" dirty="0"/>
              <a:t>:</a:t>
            </a:r>
            <a:endParaRPr lang="he-IL" dirty="0"/>
          </a:p>
        </p:txBody>
      </p:sp>
      <p:sp>
        <p:nvSpPr>
          <p:cNvPr id="7" name="מלבן 6">
            <a:extLst>
              <a:ext uri="{FF2B5EF4-FFF2-40B4-BE49-F238E27FC236}">
                <a16:creationId xmlns:a16="http://schemas.microsoft.com/office/drawing/2014/main" id="{0C7A1601-F727-414B-8AF0-84A1F053AFD4}"/>
              </a:ext>
            </a:extLst>
          </p:cNvPr>
          <p:cNvSpPr/>
          <p:nvPr/>
        </p:nvSpPr>
        <p:spPr>
          <a:xfrm>
            <a:off x="4207116" y="3627045"/>
            <a:ext cx="607859" cy="369332"/>
          </a:xfrm>
          <a:prstGeom prst="rect">
            <a:avLst/>
          </a:prstGeom>
        </p:spPr>
        <p:txBody>
          <a:bodyPr wrap="none">
            <a:spAutoFit/>
          </a:bodyPr>
          <a:lstStyle/>
          <a:p>
            <a:r>
              <a:rPr lang="he-IL" dirty="0" err="1"/>
              <a:t>Any</a:t>
            </a:r>
            <a:r>
              <a:rPr lang="he-IL" dirty="0"/>
              <a:t>:</a:t>
            </a:r>
          </a:p>
        </p:txBody>
      </p:sp>
      <p:sp>
        <p:nvSpPr>
          <p:cNvPr id="8" name="מלבן 7">
            <a:extLst>
              <a:ext uri="{FF2B5EF4-FFF2-40B4-BE49-F238E27FC236}">
                <a16:creationId xmlns:a16="http://schemas.microsoft.com/office/drawing/2014/main" id="{F5D63FB7-558C-49B2-8517-A6973B3EE6CD}"/>
              </a:ext>
            </a:extLst>
          </p:cNvPr>
          <p:cNvSpPr/>
          <p:nvPr/>
        </p:nvSpPr>
        <p:spPr>
          <a:xfrm>
            <a:off x="3880168" y="4964538"/>
            <a:ext cx="665503" cy="369332"/>
          </a:xfrm>
          <a:prstGeom prst="rect">
            <a:avLst/>
          </a:prstGeom>
        </p:spPr>
        <p:txBody>
          <a:bodyPr wrap="none">
            <a:spAutoFit/>
          </a:bodyPr>
          <a:lstStyle/>
          <a:p>
            <a:r>
              <a:rPr lang="en-US" dirty="0"/>
              <a:t>Void:</a:t>
            </a:r>
            <a:endParaRPr lang="he-IL" dirty="0"/>
          </a:p>
        </p:txBody>
      </p:sp>
    </p:spTree>
    <p:extLst>
      <p:ext uri="{BB962C8B-B14F-4D97-AF65-F5344CB8AC3E}">
        <p14:creationId xmlns:p14="http://schemas.microsoft.com/office/powerpoint/2010/main" val="177219370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a:extLst>
              <a:ext uri="{FF2B5EF4-FFF2-40B4-BE49-F238E27FC236}">
                <a16:creationId xmlns:a16="http://schemas.microsoft.com/office/drawing/2014/main" id="{FDA83F51-2A67-45F8-953C-493A4266D00F}"/>
              </a:ext>
            </a:extLst>
          </p:cNvPr>
          <p:cNvPicPr>
            <a:picLocks noChangeAspect="1"/>
          </p:cNvPicPr>
          <p:nvPr/>
        </p:nvPicPr>
        <p:blipFill>
          <a:blip r:embed="rId2"/>
          <a:stretch>
            <a:fillRect/>
          </a:stretch>
        </p:blipFill>
        <p:spPr>
          <a:xfrm>
            <a:off x="4409439" y="951845"/>
            <a:ext cx="4616551" cy="898074"/>
          </a:xfrm>
          <a:prstGeom prst="rect">
            <a:avLst/>
          </a:prstGeom>
        </p:spPr>
      </p:pic>
      <p:pic>
        <p:nvPicPr>
          <p:cNvPr id="3" name="תמונה 2">
            <a:extLst>
              <a:ext uri="{FF2B5EF4-FFF2-40B4-BE49-F238E27FC236}">
                <a16:creationId xmlns:a16="http://schemas.microsoft.com/office/drawing/2014/main" id="{AA608A3D-EA91-4415-AB8C-814E5521F8F6}"/>
              </a:ext>
            </a:extLst>
          </p:cNvPr>
          <p:cNvPicPr>
            <a:picLocks noChangeAspect="1"/>
          </p:cNvPicPr>
          <p:nvPr/>
        </p:nvPicPr>
        <p:blipFill>
          <a:blip r:embed="rId3"/>
          <a:stretch>
            <a:fillRect/>
          </a:stretch>
        </p:blipFill>
        <p:spPr>
          <a:xfrm>
            <a:off x="4409439" y="2881550"/>
            <a:ext cx="4616551" cy="3505694"/>
          </a:xfrm>
          <a:prstGeom prst="rect">
            <a:avLst/>
          </a:prstGeom>
        </p:spPr>
      </p:pic>
      <p:sp>
        <p:nvSpPr>
          <p:cNvPr id="5" name="TextBox 4">
            <a:extLst>
              <a:ext uri="{FF2B5EF4-FFF2-40B4-BE49-F238E27FC236}">
                <a16:creationId xmlns:a16="http://schemas.microsoft.com/office/drawing/2014/main" id="{59620D59-7992-4DFA-849E-6EC52C87A8A8}"/>
              </a:ext>
            </a:extLst>
          </p:cNvPr>
          <p:cNvSpPr txBox="1"/>
          <p:nvPr/>
        </p:nvSpPr>
        <p:spPr>
          <a:xfrm>
            <a:off x="4307840" y="152400"/>
            <a:ext cx="1788160" cy="369332"/>
          </a:xfrm>
          <a:prstGeom prst="rect">
            <a:avLst/>
          </a:prstGeom>
          <a:noFill/>
        </p:spPr>
        <p:txBody>
          <a:bodyPr wrap="square" rtlCol="1">
            <a:spAutoFit/>
          </a:bodyPr>
          <a:lstStyle/>
          <a:p>
            <a:r>
              <a:rPr lang="en-US"/>
              <a:t>Union Types:</a:t>
            </a:r>
            <a:endParaRPr lang="he-IL" dirty="0"/>
          </a:p>
        </p:txBody>
      </p:sp>
      <p:sp>
        <p:nvSpPr>
          <p:cNvPr id="7" name="מלבן 6">
            <a:extLst>
              <a:ext uri="{FF2B5EF4-FFF2-40B4-BE49-F238E27FC236}">
                <a16:creationId xmlns:a16="http://schemas.microsoft.com/office/drawing/2014/main" id="{94E76F17-C8B0-49AE-97D5-6E172AD14F24}"/>
              </a:ext>
            </a:extLst>
          </p:cNvPr>
          <p:cNvSpPr/>
          <p:nvPr/>
        </p:nvSpPr>
        <p:spPr>
          <a:xfrm>
            <a:off x="4611352" y="2181068"/>
            <a:ext cx="1973617" cy="369332"/>
          </a:xfrm>
          <a:prstGeom prst="rect">
            <a:avLst/>
          </a:prstGeom>
        </p:spPr>
        <p:txBody>
          <a:bodyPr wrap="none">
            <a:spAutoFit/>
          </a:bodyPr>
          <a:lstStyle/>
          <a:p>
            <a:r>
              <a:rPr lang="he-IL" dirty="0" err="1"/>
              <a:t>Intersection</a:t>
            </a:r>
            <a:r>
              <a:rPr lang="he-IL" dirty="0"/>
              <a:t> </a:t>
            </a:r>
            <a:r>
              <a:rPr lang="he-IL" dirty="0" err="1"/>
              <a:t>Types</a:t>
            </a:r>
            <a:r>
              <a:rPr lang="he-IL" dirty="0"/>
              <a:t>:</a:t>
            </a:r>
          </a:p>
        </p:txBody>
      </p:sp>
    </p:spTree>
    <p:extLst>
      <p:ext uri="{BB962C8B-B14F-4D97-AF65-F5344CB8AC3E}">
        <p14:creationId xmlns:p14="http://schemas.microsoft.com/office/powerpoint/2010/main" val="136339239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a:extLst>
              <a:ext uri="{FF2B5EF4-FFF2-40B4-BE49-F238E27FC236}">
                <a16:creationId xmlns:a16="http://schemas.microsoft.com/office/drawing/2014/main" id="{80873AC9-40AA-4DC5-A657-2AE731089D90}"/>
              </a:ext>
            </a:extLst>
          </p:cNvPr>
          <p:cNvPicPr>
            <a:picLocks noChangeAspect="1"/>
          </p:cNvPicPr>
          <p:nvPr/>
        </p:nvPicPr>
        <p:blipFill>
          <a:blip r:embed="rId2"/>
          <a:stretch>
            <a:fillRect/>
          </a:stretch>
        </p:blipFill>
        <p:spPr>
          <a:xfrm>
            <a:off x="4023360" y="539727"/>
            <a:ext cx="4723235" cy="1038234"/>
          </a:xfrm>
          <a:prstGeom prst="rect">
            <a:avLst/>
          </a:prstGeom>
        </p:spPr>
      </p:pic>
      <p:pic>
        <p:nvPicPr>
          <p:cNvPr id="3" name="תמונה 2">
            <a:extLst>
              <a:ext uri="{FF2B5EF4-FFF2-40B4-BE49-F238E27FC236}">
                <a16:creationId xmlns:a16="http://schemas.microsoft.com/office/drawing/2014/main" id="{DC48F79B-CAA6-4A32-A4C9-26852DCE8C60}"/>
              </a:ext>
            </a:extLst>
          </p:cNvPr>
          <p:cNvPicPr>
            <a:picLocks noChangeAspect="1"/>
          </p:cNvPicPr>
          <p:nvPr/>
        </p:nvPicPr>
        <p:blipFill>
          <a:blip r:embed="rId3"/>
          <a:stretch>
            <a:fillRect/>
          </a:stretch>
        </p:blipFill>
        <p:spPr>
          <a:xfrm>
            <a:off x="4048020" y="2254213"/>
            <a:ext cx="4723234" cy="1595592"/>
          </a:xfrm>
          <a:prstGeom prst="rect">
            <a:avLst/>
          </a:prstGeom>
        </p:spPr>
      </p:pic>
      <p:pic>
        <p:nvPicPr>
          <p:cNvPr id="4" name="תמונה 3">
            <a:extLst>
              <a:ext uri="{FF2B5EF4-FFF2-40B4-BE49-F238E27FC236}">
                <a16:creationId xmlns:a16="http://schemas.microsoft.com/office/drawing/2014/main" id="{C57CC671-5CE4-45E6-8640-E3FAB8457A6C}"/>
              </a:ext>
            </a:extLst>
          </p:cNvPr>
          <p:cNvPicPr>
            <a:picLocks noChangeAspect="1"/>
          </p:cNvPicPr>
          <p:nvPr/>
        </p:nvPicPr>
        <p:blipFill>
          <a:blip r:embed="rId4"/>
          <a:stretch>
            <a:fillRect/>
          </a:stretch>
        </p:blipFill>
        <p:spPr>
          <a:xfrm>
            <a:off x="3971816" y="4909161"/>
            <a:ext cx="4962044" cy="1038234"/>
          </a:xfrm>
          <a:prstGeom prst="rect">
            <a:avLst/>
          </a:prstGeom>
        </p:spPr>
      </p:pic>
    </p:spTree>
    <p:extLst>
      <p:ext uri="{BB962C8B-B14F-4D97-AF65-F5344CB8AC3E}">
        <p14:creationId xmlns:p14="http://schemas.microsoft.com/office/powerpoint/2010/main" val="335556728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a:extLst>
              <a:ext uri="{FF2B5EF4-FFF2-40B4-BE49-F238E27FC236}">
                <a16:creationId xmlns:a16="http://schemas.microsoft.com/office/drawing/2014/main" id="{D1072375-FA2E-4F6B-A55E-2CB7EE94998E}"/>
              </a:ext>
            </a:extLst>
          </p:cNvPr>
          <p:cNvPicPr>
            <a:picLocks noChangeAspect="1"/>
          </p:cNvPicPr>
          <p:nvPr/>
        </p:nvPicPr>
        <p:blipFill>
          <a:blip r:embed="rId2"/>
          <a:stretch>
            <a:fillRect/>
          </a:stretch>
        </p:blipFill>
        <p:spPr>
          <a:xfrm>
            <a:off x="1995457" y="828706"/>
            <a:ext cx="8545118" cy="2267266"/>
          </a:xfrm>
          <a:prstGeom prst="rect">
            <a:avLst/>
          </a:prstGeom>
        </p:spPr>
      </p:pic>
      <p:pic>
        <p:nvPicPr>
          <p:cNvPr id="3" name="תמונה 2">
            <a:extLst>
              <a:ext uri="{FF2B5EF4-FFF2-40B4-BE49-F238E27FC236}">
                <a16:creationId xmlns:a16="http://schemas.microsoft.com/office/drawing/2014/main" id="{8966D655-782B-4B5E-ACB8-3CD755BDD215}"/>
              </a:ext>
            </a:extLst>
          </p:cNvPr>
          <p:cNvPicPr>
            <a:picLocks noChangeAspect="1"/>
          </p:cNvPicPr>
          <p:nvPr/>
        </p:nvPicPr>
        <p:blipFill>
          <a:blip r:embed="rId3"/>
          <a:stretch>
            <a:fillRect/>
          </a:stretch>
        </p:blipFill>
        <p:spPr>
          <a:xfrm>
            <a:off x="1995457" y="3571502"/>
            <a:ext cx="8545118" cy="619211"/>
          </a:xfrm>
          <a:prstGeom prst="rect">
            <a:avLst/>
          </a:prstGeom>
        </p:spPr>
      </p:pic>
    </p:spTree>
    <p:extLst>
      <p:ext uri="{BB962C8B-B14F-4D97-AF65-F5344CB8AC3E}">
        <p14:creationId xmlns:p14="http://schemas.microsoft.com/office/powerpoint/2010/main" val="115984962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4C794C0-AE63-4840-B754-BFAFC4B4CBD0}"/>
              </a:ext>
            </a:extLst>
          </p:cNvPr>
          <p:cNvSpPr txBox="1"/>
          <p:nvPr/>
        </p:nvSpPr>
        <p:spPr>
          <a:xfrm>
            <a:off x="4246880" y="365760"/>
            <a:ext cx="5648960" cy="369332"/>
          </a:xfrm>
          <a:prstGeom prst="rect">
            <a:avLst/>
          </a:prstGeom>
          <a:noFill/>
        </p:spPr>
        <p:txBody>
          <a:bodyPr wrap="square" rtlCol="1">
            <a:spAutoFit/>
          </a:bodyPr>
          <a:lstStyle/>
          <a:p>
            <a:r>
              <a:rPr lang="he-IL" dirty="0"/>
              <a:t>תרגול:</a:t>
            </a:r>
          </a:p>
        </p:txBody>
      </p:sp>
      <p:sp>
        <p:nvSpPr>
          <p:cNvPr id="3" name="מלבן 2">
            <a:extLst>
              <a:ext uri="{FF2B5EF4-FFF2-40B4-BE49-F238E27FC236}">
                <a16:creationId xmlns:a16="http://schemas.microsoft.com/office/drawing/2014/main" id="{1B090614-201E-4E10-845C-C455B792E06D}"/>
              </a:ext>
            </a:extLst>
          </p:cNvPr>
          <p:cNvSpPr/>
          <p:nvPr/>
        </p:nvSpPr>
        <p:spPr>
          <a:xfrm>
            <a:off x="3393440" y="1229360"/>
            <a:ext cx="7284720" cy="52628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4" name="מלבן 3">
            <a:extLst>
              <a:ext uri="{FF2B5EF4-FFF2-40B4-BE49-F238E27FC236}">
                <a16:creationId xmlns:a16="http://schemas.microsoft.com/office/drawing/2014/main" id="{DF4605A7-15BA-49F8-A176-7FFED65DAAD6}"/>
              </a:ext>
            </a:extLst>
          </p:cNvPr>
          <p:cNvSpPr/>
          <p:nvPr/>
        </p:nvSpPr>
        <p:spPr>
          <a:xfrm>
            <a:off x="3921760" y="2804160"/>
            <a:ext cx="3881120" cy="50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5" name="מלבן: פינות מעוגלות 4">
            <a:extLst>
              <a:ext uri="{FF2B5EF4-FFF2-40B4-BE49-F238E27FC236}">
                <a16:creationId xmlns:a16="http://schemas.microsoft.com/office/drawing/2014/main" id="{F1D88B2A-065A-4821-B40A-14BD735FAA9A}"/>
              </a:ext>
            </a:extLst>
          </p:cNvPr>
          <p:cNvSpPr/>
          <p:nvPr/>
        </p:nvSpPr>
        <p:spPr>
          <a:xfrm>
            <a:off x="8569960" y="2828052"/>
            <a:ext cx="726440" cy="508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6" name="TextBox 5">
            <a:extLst>
              <a:ext uri="{FF2B5EF4-FFF2-40B4-BE49-F238E27FC236}">
                <a16:creationId xmlns:a16="http://schemas.microsoft.com/office/drawing/2014/main" id="{1290AE4C-2620-436B-A5F0-A1D672BF204D}"/>
              </a:ext>
            </a:extLst>
          </p:cNvPr>
          <p:cNvSpPr txBox="1"/>
          <p:nvPr/>
        </p:nvSpPr>
        <p:spPr>
          <a:xfrm>
            <a:off x="5476240" y="1686560"/>
            <a:ext cx="3484880" cy="369332"/>
          </a:xfrm>
          <a:prstGeom prst="rect">
            <a:avLst/>
          </a:prstGeom>
          <a:noFill/>
        </p:spPr>
        <p:txBody>
          <a:bodyPr wrap="square" rtlCol="1">
            <a:spAutoFit/>
          </a:bodyPr>
          <a:lstStyle/>
          <a:p>
            <a:r>
              <a:rPr lang="en-US" dirty="0" err="1"/>
              <a:t>ToDo</a:t>
            </a:r>
            <a:r>
              <a:rPr lang="en-US" dirty="0"/>
              <a:t> list</a:t>
            </a:r>
            <a:endParaRPr lang="he-IL" dirty="0"/>
          </a:p>
        </p:txBody>
      </p:sp>
      <p:sp>
        <p:nvSpPr>
          <p:cNvPr id="7" name="TextBox 6">
            <a:extLst>
              <a:ext uri="{FF2B5EF4-FFF2-40B4-BE49-F238E27FC236}">
                <a16:creationId xmlns:a16="http://schemas.microsoft.com/office/drawing/2014/main" id="{A175EA3F-E5E9-4866-970F-116FD95211E3}"/>
              </a:ext>
            </a:extLst>
          </p:cNvPr>
          <p:cNvSpPr txBox="1"/>
          <p:nvPr/>
        </p:nvSpPr>
        <p:spPr>
          <a:xfrm>
            <a:off x="3921760" y="2966720"/>
            <a:ext cx="3474720" cy="369332"/>
          </a:xfrm>
          <a:prstGeom prst="rect">
            <a:avLst/>
          </a:prstGeom>
          <a:noFill/>
        </p:spPr>
        <p:txBody>
          <a:bodyPr wrap="square" rtlCol="1">
            <a:spAutoFit/>
          </a:bodyPr>
          <a:lstStyle/>
          <a:p>
            <a:r>
              <a:rPr lang="he-IL" dirty="0"/>
              <a:t>הכנס משימה</a:t>
            </a:r>
          </a:p>
        </p:txBody>
      </p:sp>
      <p:sp>
        <p:nvSpPr>
          <p:cNvPr id="8" name="TextBox 7">
            <a:extLst>
              <a:ext uri="{FF2B5EF4-FFF2-40B4-BE49-F238E27FC236}">
                <a16:creationId xmlns:a16="http://schemas.microsoft.com/office/drawing/2014/main" id="{36F19B64-E6D8-479C-B186-E0A66D8CE1D2}"/>
              </a:ext>
            </a:extLst>
          </p:cNvPr>
          <p:cNvSpPr txBox="1"/>
          <p:nvPr/>
        </p:nvSpPr>
        <p:spPr>
          <a:xfrm>
            <a:off x="8331200" y="2966720"/>
            <a:ext cx="965200" cy="369332"/>
          </a:xfrm>
          <a:prstGeom prst="rect">
            <a:avLst/>
          </a:prstGeom>
          <a:noFill/>
        </p:spPr>
        <p:txBody>
          <a:bodyPr wrap="square" rtlCol="1">
            <a:spAutoFit/>
          </a:bodyPr>
          <a:lstStyle/>
          <a:p>
            <a:r>
              <a:rPr lang="he-IL" dirty="0"/>
              <a:t>הוסף</a:t>
            </a:r>
          </a:p>
        </p:txBody>
      </p:sp>
      <p:sp>
        <p:nvSpPr>
          <p:cNvPr id="9" name="מלבן: פינות מעוגלות 8">
            <a:extLst>
              <a:ext uri="{FF2B5EF4-FFF2-40B4-BE49-F238E27FC236}">
                <a16:creationId xmlns:a16="http://schemas.microsoft.com/office/drawing/2014/main" id="{CB18E8C9-8949-4E99-BE4A-D75CA2EC03E3}"/>
              </a:ext>
            </a:extLst>
          </p:cNvPr>
          <p:cNvSpPr/>
          <p:nvPr/>
        </p:nvSpPr>
        <p:spPr>
          <a:xfrm>
            <a:off x="9535160" y="2804160"/>
            <a:ext cx="980440" cy="52832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0" name="TextBox 9">
            <a:extLst>
              <a:ext uri="{FF2B5EF4-FFF2-40B4-BE49-F238E27FC236}">
                <a16:creationId xmlns:a16="http://schemas.microsoft.com/office/drawing/2014/main" id="{9B9924CB-E45B-456D-9763-6B21B7765CAD}"/>
              </a:ext>
            </a:extLst>
          </p:cNvPr>
          <p:cNvSpPr txBox="1"/>
          <p:nvPr/>
        </p:nvSpPr>
        <p:spPr>
          <a:xfrm>
            <a:off x="9433560" y="2860318"/>
            <a:ext cx="965200" cy="369332"/>
          </a:xfrm>
          <a:prstGeom prst="rect">
            <a:avLst/>
          </a:prstGeom>
          <a:noFill/>
        </p:spPr>
        <p:txBody>
          <a:bodyPr wrap="square" rtlCol="1">
            <a:spAutoFit/>
          </a:bodyPr>
          <a:lstStyle/>
          <a:p>
            <a:r>
              <a:rPr lang="he-IL" dirty="0"/>
              <a:t>סנן</a:t>
            </a:r>
          </a:p>
        </p:txBody>
      </p:sp>
    </p:spTree>
    <p:extLst>
      <p:ext uri="{BB962C8B-B14F-4D97-AF65-F5344CB8AC3E}">
        <p14:creationId xmlns:p14="http://schemas.microsoft.com/office/powerpoint/2010/main" val="254248708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לבן 1">
            <a:extLst>
              <a:ext uri="{FF2B5EF4-FFF2-40B4-BE49-F238E27FC236}">
                <a16:creationId xmlns:a16="http://schemas.microsoft.com/office/drawing/2014/main" id="{94B4DD62-1397-462D-BE7D-10BE65F38A86}"/>
              </a:ext>
            </a:extLst>
          </p:cNvPr>
          <p:cNvSpPr/>
          <p:nvPr/>
        </p:nvSpPr>
        <p:spPr>
          <a:xfrm>
            <a:off x="6200163" y="2348041"/>
            <a:ext cx="4517582" cy="369332"/>
          </a:xfrm>
          <a:prstGeom prst="rect">
            <a:avLst/>
          </a:prstGeom>
        </p:spPr>
        <p:txBody>
          <a:bodyPr wrap="none">
            <a:spAutoFit/>
          </a:bodyPr>
          <a:lstStyle/>
          <a:p>
            <a:r>
              <a:rPr lang="he-IL" dirty="0"/>
              <a:t>https://jsonplaceholder.typicode.com/albums</a:t>
            </a:r>
          </a:p>
        </p:txBody>
      </p:sp>
      <p:sp>
        <p:nvSpPr>
          <p:cNvPr id="3" name="מלבן 2">
            <a:extLst>
              <a:ext uri="{FF2B5EF4-FFF2-40B4-BE49-F238E27FC236}">
                <a16:creationId xmlns:a16="http://schemas.microsoft.com/office/drawing/2014/main" id="{48361C5B-158D-4FFB-8D05-14BC0B8BF539}"/>
              </a:ext>
            </a:extLst>
          </p:cNvPr>
          <p:cNvSpPr/>
          <p:nvPr/>
        </p:nvSpPr>
        <p:spPr>
          <a:xfrm>
            <a:off x="3927778" y="3244334"/>
            <a:ext cx="4336444" cy="369332"/>
          </a:xfrm>
          <a:prstGeom prst="rect">
            <a:avLst/>
          </a:prstGeom>
        </p:spPr>
        <p:txBody>
          <a:bodyPr wrap="none">
            <a:spAutoFit/>
          </a:bodyPr>
          <a:lstStyle/>
          <a:p>
            <a:r>
              <a:rPr lang="he-IL" dirty="0"/>
              <a:t>https://jsonplaceholder.typicode.com/posts</a:t>
            </a:r>
          </a:p>
        </p:txBody>
      </p:sp>
      <p:sp>
        <p:nvSpPr>
          <p:cNvPr id="4" name="מלבן 3">
            <a:extLst>
              <a:ext uri="{FF2B5EF4-FFF2-40B4-BE49-F238E27FC236}">
                <a16:creationId xmlns:a16="http://schemas.microsoft.com/office/drawing/2014/main" id="{0E25E43B-03B7-4B21-A928-3939DFFEF8B3}"/>
              </a:ext>
            </a:extLst>
          </p:cNvPr>
          <p:cNvSpPr/>
          <p:nvPr/>
        </p:nvSpPr>
        <p:spPr>
          <a:xfrm>
            <a:off x="3048000" y="5168315"/>
            <a:ext cx="6096000" cy="646331"/>
          </a:xfrm>
          <a:prstGeom prst="rect">
            <a:avLst/>
          </a:prstGeom>
        </p:spPr>
        <p:txBody>
          <a:bodyPr>
            <a:spAutoFit/>
          </a:bodyPr>
          <a:lstStyle/>
          <a:p>
            <a:r>
              <a:rPr lang="en-US" dirty="0" err="1">
                <a:solidFill>
                  <a:srgbClr val="000000"/>
                </a:solidFill>
                <a:latin typeface="Rubik"/>
              </a:rPr>
              <a:t>npx</a:t>
            </a:r>
            <a:r>
              <a:rPr lang="en-US" dirty="0">
                <a:solidFill>
                  <a:srgbClr val="000000"/>
                </a:solidFill>
                <a:latin typeface="Rubik"/>
              </a:rPr>
              <a:t> create-react-app my-app --template typescript</a:t>
            </a:r>
            <a:br>
              <a:rPr lang="en-US" dirty="0"/>
            </a:br>
            <a:endParaRPr lang="he-IL" dirty="0"/>
          </a:p>
        </p:txBody>
      </p:sp>
    </p:spTree>
    <p:extLst>
      <p:ext uri="{BB962C8B-B14F-4D97-AF65-F5344CB8AC3E}">
        <p14:creationId xmlns:p14="http://schemas.microsoft.com/office/powerpoint/2010/main" val="77410947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369D1C48-905F-4DF5-B357-5D4C0F7C5E36}"/>
              </a:ext>
            </a:extLst>
          </p:cNvPr>
          <p:cNvPicPr>
            <a:picLocks noChangeAspect="1"/>
          </p:cNvPicPr>
          <p:nvPr/>
        </p:nvPicPr>
        <p:blipFill>
          <a:blip r:embed="rId2"/>
          <a:stretch>
            <a:fillRect/>
          </a:stretch>
        </p:blipFill>
        <p:spPr>
          <a:xfrm>
            <a:off x="4883654" y="741587"/>
            <a:ext cx="5086611" cy="3606985"/>
          </a:xfrm>
          <a:prstGeom prst="rect">
            <a:avLst/>
          </a:prstGeom>
        </p:spPr>
      </p:pic>
    </p:spTree>
    <p:extLst>
      <p:ext uri="{BB962C8B-B14F-4D97-AF65-F5344CB8AC3E}">
        <p14:creationId xmlns:p14="http://schemas.microsoft.com/office/powerpoint/2010/main" val="374315406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a:extLst>
              <a:ext uri="{FF2B5EF4-FFF2-40B4-BE49-F238E27FC236}">
                <a16:creationId xmlns:a16="http://schemas.microsoft.com/office/drawing/2014/main" id="{FA0570F9-4AB9-41A1-8548-8BA32EED37A6}"/>
              </a:ext>
            </a:extLst>
          </p:cNvPr>
          <p:cNvPicPr>
            <a:picLocks noChangeAspect="1"/>
          </p:cNvPicPr>
          <p:nvPr/>
        </p:nvPicPr>
        <p:blipFill>
          <a:blip r:embed="rId2"/>
          <a:stretch>
            <a:fillRect/>
          </a:stretch>
        </p:blipFill>
        <p:spPr>
          <a:xfrm>
            <a:off x="4164195" y="613298"/>
            <a:ext cx="5245370" cy="4330923"/>
          </a:xfrm>
          <a:prstGeom prst="rect">
            <a:avLst/>
          </a:prstGeom>
        </p:spPr>
      </p:pic>
    </p:spTree>
    <p:extLst>
      <p:ext uri="{BB962C8B-B14F-4D97-AF65-F5344CB8AC3E}">
        <p14:creationId xmlns:p14="http://schemas.microsoft.com/office/powerpoint/2010/main" val="373956431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תיבת טקסט 2">
            <a:extLst>
              <a:ext uri="{FF2B5EF4-FFF2-40B4-BE49-F238E27FC236}">
                <a16:creationId xmlns:a16="http://schemas.microsoft.com/office/drawing/2014/main" id="{5DD5AF96-221E-40F1-9B77-5C3303FEF4B7}"/>
              </a:ext>
            </a:extLst>
          </p:cNvPr>
          <p:cNvSpPr txBox="1"/>
          <p:nvPr/>
        </p:nvSpPr>
        <p:spPr>
          <a:xfrm>
            <a:off x="3047301" y="3107932"/>
            <a:ext cx="6094602" cy="646331"/>
          </a:xfrm>
          <a:prstGeom prst="rect">
            <a:avLst/>
          </a:prstGeom>
          <a:noFill/>
        </p:spPr>
        <p:txBody>
          <a:bodyPr wrap="square">
            <a:spAutoFit/>
          </a:bodyPr>
          <a:lstStyle/>
          <a:p>
            <a:r>
              <a:rPr lang="he-IL" dirty="0"/>
              <a:t>https://www.react-hook-form.com/api/usecontroller/controller/</a:t>
            </a:r>
          </a:p>
        </p:txBody>
      </p:sp>
    </p:spTree>
    <p:extLst>
      <p:ext uri="{BB962C8B-B14F-4D97-AF65-F5344CB8AC3E}">
        <p14:creationId xmlns:p14="http://schemas.microsoft.com/office/powerpoint/2010/main" val="842305605"/>
      </p:ext>
    </p:extLst>
  </p:cSld>
  <p:clrMapOvr>
    <a:masterClrMapping/>
  </p:clrMapOvr>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5587</TotalTime>
  <Words>3619</Words>
  <Application>Microsoft Office PowerPoint</Application>
  <PresentationFormat>מסך רחב</PresentationFormat>
  <Paragraphs>376</Paragraphs>
  <Slides>111</Slides>
  <Notes>0</Notes>
  <HiddenSlides>0</HiddenSlides>
  <MMClips>0</MMClips>
  <ScaleCrop>false</ScaleCrop>
  <HeadingPairs>
    <vt:vector size="6" baseType="variant">
      <vt:variant>
        <vt:lpstr>גופנים בשימוש</vt:lpstr>
      </vt:variant>
      <vt:variant>
        <vt:i4>11</vt:i4>
      </vt:variant>
      <vt:variant>
        <vt:lpstr>ערכת נושא</vt:lpstr>
      </vt:variant>
      <vt:variant>
        <vt:i4>1</vt:i4>
      </vt:variant>
      <vt:variant>
        <vt:lpstr>כותרות שקופיות</vt:lpstr>
      </vt:variant>
      <vt:variant>
        <vt:i4>111</vt:i4>
      </vt:variant>
    </vt:vector>
  </HeadingPairs>
  <TitlesOfParts>
    <vt:vector size="123" baseType="lpstr">
      <vt:lpstr>Alef</vt:lpstr>
      <vt:lpstr>-apple-system</vt:lpstr>
      <vt:lpstr>Arial</vt:lpstr>
      <vt:lpstr>Assistant</vt:lpstr>
      <vt:lpstr>Calibri</vt:lpstr>
      <vt:lpstr>Calibri Light</vt:lpstr>
      <vt:lpstr>Google Sans</vt:lpstr>
      <vt:lpstr>Nunito</vt:lpstr>
      <vt:lpstr>Rubik</vt:lpstr>
      <vt:lpstr>RubikMedium</vt:lpstr>
      <vt:lpstr>Segoe UI</vt:lpstr>
      <vt:lpstr>ערכת נושא Office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חווי שפיעצקי</dc:creator>
  <cp:lastModifiedBy>רחל לב</cp:lastModifiedBy>
  <cp:revision>107</cp:revision>
  <dcterms:created xsi:type="dcterms:W3CDTF">2023-09-07T14:38:41Z</dcterms:created>
  <dcterms:modified xsi:type="dcterms:W3CDTF">2025-02-11T15:16:15Z</dcterms:modified>
</cp:coreProperties>
</file>