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6" r:id="rId2"/>
    <p:sldId id="262" r:id="rId3"/>
    <p:sldId id="263" r:id="rId4"/>
    <p:sldId id="264" r:id="rId5"/>
    <p:sldId id="265" r:id="rId6"/>
    <p:sldId id="266" r:id="rId7"/>
    <p:sldId id="257" r:id="rId8"/>
    <p:sldId id="259" r:id="rId9"/>
    <p:sldId id="260" r:id="rId10"/>
    <p:sldId id="282" r:id="rId11"/>
    <p:sldId id="283" r:id="rId12"/>
    <p:sldId id="261" r:id="rId13"/>
    <p:sldId id="267" r:id="rId14"/>
    <p:sldId id="268" r:id="rId15"/>
    <p:sldId id="269" r:id="rId16"/>
    <p:sldId id="270" r:id="rId17"/>
    <p:sldId id="271" r:id="rId18"/>
    <p:sldId id="272" r:id="rId19"/>
    <p:sldId id="273" r:id="rId20"/>
    <p:sldId id="274" r:id="rId21"/>
    <p:sldId id="284" r:id="rId22"/>
    <p:sldId id="275" r:id="rId23"/>
    <p:sldId id="276" r:id="rId24"/>
    <p:sldId id="277" r:id="rId25"/>
    <p:sldId id="278" r:id="rId26"/>
    <p:sldId id="280" r:id="rId27"/>
    <p:sldId id="281" r:id="rId28"/>
    <p:sldId id="279" r:id="rId29"/>
    <p:sldId id="258" r:id="rId30"/>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חווי שפיעצקי" initials="חש" lastIdx="0" clrIdx="0">
    <p:extLst>
      <p:ext uri="{19B8F6BF-5375-455C-9EA6-DF929625EA0E}">
        <p15:presenceInfo xmlns:p15="http://schemas.microsoft.com/office/powerpoint/2012/main" userId="S-1-5-21-213909694-1288727660-2045738316-100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005" autoAdjust="0"/>
    <p:restoredTop sz="94660"/>
  </p:normalViewPr>
  <p:slideViewPr>
    <p:cSldViewPr snapToGrid="0">
      <p:cViewPr varScale="1">
        <p:scale>
          <a:sx n="112" d="100"/>
          <a:sy n="112" d="100"/>
        </p:scale>
        <p:origin x="55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A41D5DE-80BE-48C8-943D-30CAC2EF3A10}"/>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F6A9F104-A057-4229-9EFE-419CCBDF63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5FD85284-906C-41D1-81CD-4F4C13BD3AC3}"/>
              </a:ext>
            </a:extLst>
          </p:cNvPr>
          <p:cNvSpPr>
            <a:spLocks noGrp="1"/>
          </p:cNvSpPr>
          <p:nvPr>
            <p:ph type="dt" sz="half" idx="10"/>
          </p:nvPr>
        </p:nvSpPr>
        <p:spPr/>
        <p:txBody>
          <a:bodyPr/>
          <a:lstStyle/>
          <a:p>
            <a:fld id="{9F8BE783-BB36-4CD0-A8A8-4B68CA8E4466}" type="datetimeFigureOut">
              <a:rPr lang="he-IL" smtClean="0"/>
              <a:t>ל'/תשרי/תשפ"ו</a:t>
            </a:fld>
            <a:endParaRPr lang="he-IL"/>
          </a:p>
        </p:txBody>
      </p:sp>
      <p:sp>
        <p:nvSpPr>
          <p:cNvPr id="5" name="מציין מיקום של כותרת תחתונה 4">
            <a:extLst>
              <a:ext uri="{FF2B5EF4-FFF2-40B4-BE49-F238E27FC236}">
                <a16:creationId xmlns:a16="http://schemas.microsoft.com/office/drawing/2014/main" id="{A8867ED7-4B8F-471F-93F8-0D8D6A37FB56}"/>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8C914396-1AE4-4D5D-B029-BE27A7DA72C1}"/>
              </a:ext>
            </a:extLst>
          </p:cNvPr>
          <p:cNvSpPr>
            <a:spLocks noGrp="1"/>
          </p:cNvSpPr>
          <p:nvPr>
            <p:ph type="sldNum" sz="quarter" idx="12"/>
          </p:nvPr>
        </p:nvSpPr>
        <p:spPr/>
        <p:txBody>
          <a:bodyPr/>
          <a:lstStyle/>
          <a:p>
            <a:fld id="{9A4CDE2D-05B6-468B-8501-D461FC2AFFD9}" type="slidenum">
              <a:rPr lang="he-IL" smtClean="0"/>
              <a:t>‹#›</a:t>
            </a:fld>
            <a:endParaRPr lang="he-IL"/>
          </a:p>
        </p:txBody>
      </p:sp>
    </p:spTree>
    <p:extLst>
      <p:ext uri="{BB962C8B-B14F-4D97-AF65-F5344CB8AC3E}">
        <p14:creationId xmlns:p14="http://schemas.microsoft.com/office/powerpoint/2010/main" val="579874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FC7222C-EC8E-4089-91B4-0CA84064B9C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8522A472-CF53-42B5-85EB-30D18184ECBF}"/>
              </a:ext>
            </a:extLst>
          </p:cNvPr>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B9952546-AE3D-4D2E-89D6-8CA8574F585C}"/>
              </a:ext>
            </a:extLst>
          </p:cNvPr>
          <p:cNvSpPr>
            <a:spLocks noGrp="1"/>
          </p:cNvSpPr>
          <p:nvPr>
            <p:ph type="dt" sz="half" idx="10"/>
          </p:nvPr>
        </p:nvSpPr>
        <p:spPr/>
        <p:txBody>
          <a:bodyPr/>
          <a:lstStyle/>
          <a:p>
            <a:fld id="{9F8BE783-BB36-4CD0-A8A8-4B68CA8E4466}" type="datetimeFigureOut">
              <a:rPr lang="he-IL" smtClean="0"/>
              <a:t>ל'/תשרי/תשפ"ו</a:t>
            </a:fld>
            <a:endParaRPr lang="he-IL"/>
          </a:p>
        </p:txBody>
      </p:sp>
      <p:sp>
        <p:nvSpPr>
          <p:cNvPr id="5" name="מציין מיקום של כותרת תחתונה 4">
            <a:extLst>
              <a:ext uri="{FF2B5EF4-FFF2-40B4-BE49-F238E27FC236}">
                <a16:creationId xmlns:a16="http://schemas.microsoft.com/office/drawing/2014/main" id="{54A5D632-607E-4D05-87E8-9BED4C64F82B}"/>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61ED4888-64B3-4BDF-AEAC-CAE920BD0404}"/>
              </a:ext>
            </a:extLst>
          </p:cNvPr>
          <p:cNvSpPr>
            <a:spLocks noGrp="1"/>
          </p:cNvSpPr>
          <p:nvPr>
            <p:ph type="sldNum" sz="quarter" idx="12"/>
          </p:nvPr>
        </p:nvSpPr>
        <p:spPr/>
        <p:txBody>
          <a:bodyPr/>
          <a:lstStyle/>
          <a:p>
            <a:fld id="{9A4CDE2D-05B6-468B-8501-D461FC2AFFD9}" type="slidenum">
              <a:rPr lang="he-IL" smtClean="0"/>
              <a:t>‹#›</a:t>
            </a:fld>
            <a:endParaRPr lang="he-IL"/>
          </a:p>
        </p:txBody>
      </p:sp>
    </p:spTree>
    <p:extLst>
      <p:ext uri="{BB962C8B-B14F-4D97-AF65-F5344CB8AC3E}">
        <p14:creationId xmlns:p14="http://schemas.microsoft.com/office/powerpoint/2010/main" val="4137395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D4DF929-5E4B-4DCB-B3CF-A0808A918E4E}"/>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A11C9858-BC28-4D82-9C61-16B29794FB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a:extLst>
              <a:ext uri="{FF2B5EF4-FFF2-40B4-BE49-F238E27FC236}">
                <a16:creationId xmlns:a16="http://schemas.microsoft.com/office/drawing/2014/main" id="{50DB79B9-B7BB-434E-9022-E36C462FEF88}"/>
              </a:ext>
            </a:extLst>
          </p:cNvPr>
          <p:cNvSpPr>
            <a:spLocks noGrp="1"/>
          </p:cNvSpPr>
          <p:nvPr>
            <p:ph type="dt" sz="half" idx="10"/>
          </p:nvPr>
        </p:nvSpPr>
        <p:spPr/>
        <p:txBody>
          <a:bodyPr/>
          <a:lstStyle/>
          <a:p>
            <a:fld id="{9F8BE783-BB36-4CD0-A8A8-4B68CA8E4466}" type="datetimeFigureOut">
              <a:rPr lang="he-IL" smtClean="0"/>
              <a:t>ל'/תשרי/תשפ"ו</a:t>
            </a:fld>
            <a:endParaRPr lang="he-IL"/>
          </a:p>
        </p:txBody>
      </p:sp>
      <p:sp>
        <p:nvSpPr>
          <p:cNvPr id="5" name="מציין מיקום של כותרת תחתונה 4">
            <a:extLst>
              <a:ext uri="{FF2B5EF4-FFF2-40B4-BE49-F238E27FC236}">
                <a16:creationId xmlns:a16="http://schemas.microsoft.com/office/drawing/2014/main" id="{74F844ED-507E-4BDC-ACD6-44F85797C65B}"/>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C0B2CBC7-69A8-4515-84E4-31BC063F1931}"/>
              </a:ext>
            </a:extLst>
          </p:cNvPr>
          <p:cNvSpPr>
            <a:spLocks noGrp="1"/>
          </p:cNvSpPr>
          <p:nvPr>
            <p:ph type="sldNum" sz="quarter" idx="12"/>
          </p:nvPr>
        </p:nvSpPr>
        <p:spPr/>
        <p:txBody>
          <a:bodyPr/>
          <a:lstStyle/>
          <a:p>
            <a:fld id="{9A4CDE2D-05B6-468B-8501-D461FC2AFFD9}" type="slidenum">
              <a:rPr lang="he-IL" smtClean="0"/>
              <a:t>‹#›</a:t>
            </a:fld>
            <a:endParaRPr lang="he-IL"/>
          </a:p>
        </p:txBody>
      </p:sp>
    </p:spTree>
    <p:extLst>
      <p:ext uri="{BB962C8B-B14F-4D97-AF65-F5344CB8AC3E}">
        <p14:creationId xmlns:p14="http://schemas.microsoft.com/office/powerpoint/2010/main" val="1459462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27B4CDE-ECDC-4615-93BA-10C93294BA11}"/>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53457179-0B82-49E0-BE19-458F48D30ED2}"/>
              </a:ext>
            </a:extLst>
          </p:cNvPr>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AF696B38-7ABD-4CFE-8BA3-21357B0B439A}"/>
              </a:ext>
            </a:extLst>
          </p:cNvPr>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84CA2FCE-8A89-4FD4-8FAC-C480C0BF7BF1}"/>
              </a:ext>
            </a:extLst>
          </p:cNvPr>
          <p:cNvSpPr>
            <a:spLocks noGrp="1"/>
          </p:cNvSpPr>
          <p:nvPr>
            <p:ph type="dt" sz="half" idx="10"/>
          </p:nvPr>
        </p:nvSpPr>
        <p:spPr/>
        <p:txBody>
          <a:bodyPr/>
          <a:lstStyle/>
          <a:p>
            <a:fld id="{9F8BE783-BB36-4CD0-A8A8-4B68CA8E4466}" type="datetimeFigureOut">
              <a:rPr lang="he-IL" smtClean="0"/>
              <a:t>ל'/תשרי/תשפ"ו</a:t>
            </a:fld>
            <a:endParaRPr lang="he-IL"/>
          </a:p>
        </p:txBody>
      </p:sp>
      <p:sp>
        <p:nvSpPr>
          <p:cNvPr id="6" name="מציין מיקום של כותרת תחתונה 5">
            <a:extLst>
              <a:ext uri="{FF2B5EF4-FFF2-40B4-BE49-F238E27FC236}">
                <a16:creationId xmlns:a16="http://schemas.microsoft.com/office/drawing/2014/main" id="{C1A95219-E34F-4DB0-80FB-B3CC8267B012}"/>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8CA18A9D-CC35-4F18-9CFC-48A61622B990}"/>
              </a:ext>
            </a:extLst>
          </p:cNvPr>
          <p:cNvSpPr>
            <a:spLocks noGrp="1"/>
          </p:cNvSpPr>
          <p:nvPr>
            <p:ph type="sldNum" sz="quarter" idx="12"/>
          </p:nvPr>
        </p:nvSpPr>
        <p:spPr/>
        <p:txBody>
          <a:bodyPr/>
          <a:lstStyle/>
          <a:p>
            <a:fld id="{9A4CDE2D-05B6-468B-8501-D461FC2AFFD9}" type="slidenum">
              <a:rPr lang="he-IL" smtClean="0"/>
              <a:t>‹#›</a:t>
            </a:fld>
            <a:endParaRPr lang="he-IL"/>
          </a:p>
        </p:txBody>
      </p:sp>
    </p:spTree>
    <p:extLst>
      <p:ext uri="{BB962C8B-B14F-4D97-AF65-F5344CB8AC3E}">
        <p14:creationId xmlns:p14="http://schemas.microsoft.com/office/powerpoint/2010/main" val="4072226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5C272CA-CEB7-4EFA-B7CC-80D0D0037A02}"/>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1AF3C8C7-71D1-43BA-83CB-2817D0BBC3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a:extLst>
              <a:ext uri="{FF2B5EF4-FFF2-40B4-BE49-F238E27FC236}">
                <a16:creationId xmlns:a16="http://schemas.microsoft.com/office/drawing/2014/main" id="{7F0A9335-49E9-4717-9BFD-7423CBFE7D81}"/>
              </a:ext>
            </a:extLst>
          </p:cNvPr>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3CF1FFD0-2652-4791-9DE6-E32015B000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a:extLst>
              <a:ext uri="{FF2B5EF4-FFF2-40B4-BE49-F238E27FC236}">
                <a16:creationId xmlns:a16="http://schemas.microsoft.com/office/drawing/2014/main" id="{6A2B8506-C11A-4B7F-BFBB-A26D2B639B75}"/>
              </a:ext>
            </a:extLst>
          </p:cNvPr>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C21745BA-2C00-4D5B-9176-2B185543C23F}"/>
              </a:ext>
            </a:extLst>
          </p:cNvPr>
          <p:cNvSpPr>
            <a:spLocks noGrp="1"/>
          </p:cNvSpPr>
          <p:nvPr>
            <p:ph type="dt" sz="half" idx="10"/>
          </p:nvPr>
        </p:nvSpPr>
        <p:spPr/>
        <p:txBody>
          <a:bodyPr/>
          <a:lstStyle/>
          <a:p>
            <a:fld id="{9F8BE783-BB36-4CD0-A8A8-4B68CA8E4466}" type="datetimeFigureOut">
              <a:rPr lang="he-IL" smtClean="0"/>
              <a:t>ל'/תשרי/תשפ"ו</a:t>
            </a:fld>
            <a:endParaRPr lang="he-IL"/>
          </a:p>
        </p:txBody>
      </p:sp>
      <p:sp>
        <p:nvSpPr>
          <p:cNvPr id="8" name="מציין מיקום של כותרת תחתונה 7">
            <a:extLst>
              <a:ext uri="{FF2B5EF4-FFF2-40B4-BE49-F238E27FC236}">
                <a16:creationId xmlns:a16="http://schemas.microsoft.com/office/drawing/2014/main" id="{711FA82D-5D1A-46F8-98AA-D3DAF1A3C600}"/>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FCA4978D-67C1-40FF-8216-40FF1B28FCFA}"/>
              </a:ext>
            </a:extLst>
          </p:cNvPr>
          <p:cNvSpPr>
            <a:spLocks noGrp="1"/>
          </p:cNvSpPr>
          <p:nvPr>
            <p:ph type="sldNum" sz="quarter" idx="12"/>
          </p:nvPr>
        </p:nvSpPr>
        <p:spPr/>
        <p:txBody>
          <a:bodyPr/>
          <a:lstStyle/>
          <a:p>
            <a:fld id="{9A4CDE2D-05B6-468B-8501-D461FC2AFFD9}" type="slidenum">
              <a:rPr lang="he-IL" smtClean="0"/>
              <a:t>‹#›</a:t>
            </a:fld>
            <a:endParaRPr lang="he-IL"/>
          </a:p>
        </p:txBody>
      </p:sp>
    </p:spTree>
    <p:extLst>
      <p:ext uri="{BB962C8B-B14F-4D97-AF65-F5344CB8AC3E}">
        <p14:creationId xmlns:p14="http://schemas.microsoft.com/office/powerpoint/2010/main" val="157239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80EBB34-7A8D-4F9C-BA1D-FA5CA6FC58C6}"/>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EBCC0410-8EB8-4793-A917-A4E22858D979}"/>
              </a:ext>
            </a:extLst>
          </p:cNvPr>
          <p:cNvSpPr>
            <a:spLocks noGrp="1"/>
          </p:cNvSpPr>
          <p:nvPr>
            <p:ph type="dt" sz="half" idx="10"/>
          </p:nvPr>
        </p:nvSpPr>
        <p:spPr/>
        <p:txBody>
          <a:bodyPr/>
          <a:lstStyle/>
          <a:p>
            <a:fld id="{9F8BE783-BB36-4CD0-A8A8-4B68CA8E4466}" type="datetimeFigureOut">
              <a:rPr lang="he-IL" smtClean="0"/>
              <a:t>ל'/תשרי/תשפ"ו</a:t>
            </a:fld>
            <a:endParaRPr lang="he-IL"/>
          </a:p>
        </p:txBody>
      </p:sp>
      <p:sp>
        <p:nvSpPr>
          <p:cNvPr id="4" name="מציין מיקום של כותרת תחתונה 3">
            <a:extLst>
              <a:ext uri="{FF2B5EF4-FFF2-40B4-BE49-F238E27FC236}">
                <a16:creationId xmlns:a16="http://schemas.microsoft.com/office/drawing/2014/main" id="{34641242-5947-42D2-843F-4BC807152ABB}"/>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6DAA71B8-DB73-4D10-A579-33A9D75BDEF0}"/>
              </a:ext>
            </a:extLst>
          </p:cNvPr>
          <p:cNvSpPr>
            <a:spLocks noGrp="1"/>
          </p:cNvSpPr>
          <p:nvPr>
            <p:ph type="sldNum" sz="quarter" idx="12"/>
          </p:nvPr>
        </p:nvSpPr>
        <p:spPr/>
        <p:txBody>
          <a:bodyPr/>
          <a:lstStyle/>
          <a:p>
            <a:fld id="{9A4CDE2D-05B6-468B-8501-D461FC2AFFD9}" type="slidenum">
              <a:rPr lang="he-IL" smtClean="0"/>
              <a:t>‹#›</a:t>
            </a:fld>
            <a:endParaRPr lang="he-IL"/>
          </a:p>
        </p:txBody>
      </p:sp>
    </p:spTree>
    <p:extLst>
      <p:ext uri="{BB962C8B-B14F-4D97-AF65-F5344CB8AC3E}">
        <p14:creationId xmlns:p14="http://schemas.microsoft.com/office/powerpoint/2010/main" val="470653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28C6C108-ACD1-4246-9B25-2814E24E0E48}"/>
              </a:ext>
            </a:extLst>
          </p:cNvPr>
          <p:cNvSpPr>
            <a:spLocks noGrp="1"/>
          </p:cNvSpPr>
          <p:nvPr>
            <p:ph type="dt" sz="half" idx="10"/>
          </p:nvPr>
        </p:nvSpPr>
        <p:spPr/>
        <p:txBody>
          <a:bodyPr/>
          <a:lstStyle/>
          <a:p>
            <a:fld id="{9F8BE783-BB36-4CD0-A8A8-4B68CA8E4466}" type="datetimeFigureOut">
              <a:rPr lang="he-IL" smtClean="0"/>
              <a:t>ל'/תשרי/תשפ"ו</a:t>
            </a:fld>
            <a:endParaRPr lang="he-IL"/>
          </a:p>
        </p:txBody>
      </p:sp>
      <p:sp>
        <p:nvSpPr>
          <p:cNvPr id="3" name="מציין מיקום של כותרת תחתונה 2">
            <a:extLst>
              <a:ext uri="{FF2B5EF4-FFF2-40B4-BE49-F238E27FC236}">
                <a16:creationId xmlns:a16="http://schemas.microsoft.com/office/drawing/2014/main" id="{905B3296-A225-4D31-AC76-CA869A5CCE4A}"/>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58D62DA0-327F-4E0D-9997-3EDD1AB82C39}"/>
              </a:ext>
            </a:extLst>
          </p:cNvPr>
          <p:cNvSpPr>
            <a:spLocks noGrp="1"/>
          </p:cNvSpPr>
          <p:nvPr>
            <p:ph type="sldNum" sz="quarter" idx="12"/>
          </p:nvPr>
        </p:nvSpPr>
        <p:spPr/>
        <p:txBody>
          <a:bodyPr/>
          <a:lstStyle/>
          <a:p>
            <a:fld id="{9A4CDE2D-05B6-468B-8501-D461FC2AFFD9}" type="slidenum">
              <a:rPr lang="he-IL" smtClean="0"/>
              <a:t>‹#›</a:t>
            </a:fld>
            <a:endParaRPr lang="he-IL"/>
          </a:p>
        </p:txBody>
      </p:sp>
    </p:spTree>
    <p:extLst>
      <p:ext uri="{BB962C8B-B14F-4D97-AF65-F5344CB8AC3E}">
        <p14:creationId xmlns:p14="http://schemas.microsoft.com/office/powerpoint/2010/main" val="1882457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3E57CB1-0EF0-41DF-8E66-020145AA61A3}"/>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0B91DE40-99DE-4589-A93B-988F8B256A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4388D120-812A-4D4C-B44F-DD4538AF80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a:extLst>
              <a:ext uri="{FF2B5EF4-FFF2-40B4-BE49-F238E27FC236}">
                <a16:creationId xmlns:a16="http://schemas.microsoft.com/office/drawing/2014/main" id="{F67078DE-843B-454F-BF88-77A5187DD433}"/>
              </a:ext>
            </a:extLst>
          </p:cNvPr>
          <p:cNvSpPr>
            <a:spLocks noGrp="1"/>
          </p:cNvSpPr>
          <p:nvPr>
            <p:ph type="dt" sz="half" idx="10"/>
          </p:nvPr>
        </p:nvSpPr>
        <p:spPr/>
        <p:txBody>
          <a:bodyPr/>
          <a:lstStyle/>
          <a:p>
            <a:fld id="{9F8BE783-BB36-4CD0-A8A8-4B68CA8E4466}" type="datetimeFigureOut">
              <a:rPr lang="he-IL" smtClean="0"/>
              <a:t>ל'/תשרי/תשפ"ו</a:t>
            </a:fld>
            <a:endParaRPr lang="he-IL"/>
          </a:p>
        </p:txBody>
      </p:sp>
      <p:sp>
        <p:nvSpPr>
          <p:cNvPr id="6" name="מציין מיקום של כותרת תחתונה 5">
            <a:extLst>
              <a:ext uri="{FF2B5EF4-FFF2-40B4-BE49-F238E27FC236}">
                <a16:creationId xmlns:a16="http://schemas.microsoft.com/office/drawing/2014/main" id="{CFA1F561-BE8E-40B1-8EF6-A682FB32200B}"/>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9251D797-5E96-443B-A9ED-5319EA0006EB}"/>
              </a:ext>
            </a:extLst>
          </p:cNvPr>
          <p:cNvSpPr>
            <a:spLocks noGrp="1"/>
          </p:cNvSpPr>
          <p:nvPr>
            <p:ph type="sldNum" sz="quarter" idx="12"/>
          </p:nvPr>
        </p:nvSpPr>
        <p:spPr/>
        <p:txBody>
          <a:bodyPr/>
          <a:lstStyle/>
          <a:p>
            <a:fld id="{9A4CDE2D-05B6-468B-8501-D461FC2AFFD9}" type="slidenum">
              <a:rPr lang="he-IL" smtClean="0"/>
              <a:t>‹#›</a:t>
            </a:fld>
            <a:endParaRPr lang="he-IL"/>
          </a:p>
        </p:txBody>
      </p:sp>
    </p:spTree>
    <p:extLst>
      <p:ext uri="{BB962C8B-B14F-4D97-AF65-F5344CB8AC3E}">
        <p14:creationId xmlns:p14="http://schemas.microsoft.com/office/powerpoint/2010/main" val="2871436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0B75C9B-4D44-44F1-999D-C9387C60BD26}"/>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862DDC1C-9E61-48A6-A24B-AC03D10E5D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1957D37B-917B-4C8E-A87A-C00FEF7E06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a:extLst>
              <a:ext uri="{FF2B5EF4-FFF2-40B4-BE49-F238E27FC236}">
                <a16:creationId xmlns:a16="http://schemas.microsoft.com/office/drawing/2014/main" id="{7C3FD118-16AD-48F1-9F7B-592B7E97616B}"/>
              </a:ext>
            </a:extLst>
          </p:cNvPr>
          <p:cNvSpPr>
            <a:spLocks noGrp="1"/>
          </p:cNvSpPr>
          <p:nvPr>
            <p:ph type="dt" sz="half" idx="10"/>
          </p:nvPr>
        </p:nvSpPr>
        <p:spPr/>
        <p:txBody>
          <a:bodyPr/>
          <a:lstStyle/>
          <a:p>
            <a:fld id="{9F8BE783-BB36-4CD0-A8A8-4B68CA8E4466}" type="datetimeFigureOut">
              <a:rPr lang="he-IL" smtClean="0"/>
              <a:t>ל'/תשרי/תשפ"ו</a:t>
            </a:fld>
            <a:endParaRPr lang="he-IL"/>
          </a:p>
        </p:txBody>
      </p:sp>
      <p:sp>
        <p:nvSpPr>
          <p:cNvPr id="6" name="מציין מיקום של כותרת תחתונה 5">
            <a:extLst>
              <a:ext uri="{FF2B5EF4-FFF2-40B4-BE49-F238E27FC236}">
                <a16:creationId xmlns:a16="http://schemas.microsoft.com/office/drawing/2014/main" id="{4E3790A2-9CEB-42DD-AD36-5D28FE6250DC}"/>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AD10D0EF-E735-48B7-90CE-2CCE1C925677}"/>
              </a:ext>
            </a:extLst>
          </p:cNvPr>
          <p:cNvSpPr>
            <a:spLocks noGrp="1"/>
          </p:cNvSpPr>
          <p:nvPr>
            <p:ph type="sldNum" sz="quarter" idx="12"/>
          </p:nvPr>
        </p:nvSpPr>
        <p:spPr/>
        <p:txBody>
          <a:bodyPr/>
          <a:lstStyle/>
          <a:p>
            <a:fld id="{9A4CDE2D-05B6-468B-8501-D461FC2AFFD9}" type="slidenum">
              <a:rPr lang="he-IL" smtClean="0"/>
              <a:t>‹#›</a:t>
            </a:fld>
            <a:endParaRPr lang="he-IL"/>
          </a:p>
        </p:txBody>
      </p:sp>
    </p:spTree>
    <p:extLst>
      <p:ext uri="{BB962C8B-B14F-4D97-AF65-F5344CB8AC3E}">
        <p14:creationId xmlns:p14="http://schemas.microsoft.com/office/powerpoint/2010/main" val="87728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9454A11-1B2D-4CF5-B955-272810522E1D}"/>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106DDEE1-A440-4772-8CB5-92976FADE28E}"/>
              </a:ext>
            </a:extLst>
          </p:cNvPr>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ED93835C-D2DB-4DDC-BC81-B4F441E75895}"/>
              </a:ext>
            </a:extLst>
          </p:cNvPr>
          <p:cNvSpPr>
            <a:spLocks noGrp="1"/>
          </p:cNvSpPr>
          <p:nvPr>
            <p:ph type="dt" sz="half" idx="10"/>
          </p:nvPr>
        </p:nvSpPr>
        <p:spPr/>
        <p:txBody>
          <a:bodyPr/>
          <a:lstStyle/>
          <a:p>
            <a:fld id="{9F8BE783-BB36-4CD0-A8A8-4B68CA8E4466}" type="datetimeFigureOut">
              <a:rPr lang="he-IL" smtClean="0"/>
              <a:t>ל'/תשרי/תשפ"ו</a:t>
            </a:fld>
            <a:endParaRPr lang="he-IL"/>
          </a:p>
        </p:txBody>
      </p:sp>
      <p:sp>
        <p:nvSpPr>
          <p:cNvPr id="5" name="מציין מיקום של כותרת תחתונה 4">
            <a:extLst>
              <a:ext uri="{FF2B5EF4-FFF2-40B4-BE49-F238E27FC236}">
                <a16:creationId xmlns:a16="http://schemas.microsoft.com/office/drawing/2014/main" id="{81B64F35-0BDE-4AC9-8FD4-8B8385D75BF4}"/>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E35EBD6E-266A-4985-97F9-DF3E68F5D18F}"/>
              </a:ext>
            </a:extLst>
          </p:cNvPr>
          <p:cNvSpPr>
            <a:spLocks noGrp="1"/>
          </p:cNvSpPr>
          <p:nvPr>
            <p:ph type="sldNum" sz="quarter" idx="12"/>
          </p:nvPr>
        </p:nvSpPr>
        <p:spPr/>
        <p:txBody>
          <a:bodyPr/>
          <a:lstStyle/>
          <a:p>
            <a:fld id="{9A4CDE2D-05B6-468B-8501-D461FC2AFFD9}" type="slidenum">
              <a:rPr lang="he-IL" smtClean="0"/>
              <a:t>‹#›</a:t>
            </a:fld>
            <a:endParaRPr lang="he-IL"/>
          </a:p>
        </p:txBody>
      </p:sp>
    </p:spTree>
    <p:extLst>
      <p:ext uri="{BB962C8B-B14F-4D97-AF65-F5344CB8AC3E}">
        <p14:creationId xmlns:p14="http://schemas.microsoft.com/office/powerpoint/2010/main" val="224619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AA3EB8C3-FB2D-4CCD-B795-76FF5FCE6B72}"/>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FA408EC2-11E1-465D-AD99-6DAE757629C0}"/>
              </a:ext>
            </a:extLst>
          </p:cNvPr>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74324451-036B-4A57-869B-4B18786D3CE8}"/>
              </a:ext>
            </a:extLst>
          </p:cNvPr>
          <p:cNvSpPr>
            <a:spLocks noGrp="1"/>
          </p:cNvSpPr>
          <p:nvPr>
            <p:ph type="dt" sz="half" idx="10"/>
          </p:nvPr>
        </p:nvSpPr>
        <p:spPr/>
        <p:txBody>
          <a:bodyPr/>
          <a:lstStyle/>
          <a:p>
            <a:fld id="{9F8BE783-BB36-4CD0-A8A8-4B68CA8E4466}" type="datetimeFigureOut">
              <a:rPr lang="he-IL" smtClean="0"/>
              <a:t>ל'/תשרי/תשפ"ו</a:t>
            </a:fld>
            <a:endParaRPr lang="he-IL"/>
          </a:p>
        </p:txBody>
      </p:sp>
      <p:sp>
        <p:nvSpPr>
          <p:cNvPr id="5" name="מציין מיקום של כותרת תחתונה 4">
            <a:extLst>
              <a:ext uri="{FF2B5EF4-FFF2-40B4-BE49-F238E27FC236}">
                <a16:creationId xmlns:a16="http://schemas.microsoft.com/office/drawing/2014/main" id="{9B460712-ADE9-4055-99DB-64A9B97C30F8}"/>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6274FB53-0FE2-4D4A-8595-390410E8AC4C}"/>
              </a:ext>
            </a:extLst>
          </p:cNvPr>
          <p:cNvSpPr>
            <a:spLocks noGrp="1"/>
          </p:cNvSpPr>
          <p:nvPr>
            <p:ph type="sldNum" sz="quarter" idx="12"/>
          </p:nvPr>
        </p:nvSpPr>
        <p:spPr/>
        <p:txBody>
          <a:bodyPr/>
          <a:lstStyle/>
          <a:p>
            <a:fld id="{9A4CDE2D-05B6-468B-8501-D461FC2AFFD9}" type="slidenum">
              <a:rPr lang="he-IL" smtClean="0"/>
              <a:t>‹#›</a:t>
            </a:fld>
            <a:endParaRPr lang="he-IL"/>
          </a:p>
        </p:txBody>
      </p:sp>
    </p:spTree>
    <p:extLst>
      <p:ext uri="{BB962C8B-B14F-4D97-AF65-F5344CB8AC3E}">
        <p14:creationId xmlns:p14="http://schemas.microsoft.com/office/powerpoint/2010/main" val="1703887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4ED26837-54C6-487F-B7C8-E78696A1E0BA}"/>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0452404E-D9B0-412C-9B8B-53A6BAE2A20E}"/>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A1264D68-8AFB-433F-BD70-B4EBC062F3EA}"/>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9F8BE783-BB36-4CD0-A8A8-4B68CA8E4466}" type="datetimeFigureOut">
              <a:rPr lang="he-IL" smtClean="0"/>
              <a:t>ל'/תשרי/תשפ"ו</a:t>
            </a:fld>
            <a:endParaRPr lang="he-IL"/>
          </a:p>
        </p:txBody>
      </p:sp>
      <p:sp>
        <p:nvSpPr>
          <p:cNvPr id="5" name="מציין מיקום של כותרת תחתונה 4">
            <a:extLst>
              <a:ext uri="{FF2B5EF4-FFF2-40B4-BE49-F238E27FC236}">
                <a16:creationId xmlns:a16="http://schemas.microsoft.com/office/drawing/2014/main" id="{A73EC910-C2C2-4C62-BFA8-CAAD646F7D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98125B1F-8773-41FB-8274-18726C6AC2FB}"/>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9A4CDE2D-05B6-468B-8501-D461FC2AFFD9}" type="slidenum">
              <a:rPr lang="he-IL" smtClean="0"/>
              <a:t>‹#›</a:t>
            </a:fld>
            <a:endParaRPr lang="he-IL"/>
          </a:p>
        </p:txBody>
      </p:sp>
    </p:spTree>
    <p:extLst>
      <p:ext uri="{BB962C8B-B14F-4D97-AF65-F5344CB8AC3E}">
        <p14:creationId xmlns:p14="http://schemas.microsoft.com/office/powerpoint/2010/main" val="2024116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16E6052-DF62-44EA-8984-0F9A8466C89E}"/>
              </a:ext>
            </a:extLst>
          </p:cNvPr>
          <p:cNvSpPr txBox="1"/>
          <p:nvPr/>
        </p:nvSpPr>
        <p:spPr>
          <a:xfrm>
            <a:off x="5638800" y="2971800"/>
            <a:ext cx="914400" cy="914400"/>
          </a:xfrm>
          <a:prstGeom prst="rect">
            <a:avLst/>
          </a:prstGeom>
          <a:noFill/>
        </p:spPr>
        <p:txBody>
          <a:bodyPr wrap="square" rtlCol="1">
            <a:spAutoFit/>
          </a:bodyPr>
          <a:lstStyle/>
          <a:p>
            <a:endParaRPr lang="he-IL" dirty="0"/>
          </a:p>
        </p:txBody>
      </p:sp>
    </p:spTree>
    <p:extLst>
      <p:ext uri="{BB962C8B-B14F-4D97-AF65-F5344CB8AC3E}">
        <p14:creationId xmlns:p14="http://schemas.microsoft.com/office/powerpoint/2010/main" val="2832401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45563CC6-E5DD-4C0C-849A-B7758DD2ED71}"/>
              </a:ext>
            </a:extLst>
          </p:cNvPr>
          <p:cNvSpPr/>
          <p:nvPr/>
        </p:nvSpPr>
        <p:spPr>
          <a:xfrm>
            <a:off x="0" y="1056640"/>
            <a:ext cx="12192000" cy="4595361"/>
          </a:xfrm>
          <a:prstGeom prst="rect">
            <a:avLst/>
          </a:prstGeom>
          <a:solidFill>
            <a:schemeClr val="accent5">
              <a:lumMod val="40000"/>
              <a:lumOff val="60000"/>
            </a:schemeClr>
          </a:solidFill>
        </p:spPr>
        <p:txBody>
          <a:bodyPr wrap="square">
            <a:spAutoFit/>
          </a:bodyPr>
          <a:lstStyle/>
          <a:p>
            <a:pPr>
              <a:lnSpc>
                <a:spcPct val="107000"/>
              </a:lnSpc>
              <a:spcAft>
                <a:spcPts val="800"/>
              </a:spcAft>
            </a:pPr>
            <a:r>
              <a:rPr lang="he-IL" sz="2800" b="1" u="sng" dirty="0">
                <a:latin typeface="Calibri" panose="020F0502020204030204" pitchFamily="34" charset="0"/>
                <a:ea typeface="Calibri" panose="020F0502020204030204" pitchFamily="34" charset="0"/>
              </a:rPr>
              <a:t>הקדמה</a:t>
            </a:r>
          </a:p>
          <a:p>
            <a:pPr>
              <a:lnSpc>
                <a:spcPct val="107000"/>
              </a:lnSpc>
              <a:spcAft>
                <a:spcPts val="800"/>
              </a:spcAft>
            </a:pPr>
            <a:r>
              <a:rPr lang="he-IL" dirty="0">
                <a:latin typeface="Calibri" panose="020F0502020204030204" pitchFamily="34" charset="0"/>
                <a:ea typeface="Calibri" panose="020F0502020204030204" pitchFamily="34" charset="0"/>
              </a:rPr>
              <a:t>עולם הפיתוח עבר שינויים רבים ובמיוחד בשנים האחרונות שהשינויים הם מכורח המציאות.</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he-IL" dirty="0">
                <a:latin typeface="Calibri" panose="020F0502020204030204" pitchFamily="34" charset="0"/>
                <a:ea typeface="Calibri" panose="020F0502020204030204" pitchFamily="34" charset="0"/>
              </a:rPr>
              <a:t>עולם הפיתוח חייב להתאים את עצמו לשימושים השונים של הלקוחות, ליעודים שונים של מערכות וצריך כל הזמן לשים לב לקצב הטכנולוגיה.</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he-IL" dirty="0">
                <a:latin typeface="Calibri" panose="020F0502020204030204" pitchFamily="34" charset="0"/>
                <a:ea typeface="Calibri" panose="020F0502020204030204" pitchFamily="34" charset="0"/>
              </a:rPr>
              <a:t> </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he-IL" dirty="0">
                <a:latin typeface="Calibri" panose="020F0502020204030204" pitchFamily="34" charset="0"/>
                <a:ea typeface="Calibri" panose="020F0502020204030204" pitchFamily="34" charset="0"/>
              </a:rPr>
              <a:t>ההתפתחות המרשימה ביותר היא כרגע בצד לקוח, ויש לזה כמה סיבות שלגמרי תלויות אחת </a:t>
            </a:r>
            <a:r>
              <a:rPr lang="he-IL" dirty="0" err="1">
                <a:latin typeface="Calibri" panose="020F0502020204030204" pitchFamily="34" charset="0"/>
                <a:ea typeface="Calibri" panose="020F0502020204030204" pitchFamily="34" charset="0"/>
              </a:rPr>
              <a:t>בשניה</a:t>
            </a:r>
            <a:r>
              <a:rPr lang="he-IL" dirty="0">
                <a:latin typeface="Calibri" panose="020F0502020204030204" pitchFamily="34" charset="0"/>
                <a:ea typeface="Calibri" panose="020F0502020204030204" pitchFamily="34" charset="0"/>
              </a:rPr>
              <a:t>.</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he-IL" dirty="0">
                <a:latin typeface="Calibri" panose="020F0502020204030204" pitchFamily="34" charset="0"/>
                <a:ea typeface="Calibri" panose="020F0502020204030204" pitchFamily="34" charset="0"/>
              </a:rPr>
              <a:t>היום </a:t>
            </a:r>
            <a:r>
              <a:rPr lang="he-IL" dirty="0" err="1">
                <a:latin typeface="Calibri" panose="020F0502020204030204" pitchFamily="34" charset="0"/>
                <a:ea typeface="Calibri" panose="020F0502020204030204" pitchFamily="34" charset="0"/>
              </a:rPr>
              <a:t>הכל</a:t>
            </a:r>
            <a:r>
              <a:rPr lang="he-IL" dirty="0">
                <a:latin typeface="Calibri" panose="020F0502020204030204" pitchFamily="34" charset="0"/>
                <a:ea typeface="Calibri" panose="020F0502020204030204" pitchFamily="34" charset="0"/>
              </a:rPr>
              <a:t> הופך להיות מקוון וממילא יש צורך </a:t>
            </a:r>
            <a:r>
              <a:rPr lang="he-IL" dirty="0" err="1">
                <a:latin typeface="Calibri" panose="020F0502020204030204" pitchFamily="34" charset="0"/>
                <a:ea typeface="Calibri" panose="020F0502020204030204" pitchFamily="34" charset="0"/>
              </a:rPr>
              <a:t>למצא</a:t>
            </a:r>
            <a:r>
              <a:rPr lang="he-IL" dirty="0">
                <a:latin typeface="Calibri" panose="020F0502020204030204" pitchFamily="34" charset="0"/>
                <a:ea typeface="Calibri" panose="020F0502020204030204" pitchFamily="34" charset="0"/>
              </a:rPr>
              <a:t> פתרון או תחליף לעבודה בצד שרת בגלל שכל צרכני האפליקציה פונים כולם לאותו שרת ומרב פניות השרת קורס.</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he-IL" dirty="0">
                <a:latin typeface="Calibri" panose="020F0502020204030204" pitchFamily="34" charset="0"/>
                <a:ea typeface="Calibri" panose="020F0502020204030204" pitchFamily="34" charset="0"/>
              </a:rPr>
              <a:t>לכן חייבים לעשות סדר- מה שלא שייך לצד שרת- פשוט לזרוק אותו לצד לקוח.</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he-IL" dirty="0">
                <a:latin typeface="Calibri" panose="020F0502020204030204" pitchFamily="34" charset="0"/>
                <a:ea typeface="Calibri" panose="020F0502020204030204" pitchFamily="34" charset="0"/>
              </a:rPr>
              <a:t> </a:t>
            </a:r>
            <a:endParaRPr lang="en-US" dirty="0">
              <a:latin typeface="Calibri" panose="020F0502020204030204" pitchFamily="34" charset="0"/>
              <a:ea typeface="Calibri" panose="020F0502020204030204" pitchFamily="34" charset="0"/>
              <a:cs typeface="Arial" panose="020B0604020202020204" pitchFamily="34" charset="0"/>
            </a:endParaRPr>
          </a:p>
          <a:p>
            <a:r>
              <a:rPr lang="he-IL" dirty="0">
                <a:latin typeface="Calibri" panose="020F0502020204030204" pitchFamily="34" charset="0"/>
                <a:ea typeface="Calibri" panose="020F0502020204030204" pitchFamily="34" charset="0"/>
              </a:rPr>
              <a:t>בנוסף לזה, העבודה בצד לקוח מהירה בהרבה מהעבודה בצד שרת והיום יש דגש חזק על כל הנושא של ביצועים ומהירות הגלישה, וטכנולוגיות צד לקוח יכולות לתת מענה יותר טוב ויעיל לבעיה זו.</a:t>
            </a:r>
            <a:endParaRPr lang="he-IL" dirty="0"/>
          </a:p>
        </p:txBody>
      </p:sp>
    </p:spTree>
    <p:extLst>
      <p:ext uri="{BB962C8B-B14F-4D97-AF65-F5344CB8AC3E}">
        <p14:creationId xmlns:p14="http://schemas.microsoft.com/office/powerpoint/2010/main" val="3300317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1157E192-F123-405A-82E0-F24EB259C7F7}"/>
              </a:ext>
            </a:extLst>
          </p:cNvPr>
          <p:cNvSpPr/>
          <p:nvPr/>
        </p:nvSpPr>
        <p:spPr>
          <a:xfrm>
            <a:off x="1402080" y="1323385"/>
            <a:ext cx="9580880" cy="1566839"/>
          </a:xfrm>
          <a:prstGeom prst="rect">
            <a:avLst/>
          </a:prstGeom>
        </p:spPr>
        <p:txBody>
          <a:bodyPr wrap="square">
            <a:spAutoFit/>
          </a:bodyPr>
          <a:lstStyle/>
          <a:p>
            <a:pPr algn="ctr">
              <a:lnSpc>
                <a:spcPct val="107000"/>
              </a:lnSpc>
              <a:spcAft>
                <a:spcPts val="800"/>
              </a:spcAft>
            </a:pPr>
            <a:r>
              <a:rPr lang="he-IL" sz="2400" b="1" u="sng" dirty="0">
                <a:latin typeface="Calibri" panose="020F0502020204030204" pitchFamily="34" charset="0"/>
                <a:ea typeface="Calibri" panose="020F0502020204030204" pitchFamily="34" charset="0"/>
              </a:rPr>
              <a:t>מה זה בעצם </a:t>
            </a:r>
            <a:r>
              <a:rPr lang="he-IL" sz="2400" b="1" u="sng" dirty="0" err="1">
                <a:latin typeface="Calibri" panose="020F0502020204030204" pitchFamily="34" charset="0"/>
                <a:ea typeface="Calibri" panose="020F0502020204030204" pitchFamily="34" charset="0"/>
              </a:rPr>
              <a:t>ריאקט</a:t>
            </a:r>
            <a:r>
              <a:rPr lang="he-IL" sz="2400" b="1" u="sng" dirty="0">
                <a:latin typeface="Calibri" panose="020F0502020204030204" pitchFamily="34" charset="0"/>
                <a:ea typeface="Calibri" panose="020F0502020204030204" pitchFamily="34" charset="0"/>
              </a:rPr>
              <a:t>?</a:t>
            </a:r>
            <a:endParaRPr lang="en-US" sz="2400" b="1" u="sng" dirty="0">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r>
              <a:rPr lang="he-IL" dirty="0" err="1">
                <a:latin typeface="Calibri" panose="020F0502020204030204" pitchFamily="34" charset="0"/>
                <a:ea typeface="Calibri" panose="020F0502020204030204" pitchFamily="34" charset="0"/>
              </a:rPr>
              <a:t>ריאקט</a:t>
            </a:r>
            <a:r>
              <a:rPr lang="he-IL" dirty="0">
                <a:latin typeface="Calibri" panose="020F0502020204030204" pitchFamily="34" charset="0"/>
                <a:ea typeface="Calibri" panose="020F0502020204030204" pitchFamily="34" charset="0"/>
              </a:rPr>
              <a:t> זאת ספריה, היא ספריה מאד פופולארית לפיתוח אתרים.</a:t>
            </a:r>
            <a:endParaRPr lang="en-US" dirty="0">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r>
              <a:rPr lang="he-IL" dirty="0">
                <a:latin typeface="Calibri" panose="020F0502020204030204" pitchFamily="34" charset="0"/>
                <a:ea typeface="Calibri" panose="020F0502020204030204" pitchFamily="34" charset="0"/>
              </a:rPr>
              <a:t>באמצעות </a:t>
            </a:r>
            <a:r>
              <a:rPr lang="he-IL" dirty="0" err="1">
                <a:latin typeface="Calibri" panose="020F0502020204030204" pitchFamily="34" charset="0"/>
                <a:ea typeface="Calibri" panose="020F0502020204030204" pitchFamily="34" charset="0"/>
              </a:rPr>
              <a:t>ריאקט</a:t>
            </a:r>
            <a:r>
              <a:rPr lang="he-IL" dirty="0">
                <a:latin typeface="Calibri" panose="020F0502020204030204" pitchFamily="34" charset="0"/>
                <a:ea typeface="Calibri" panose="020F0502020204030204" pitchFamily="34" charset="0"/>
              </a:rPr>
              <a:t> </a:t>
            </a:r>
            <a:r>
              <a:rPr lang="he-IL" dirty="0" err="1">
                <a:latin typeface="Calibri" panose="020F0502020204030204" pitchFamily="34" charset="0"/>
                <a:ea typeface="Calibri" panose="020F0502020204030204" pitchFamily="34" charset="0"/>
              </a:rPr>
              <a:t>והאקוסיסטם</a:t>
            </a:r>
            <a:r>
              <a:rPr lang="he-IL" dirty="0">
                <a:latin typeface="Calibri" panose="020F0502020204030204" pitchFamily="34" charset="0"/>
                <a:ea typeface="Calibri" panose="020F0502020204030204" pitchFamily="34" charset="0"/>
              </a:rPr>
              <a:t> העשיר שלה שכולל הרבה מאד רכיבים , כל מפתח יכול ליצור אתר איכותי ומהיר.</a:t>
            </a:r>
            <a:endParaRPr lang="en-US"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719284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75A68466-9A50-4CD7-8461-54944CA8C0FA}"/>
              </a:ext>
            </a:extLst>
          </p:cNvPr>
          <p:cNvSpPr/>
          <p:nvPr/>
        </p:nvSpPr>
        <p:spPr>
          <a:xfrm>
            <a:off x="132080" y="609264"/>
            <a:ext cx="11978640" cy="4762266"/>
          </a:xfrm>
          <a:prstGeom prst="rect">
            <a:avLst/>
          </a:prstGeom>
        </p:spPr>
        <p:txBody>
          <a:bodyPr wrap="square">
            <a:spAutoFit/>
          </a:bodyPr>
          <a:lstStyle/>
          <a:p>
            <a:pPr>
              <a:lnSpc>
                <a:spcPct val="107000"/>
              </a:lnSpc>
              <a:spcAft>
                <a:spcPts val="800"/>
              </a:spcAft>
            </a:pPr>
            <a:r>
              <a:rPr lang="he-IL" dirty="0">
                <a:latin typeface="Calibri" panose="020F0502020204030204" pitchFamily="34" charset="0"/>
                <a:ea typeface="Calibri" panose="020F0502020204030204" pitchFamily="34" charset="0"/>
              </a:rPr>
              <a:t>צד לקוח זה בעצם קבצים ששרת האינטרנט שלנו מפנה ללקוח שלנו והם בעצם האתר.</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he-IL" dirty="0">
                <a:latin typeface="Calibri" panose="020F0502020204030204" pitchFamily="34" charset="0"/>
                <a:ea typeface="Calibri" panose="020F0502020204030204" pitchFamily="34" charset="0"/>
              </a:rPr>
              <a:t>לרב מדובר בקובץ אחד או יותר של דפי </a:t>
            </a:r>
            <a:r>
              <a:rPr lang="en-US" dirty="0">
                <a:latin typeface="Calibri" panose="020F0502020204030204" pitchFamily="34" charset="0"/>
                <a:ea typeface="Calibri" panose="020F0502020204030204" pitchFamily="34" charset="0"/>
                <a:cs typeface="Arial" panose="020B0604020202020204" pitchFamily="34" charset="0"/>
              </a:rPr>
              <a:t>HTML </a:t>
            </a:r>
            <a:r>
              <a:rPr lang="he-IL" dirty="0">
                <a:latin typeface="Calibri" panose="020F0502020204030204" pitchFamily="34" charset="0"/>
                <a:ea typeface="Calibri" panose="020F0502020204030204" pitchFamily="34" charset="0"/>
              </a:rPr>
              <a:t>ו </a:t>
            </a:r>
            <a:r>
              <a:rPr lang="en-US" dirty="0">
                <a:latin typeface="Calibri" panose="020F0502020204030204" pitchFamily="34" charset="0"/>
                <a:ea typeface="Calibri" panose="020F0502020204030204" pitchFamily="34" charset="0"/>
                <a:cs typeface="Arial" panose="020B0604020202020204" pitchFamily="34" charset="0"/>
              </a:rPr>
              <a:t>CSS</a:t>
            </a:r>
            <a:r>
              <a:rPr lang="he-IL" dirty="0">
                <a:latin typeface="Calibri" panose="020F0502020204030204" pitchFamily="34" charset="0"/>
                <a:ea typeface="Calibri" panose="020F0502020204030204" pitchFamily="34" charset="0"/>
              </a:rPr>
              <a:t> ובקבצי </a:t>
            </a:r>
            <a:r>
              <a:rPr lang="en-US" dirty="0">
                <a:latin typeface="Calibri" panose="020F0502020204030204" pitchFamily="34" charset="0"/>
                <a:ea typeface="Calibri" panose="020F0502020204030204" pitchFamily="34" charset="0"/>
                <a:cs typeface="Arial" panose="020B0604020202020204" pitchFamily="34" charset="0"/>
              </a:rPr>
              <a:t>JS</a:t>
            </a:r>
          </a:p>
          <a:p>
            <a:pPr>
              <a:lnSpc>
                <a:spcPct val="107000"/>
              </a:lnSpc>
              <a:spcAft>
                <a:spcPts val="800"/>
              </a:spcAft>
            </a:pPr>
            <a:r>
              <a:rPr lang="he-IL" dirty="0">
                <a:latin typeface="Calibri" panose="020F0502020204030204" pitchFamily="34" charset="0"/>
                <a:ea typeface="Calibri" panose="020F0502020204030204" pitchFamily="34" charset="0"/>
              </a:rPr>
              <a:t>הדפדפן יודע לקרא את כל הקבצים האלה ולבנות מהם אתר.</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he-IL" dirty="0">
                <a:latin typeface="Calibri" panose="020F0502020204030204" pitchFamily="34" charset="0"/>
                <a:ea typeface="Calibri" panose="020F0502020204030204" pitchFamily="34" charset="0"/>
              </a:rPr>
              <a:t>כאשר:</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dirty="0">
                <a:latin typeface="Calibri" panose="020F0502020204030204" pitchFamily="34" charset="0"/>
                <a:ea typeface="Calibri" panose="020F0502020204030204" pitchFamily="34" charset="0"/>
                <a:cs typeface="Arial" panose="020B0604020202020204" pitchFamily="34" charset="0"/>
              </a:rPr>
              <a:t>HTML</a:t>
            </a:r>
            <a:r>
              <a:rPr lang="he-IL" dirty="0">
                <a:latin typeface="Calibri" panose="020F0502020204030204" pitchFamily="34" charset="0"/>
                <a:ea typeface="Calibri" panose="020F0502020204030204" pitchFamily="34" charset="0"/>
              </a:rPr>
              <a:t> קובע את מבנה האתר.</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dirty="0">
                <a:latin typeface="Calibri" panose="020F0502020204030204" pitchFamily="34" charset="0"/>
                <a:ea typeface="Calibri" panose="020F0502020204030204" pitchFamily="34" charset="0"/>
                <a:cs typeface="Arial" panose="020B0604020202020204" pitchFamily="34" charset="0"/>
              </a:rPr>
              <a:t>CSS</a:t>
            </a:r>
            <a:r>
              <a:rPr lang="he-IL" dirty="0">
                <a:latin typeface="Calibri" panose="020F0502020204030204" pitchFamily="34" charset="0"/>
                <a:ea typeface="Calibri" panose="020F0502020204030204" pitchFamily="34" charset="0"/>
              </a:rPr>
              <a:t> קובע את העיצוב</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dirty="0">
                <a:latin typeface="Calibri" panose="020F0502020204030204" pitchFamily="34" charset="0"/>
                <a:ea typeface="Calibri" panose="020F0502020204030204" pitchFamily="34" charset="0"/>
                <a:cs typeface="Arial" panose="020B0604020202020204" pitchFamily="34" charset="0"/>
              </a:rPr>
              <a:t>JS</a:t>
            </a:r>
            <a:r>
              <a:rPr lang="he-IL" dirty="0">
                <a:latin typeface="Calibri" panose="020F0502020204030204" pitchFamily="34" charset="0"/>
                <a:ea typeface="Calibri" panose="020F0502020204030204" pitchFamily="34" charset="0"/>
              </a:rPr>
              <a:t> קובע את ההתנהגות של האתר.</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he-IL" dirty="0">
                <a:latin typeface="Calibri" panose="020F0502020204030204" pitchFamily="34" charset="0"/>
                <a:ea typeface="Calibri" panose="020F0502020204030204" pitchFamily="34" charset="0"/>
              </a:rPr>
              <a:t>בתחילת הדרך כך היו נראים האתרים, בהמשך החלו להתפתח </a:t>
            </a:r>
            <a:r>
              <a:rPr lang="he-IL" dirty="0" err="1">
                <a:latin typeface="Calibri" panose="020F0502020204030204" pitchFamily="34" charset="0"/>
                <a:ea typeface="Calibri" panose="020F0502020204030204" pitchFamily="34" charset="0"/>
              </a:rPr>
              <a:t>עןד</a:t>
            </a:r>
            <a:r>
              <a:rPr lang="he-IL" dirty="0">
                <a:latin typeface="Calibri" panose="020F0502020204030204" pitchFamily="34" charset="0"/>
                <a:ea typeface="Calibri" panose="020F0502020204030204" pitchFamily="34" charset="0"/>
              </a:rPr>
              <a:t> ספריות כמו </a:t>
            </a:r>
            <a:r>
              <a:rPr lang="en-US" dirty="0">
                <a:latin typeface="Calibri" panose="020F0502020204030204" pitchFamily="34" charset="0"/>
                <a:ea typeface="Calibri" panose="020F0502020204030204" pitchFamily="34" charset="0"/>
                <a:cs typeface="Arial" panose="020B0604020202020204" pitchFamily="34" charset="0"/>
              </a:rPr>
              <a:t>JQUERY</a:t>
            </a:r>
            <a:r>
              <a:rPr lang="he-IL" dirty="0">
                <a:latin typeface="Calibri" panose="020F0502020204030204" pitchFamily="34" charset="0"/>
                <a:ea typeface="Calibri" panose="020F0502020204030204" pitchFamily="34" charset="0"/>
              </a:rPr>
              <a:t> ועוד..</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he-IL" dirty="0">
                <a:latin typeface="Calibri" panose="020F0502020204030204" pitchFamily="34" charset="0"/>
                <a:ea typeface="Calibri" panose="020F0502020204030204" pitchFamily="34" charset="0"/>
              </a:rPr>
              <a:t>היתרונות של שימוש בספריות גדולות </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he-IL" dirty="0">
                <a:latin typeface="Calibri" panose="020F0502020204030204" pitchFamily="34" charset="0"/>
                <a:ea typeface="Calibri" panose="020F0502020204030204" pitchFamily="34" charset="0"/>
              </a:rPr>
              <a:t>(או יותר נכון </a:t>
            </a:r>
            <a:r>
              <a:rPr lang="en-US" dirty="0">
                <a:latin typeface="Calibri" panose="020F0502020204030204" pitchFamily="34" charset="0"/>
                <a:ea typeface="Calibri" panose="020F0502020204030204" pitchFamily="34" charset="0"/>
                <a:cs typeface="Arial" panose="020B0604020202020204" pitchFamily="34" charset="0"/>
              </a:rPr>
              <a:t>FRAME WORK</a:t>
            </a:r>
            <a:r>
              <a:rPr lang="en-US" dirty="0">
                <a:latin typeface="Arial" panose="020B0604020202020204" pitchFamily="34" charset="0"/>
                <a:ea typeface="Calibri" panose="020F0502020204030204" pitchFamily="34" charset="0"/>
                <a:cs typeface="Arial" panose="020B0604020202020204" pitchFamily="34" charset="0"/>
              </a:rPr>
              <a:t> </a:t>
            </a:r>
            <a:r>
              <a:rPr lang="he-IL" dirty="0">
                <a:latin typeface="Arial" panose="020B0604020202020204" pitchFamily="34" charset="0"/>
                <a:ea typeface="Calibri" panose="020F0502020204030204" pitchFamily="34" charset="0"/>
              </a:rPr>
              <a:t>– המגדירים את ההתנהגות בצד לקוח)</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he-IL" dirty="0">
                <a:latin typeface="Calibri" panose="020F0502020204030204" pitchFamily="34" charset="0"/>
                <a:ea typeface="Calibri" panose="020F0502020204030204" pitchFamily="34" charset="0"/>
              </a:rPr>
              <a:t>היו רבים, מעזרה למפתח עד חווית משתמש עבור הלקוח.</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he-IL" dirty="0">
                <a:latin typeface="Calibri" panose="020F0502020204030204" pitchFamily="34" charset="0"/>
                <a:ea typeface="Calibri" panose="020F0502020204030204" pitchFamily="34" charset="0"/>
              </a:rPr>
              <a:t>הספריות האלה אפשרו לייצר </a:t>
            </a:r>
            <a:r>
              <a:rPr lang="en-US" dirty="0">
                <a:latin typeface="Calibri" panose="020F0502020204030204" pitchFamily="34" charset="0"/>
                <a:ea typeface="Calibri" panose="020F0502020204030204" pitchFamily="34" charset="0"/>
                <a:cs typeface="Arial" panose="020B0604020202020204" pitchFamily="34" charset="0"/>
              </a:rPr>
              <a:t>SPA</a:t>
            </a:r>
          </a:p>
        </p:txBody>
      </p:sp>
    </p:spTree>
    <p:extLst>
      <p:ext uri="{BB962C8B-B14F-4D97-AF65-F5344CB8AC3E}">
        <p14:creationId xmlns:p14="http://schemas.microsoft.com/office/powerpoint/2010/main" val="3268179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4C3B62-9DF8-4F4C-A86A-4DFF7BD5B076}"/>
              </a:ext>
            </a:extLst>
          </p:cNvPr>
          <p:cNvSpPr txBox="1"/>
          <p:nvPr/>
        </p:nvSpPr>
        <p:spPr>
          <a:xfrm>
            <a:off x="528320" y="457200"/>
            <a:ext cx="11125200" cy="1292662"/>
          </a:xfrm>
          <a:prstGeom prst="rect">
            <a:avLst/>
          </a:prstGeom>
          <a:noFill/>
        </p:spPr>
        <p:txBody>
          <a:bodyPr wrap="square" rtlCol="1">
            <a:spAutoFit/>
          </a:bodyPr>
          <a:lstStyle/>
          <a:p>
            <a:r>
              <a:rPr lang="en-US" sz="2400" b="1" u="sng" dirty="0"/>
              <a:t>SPA  </a:t>
            </a:r>
            <a:r>
              <a:rPr lang="he-IL" sz="2400" b="1" u="sng" dirty="0"/>
              <a:t> הסבר:</a:t>
            </a:r>
          </a:p>
          <a:p>
            <a:r>
              <a:rPr lang="he-IL" dirty="0"/>
              <a:t>כאשר אני נמצאת באתר ובמעבר בין דפים אין טעינה מחדש מהשרת, אלא מעבר חלק בין דף לדף (בשונה מ</a:t>
            </a:r>
            <a:r>
              <a:rPr lang="en-US" dirty="0" err="1"/>
              <a:t>js</a:t>
            </a:r>
            <a:r>
              <a:rPr lang="en-US" dirty="0"/>
              <a:t>  </a:t>
            </a:r>
            <a:r>
              <a:rPr lang="he-IL" dirty="0"/>
              <a:t> שכל פעם </a:t>
            </a:r>
            <a:r>
              <a:rPr lang="he-IL" dirty="0" err="1"/>
              <a:t>מרנדר</a:t>
            </a:r>
            <a:r>
              <a:rPr lang="he-IL" dirty="0"/>
              <a:t> מחדש את כל העמוד) באמצעות הרכיב שנקרא </a:t>
            </a:r>
            <a:r>
              <a:rPr lang="he-IL" dirty="0" err="1"/>
              <a:t>ראוטר</a:t>
            </a:r>
            <a:r>
              <a:rPr lang="he-IL" dirty="0"/>
              <a:t>.</a:t>
            </a:r>
          </a:p>
          <a:p>
            <a:r>
              <a:rPr lang="he-IL" dirty="0" err="1"/>
              <a:t>אנגולר</a:t>
            </a:r>
            <a:r>
              <a:rPr lang="he-IL" dirty="0"/>
              <a:t> זה גם </a:t>
            </a:r>
            <a:r>
              <a:rPr lang="en-US" dirty="0"/>
              <a:t>SPA</a:t>
            </a:r>
            <a:r>
              <a:rPr lang="he-IL" dirty="0"/>
              <a:t> וכמובן </a:t>
            </a:r>
            <a:r>
              <a:rPr lang="he-IL" dirty="0" err="1"/>
              <a:t>ריאקט</a:t>
            </a:r>
            <a:r>
              <a:rPr lang="he-IL" dirty="0"/>
              <a:t> שהגיעה אחרי </a:t>
            </a:r>
            <a:r>
              <a:rPr lang="he-IL" dirty="0" err="1"/>
              <a:t>אנגולר</a:t>
            </a:r>
            <a:r>
              <a:rPr lang="he-IL" dirty="0"/>
              <a:t>.</a:t>
            </a:r>
          </a:p>
        </p:txBody>
      </p:sp>
    </p:spTree>
    <p:extLst>
      <p:ext uri="{BB962C8B-B14F-4D97-AF65-F5344CB8AC3E}">
        <p14:creationId xmlns:p14="http://schemas.microsoft.com/office/powerpoint/2010/main" val="2868192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FD6F8B-89CB-400D-AA0A-382BC94D3E65}"/>
              </a:ext>
            </a:extLst>
          </p:cNvPr>
          <p:cNvSpPr txBox="1"/>
          <p:nvPr/>
        </p:nvSpPr>
        <p:spPr>
          <a:xfrm>
            <a:off x="243840" y="508000"/>
            <a:ext cx="11775440" cy="2123658"/>
          </a:xfrm>
          <a:prstGeom prst="rect">
            <a:avLst/>
          </a:prstGeom>
          <a:noFill/>
        </p:spPr>
        <p:txBody>
          <a:bodyPr wrap="square" rtlCol="1">
            <a:spAutoFit/>
          </a:bodyPr>
          <a:lstStyle/>
          <a:p>
            <a:r>
              <a:rPr lang="he-IL" sz="2400" b="1" u="sng" dirty="0"/>
              <a:t>אז למה </a:t>
            </a:r>
            <a:r>
              <a:rPr lang="en-US" sz="2400" b="1" u="sng" dirty="0"/>
              <a:t>React</a:t>
            </a:r>
            <a:r>
              <a:rPr lang="he-IL" sz="2400" b="1" u="sng" dirty="0"/>
              <a:t>?</a:t>
            </a:r>
            <a:endParaRPr lang="en-US" sz="2400" b="1" u="sng" dirty="0"/>
          </a:p>
          <a:p>
            <a:endParaRPr lang="en-US" dirty="0"/>
          </a:p>
          <a:p>
            <a:r>
              <a:rPr lang="he-IL" dirty="0"/>
              <a:t>ישנן 3 סיבות שהפכו את פיתוח ה</a:t>
            </a:r>
            <a:r>
              <a:rPr lang="en-US" dirty="0"/>
              <a:t>web </a:t>
            </a:r>
            <a:r>
              <a:rPr lang="he-IL" dirty="0"/>
              <a:t>לשונה לחלוטין</a:t>
            </a:r>
          </a:p>
          <a:p>
            <a:endParaRPr lang="he-IL" dirty="0"/>
          </a:p>
          <a:p>
            <a:pPr marL="342900" indent="-342900">
              <a:buAutoNum type="arabicPeriod"/>
            </a:pPr>
            <a:r>
              <a:rPr lang="he-IL" dirty="0" err="1"/>
              <a:t>הספריה</a:t>
            </a:r>
            <a:r>
              <a:rPr lang="he-IL" dirty="0"/>
              <a:t> הפכה את </a:t>
            </a:r>
            <a:r>
              <a:rPr lang="he-IL" dirty="0" err="1"/>
              <a:t>התיכנות</a:t>
            </a:r>
            <a:r>
              <a:rPr lang="he-IL" dirty="0"/>
              <a:t> מאימפרטיבי לדקלרטיבי</a:t>
            </a:r>
          </a:p>
          <a:p>
            <a:pPr marL="342900" indent="-342900">
              <a:buAutoNum type="arabicPeriod"/>
            </a:pPr>
            <a:r>
              <a:rPr lang="en-US" dirty="0"/>
              <a:t>Virtual DOM</a:t>
            </a:r>
          </a:p>
          <a:p>
            <a:pPr marL="342900" indent="-342900">
              <a:buAutoNum type="arabicPeriod"/>
            </a:pPr>
            <a:r>
              <a:rPr lang="en-US" dirty="0"/>
              <a:t>One Way </a:t>
            </a:r>
            <a:r>
              <a:rPr lang="en-US" dirty="0" err="1"/>
              <a:t>DataFlow</a:t>
            </a:r>
            <a:endParaRPr lang="he-IL" dirty="0"/>
          </a:p>
        </p:txBody>
      </p:sp>
    </p:spTree>
    <p:extLst>
      <p:ext uri="{BB962C8B-B14F-4D97-AF65-F5344CB8AC3E}">
        <p14:creationId xmlns:p14="http://schemas.microsoft.com/office/powerpoint/2010/main" val="3548138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ADADDA-AEBB-4221-99C2-02CA36DE0803}"/>
              </a:ext>
            </a:extLst>
          </p:cNvPr>
          <p:cNvSpPr txBox="1"/>
          <p:nvPr/>
        </p:nvSpPr>
        <p:spPr>
          <a:xfrm>
            <a:off x="142240" y="132080"/>
            <a:ext cx="12049760" cy="4247317"/>
          </a:xfrm>
          <a:prstGeom prst="rect">
            <a:avLst/>
          </a:prstGeom>
          <a:noFill/>
        </p:spPr>
        <p:txBody>
          <a:bodyPr wrap="square" rtlCol="1">
            <a:spAutoFit/>
          </a:bodyPr>
          <a:lstStyle/>
          <a:p>
            <a:r>
              <a:rPr lang="he-IL" u="sng" dirty="0"/>
              <a:t>תכנות אימפרטיבי-</a:t>
            </a:r>
          </a:p>
          <a:p>
            <a:endParaRPr lang="he-IL" dirty="0"/>
          </a:p>
          <a:p>
            <a:r>
              <a:rPr lang="he-IL" dirty="0"/>
              <a:t>המפתח צריך להגדיר לדפדפן מה בדיוק הוא רוצה שיקרה ואיך הוא רוצה שזה יקרה .</a:t>
            </a:r>
          </a:p>
          <a:p>
            <a:r>
              <a:rPr lang="he-IL" dirty="0"/>
              <a:t>לדוגמא אפשרות להחביא אלמנטים.</a:t>
            </a:r>
          </a:p>
          <a:p>
            <a:r>
              <a:rPr lang="he-IL" dirty="0"/>
              <a:t>המפתח צריך להגיד לדפדפן קח אלמנט מסוים על בסיס קוד כלשהו ותשנה את המאפיינים שלו.</a:t>
            </a:r>
          </a:p>
          <a:p>
            <a:endParaRPr lang="he-IL" dirty="0"/>
          </a:p>
          <a:p>
            <a:r>
              <a:rPr lang="he-IL" u="sng" dirty="0"/>
              <a:t>תכנות דקלרטיבי-</a:t>
            </a:r>
          </a:p>
          <a:p>
            <a:r>
              <a:rPr lang="he-IL" dirty="0"/>
              <a:t>המפתח מכריז איזה </a:t>
            </a:r>
            <a:r>
              <a:rPr lang="en-US" dirty="0"/>
              <a:t>UI </a:t>
            </a:r>
            <a:r>
              <a:rPr lang="he-IL" dirty="0"/>
              <a:t>יוצג לפי איזה מצב.</a:t>
            </a:r>
          </a:p>
          <a:p>
            <a:r>
              <a:rPr lang="he-IL" dirty="0"/>
              <a:t>לדוגמא- כאשר השרת מביא נתונים תציג אייקון </a:t>
            </a:r>
            <a:r>
              <a:rPr lang="he-IL" dirty="0" err="1"/>
              <a:t>מסויים</a:t>
            </a:r>
            <a:r>
              <a:rPr lang="he-IL" dirty="0"/>
              <a:t>.</a:t>
            </a:r>
          </a:p>
          <a:p>
            <a:endParaRPr lang="he-IL" dirty="0"/>
          </a:p>
          <a:p>
            <a:r>
              <a:rPr lang="he-IL" dirty="0"/>
              <a:t>אנחנו לא נאמר בקוד איך זה יקרה.</a:t>
            </a:r>
          </a:p>
          <a:p>
            <a:r>
              <a:rPr lang="he-IL" dirty="0"/>
              <a:t>מי שדואג ל"איך" זה </a:t>
            </a:r>
            <a:r>
              <a:rPr lang="he-IL" dirty="0" err="1"/>
              <a:t>ריאקט</a:t>
            </a:r>
            <a:r>
              <a:rPr lang="he-IL" dirty="0"/>
              <a:t> מאחורי הקלעים.</a:t>
            </a:r>
          </a:p>
          <a:p>
            <a:endParaRPr lang="he-IL" dirty="0"/>
          </a:p>
          <a:p>
            <a:r>
              <a:rPr lang="he-IL" dirty="0"/>
              <a:t>היתרון הגדול זה בגלל שזה מתוחזק ברמה מאד גבוהה זה גם קורה בצורה אופטימלית ויעילה</a:t>
            </a:r>
          </a:p>
          <a:p>
            <a:endParaRPr lang="he-IL" dirty="0"/>
          </a:p>
        </p:txBody>
      </p:sp>
    </p:spTree>
    <p:extLst>
      <p:ext uri="{BB962C8B-B14F-4D97-AF65-F5344CB8AC3E}">
        <p14:creationId xmlns:p14="http://schemas.microsoft.com/office/powerpoint/2010/main" val="2706414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לבן 3">
            <a:extLst>
              <a:ext uri="{FF2B5EF4-FFF2-40B4-BE49-F238E27FC236}">
                <a16:creationId xmlns:a16="http://schemas.microsoft.com/office/drawing/2014/main" id="{CBFEDB39-8E73-41C6-8355-C466886C8848}"/>
              </a:ext>
            </a:extLst>
          </p:cNvPr>
          <p:cNvSpPr/>
          <p:nvPr/>
        </p:nvSpPr>
        <p:spPr>
          <a:xfrm>
            <a:off x="2245360" y="193041"/>
            <a:ext cx="9834880" cy="3139321"/>
          </a:xfrm>
          <a:prstGeom prst="rect">
            <a:avLst/>
          </a:prstGeom>
        </p:spPr>
        <p:txBody>
          <a:bodyPr wrap="square">
            <a:spAutoFit/>
          </a:bodyPr>
          <a:lstStyle/>
          <a:p>
            <a:r>
              <a:rPr lang="he-IL" dirty="0" err="1"/>
              <a:t>ריאקט</a:t>
            </a:r>
            <a:r>
              <a:rPr lang="he-IL" dirty="0"/>
              <a:t> עושה את זה באמצעות שימוש ב</a:t>
            </a:r>
            <a:r>
              <a:rPr lang="en-US" dirty="0"/>
              <a:t>PROPS</a:t>
            </a:r>
            <a:r>
              <a:rPr lang="he-IL" dirty="0"/>
              <a:t> </a:t>
            </a:r>
            <a:r>
              <a:rPr lang="en-US" dirty="0"/>
              <a:t>  STATE </a:t>
            </a:r>
            <a:r>
              <a:rPr lang="he-IL" dirty="0"/>
              <a:t>ן</a:t>
            </a:r>
            <a:r>
              <a:rPr lang="en-US" dirty="0" err="1"/>
              <a:t>lifeCycle</a:t>
            </a:r>
            <a:r>
              <a:rPr lang="he-IL" dirty="0"/>
              <a:t> שעוזרות לה לנהל את האפליקציה בכל מיני מצבים</a:t>
            </a:r>
          </a:p>
          <a:p>
            <a:endParaRPr lang="he-IL" dirty="0"/>
          </a:p>
          <a:p>
            <a:r>
              <a:rPr lang="he-IL" dirty="0"/>
              <a:t>במילים פשוטות נאמר- </a:t>
            </a:r>
          </a:p>
          <a:p>
            <a:r>
              <a:rPr lang="he-IL" dirty="0"/>
              <a:t>באיזה מצבים? </a:t>
            </a:r>
            <a:r>
              <a:rPr lang="en-US" dirty="0"/>
              <a:t>State</a:t>
            </a:r>
          </a:p>
          <a:p>
            <a:r>
              <a:rPr lang="he-IL" dirty="0"/>
              <a:t>ע"פ איזה מאפיינים?</a:t>
            </a:r>
            <a:r>
              <a:rPr lang="en-US" dirty="0"/>
              <a:t> Props</a:t>
            </a:r>
            <a:endParaRPr lang="he-IL" dirty="0"/>
          </a:p>
          <a:p>
            <a:r>
              <a:rPr lang="he-IL" dirty="0"/>
              <a:t>באיזה זמנים?</a:t>
            </a:r>
            <a:r>
              <a:rPr lang="en-US" dirty="0"/>
              <a:t> Lifecycle</a:t>
            </a:r>
          </a:p>
          <a:p>
            <a:endParaRPr lang="he-IL" dirty="0"/>
          </a:p>
          <a:p>
            <a:r>
              <a:rPr lang="he-IL" dirty="0" err="1"/>
              <a:t>וריאקט</a:t>
            </a:r>
            <a:r>
              <a:rPr lang="he-IL" dirty="0"/>
              <a:t> דואגת מאחורי הקלעים שזה יקרה.</a:t>
            </a:r>
          </a:p>
          <a:p>
            <a:endParaRPr lang="en-US" dirty="0"/>
          </a:p>
          <a:p>
            <a:endParaRPr lang="he-IL" dirty="0"/>
          </a:p>
        </p:txBody>
      </p:sp>
    </p:spTree>
    <p:extLst>
      <p:ext uri="{BB962C8B-B14F-4D97-AF65-F5344CB8AC3E}">
        <p14:creationId xmlns:p14="http://schemas.microsoft.com/office/powerpoint/2010/main" val="2198820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446D01-BEB6-4E21-B1EB-6053F77F8500}"/>
              </a:ext>
            </a:extLst>
          </p:cNvPr>
          <p:cNvSpPr txBox="1"/>
          <p:nvPr/>
        </p:nvSpPr>
        <p:spPr>
          <a:xfrm>
            <a:off x="447040" y="213360"/>
            <a:ext cx="11490960" cy="3508653"/>
          </a:xfrm>
          <a:prstGeom prst="rect">
            <a:avLst/>
          </a:prstGeom>
          <a:noFill/>
        </p:spPr>
        <p:txBody>
          <a:bodyPr wrap="square" rtlCol="1">
            <a:spAutoFit/>
          </a:bodyPr>
          <a:lstStyle/>
          <a:p>
            <a:r>
              <a:rPr lang="en-US" sz="2400" b="1" u="sng" dirty="0"/>
              <a:t>Virtual DOM</a:t>
            </a:r>
          </a:p>
          <a:p>
            <a:endParaRPr lang="en-US" dirty="0"/>
          </a:p>
          <a:p>
            <a:r>
              <a:rPr lang="he-IL" dirty="0"/>
              <a:t>כשאנחנו מפתחים על </a:t>
            </a:r>
            <a:r>
              <a:rPr lang="en-US" dirty="0"/>
              <a:t>WEB </a:t>
            </a:r>
            <a:r>
              <a:rPr lang="he-IL" dirty="0"/>
              <a:t>אנחנו מפתחים על </a:t>
            </a:r>
            <a:r>
              <a:rPr lang="en-US" dirty="0"/>
              <a:t>DOM</a:t>
            </a:r>
            <a:endParaRPr lang="he-IL" dirty="0"/>
          </a:p>
          <a:p>
            <a:r>
              <a:rPr lang="en-US" dirty="0"/>
              <a:t>DOM</a:t>
            </a:r>
            <a:r>
              <a:rPr lang="he-IL" dirty="0"/>
              <a:t>- זה עץ </a:t>
            </a:r>
            <a:r>
              <a:rPr lang="he-IL" dirty="0" err="1"/>
              <a:t>האוביקטים</a:t>
            </a:r>
            <a:r>
              <a:rPr lang="he-IL" dirty="0"/>
              <a:t> של כל מה שיש לנו באפליקציה.</a:t>
            </a:r>
          </a:p>
          <a:p>
            <a:r>
              <a:rPr lang="he-IL" dirty="0"/>
              <a:t>(כפתורים, תיבות טקסט,</a:t>
            </a:r>
            <a:r>
              <a:rPr lang="en-US" dirty="0"/>
              <a:t>DIV</a:t>
            </a:r>
            <a:r>
              <a:rPr lang="he-IL" dirty="0"/>
              <a:t> </a:t>
            </a:r>
            <a:r>
              <a:rPr lang="he-IL" dirty="0" err="1"/>
              <a:t>וכו</a:t>
            </a:r>
            <a:r>
              <a:rPr lang="he-IL" dirty="0"/>
              <a:t>'...)</a:t>
            </a:r>
          </a:p>
          <a:p>
            <a:endParaRPr lang="he-IL" dirty="0"/>
          </a:p>
          <a:p>
            <a:r>
              <a:rPr lang="he-IL" dirty="0"/>
              <a:t>עבודה על ה</a:t>
            </a:r>
            <a:r>
              <a:rPr lang="en-US" dirty="0"/>
              <a:t>DOM</a:t>
            </a:r>
            <a:r>
              <a:rPr lang="he-IL" dirty="0"/>
              <a:t> זה לא עבודה יעילה ודורשת הרבה מאד משאבים, אז אנחנו רוצים להימנע מפעולות על ה</a:t>
            </a:r>
            <a:r>
              <a:rPr lang="en-US" dirty="0"/>
              <a:t>DOM</a:t>
            </a:r>
            <a:endParaRPr lang="he-IL" dirty="0"/>
          </a:p>
          <a:p>
            <a:r>
              <a:rPr lang="he-IL" dirty="0"/>
              <a:t>מה שיש </a:t>
            </a:r>
            <a:r>
              <a:rPr lang="he-IL" dirty="0" err="1"/>
              <a:t>בריאקט</a:t>
            </a:r>
            <a:r>
              <a:rPr lang="he-IL" dirty="0"/>
              <a:t> זה שכפול של ה</a:t>
            </a:r>
            <a:r>
              <a:rPr lang="en-US" dirty="0"/>
              <a:t>DOM</a:t>
            </a:r>
            <a:r>
              <a:rPr lang="he-IL" dirty="0"/>
              <a:t> ל</a:t>
            </a:r>
            <a:r>
              <a:rPr lang="en-US" dirty="0"/>
              <a:t>VD </a:t>
            </a:r>
            <a:r>
              <a:rPr lang="he-IL" dirty="0"/>
              <a:t>שחי על הזיכרון ולכן הגישה אליו מאד מהירה.</a:t>
            </a:r>
          </a:p>
          <a:p>
            <a:r>
              <a:rPr lang="he-IL" dirty="0"/>
              <a:t>ועליו הם עושים את כל הפעולות.</a:t>
            </a:r>
          </a:p>
          <a:p>
            <a:r>
              <a:rPr lang="he-IL" dirty="0"/>
              <a:t>אחרי שהם עושים את הפעולות של השינויים, </a:t>
            </a:r>
            <a:r>
              <a:rPr lang="he-IL" dirty="0" err="1"/>
              <a:t>ריאקט</a:t>
            </a:r>
            <a:r>
              <a:rPr lang="he-IL" dirty="0"/>
              <a:t> עושה השוואה בין ה</a:t>
            </a:r>
            <a:r>
              <a:rPr lang="en-US" dirty="0" err="1"/>
              <a:t>dom</a:t>
            </a:r>
            <a:r>
              <a:rPr lang="en-US" dirty="0"/>
              <a:t> </a:t>
            </a:r>
            <a:r>
              <a:rPr lang="he-IL" dirty="0"/>
              <a:t> ל </a:t>
            </a:r>
            <a:r>
              <a:rPr lang="en-US" dirty="0"/>
              <a:t>VD</a:t>
            </a:r>
            <a:endParaRPr lang="he-IL" dirty="0"/>
          </a:p>
          <a:p>
            <a:r>
              <a:rPr lang="he-IL" dirty="0"/>
              <a:t>ומשנה רק את החלק הספציפי.</a:t>
            </a:r>
          </a:p>
          <a:p>
            <a:endParaRPr lang="he-IL" dirty="0"/>
          </a:p>
        </p:txBody>
      </p:sp>
    </p:spTree>
    <p:extLst>
      <p:ext uri="{BB962C8B-B14F-4D97-AF65-F5344CB8AC3E}">
        <p14:creationId xmlns:p14="http://schemas.microsoft.com/office/powerpoint/2010/main" val="2571299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E344632B-B8FD-4E2A-9F1E-49948344C2F3}"/>
              </a:ext>
            </a:extLst>
          </p:cNvPr>
          <p:cNvSpPr/>
          <p:nvPr/>
        </p:nvSpPr>
        <p:spPr>
          <a:xfrm>
            <a:off x="3048000" y="213360"/>
            <a:ext cx="8778240" cy="6186309"/>
          </a:xfrm>
          <a:prstGeom prst="rect">
            <a:avLst/>
          </a:prstGeom>
        </p:spPr>
        <p:txBody>
          <a:bodyPr wrap="square">
            <a:spAutoFit/>
          </a:bodyPr>
          <a:lstStyle/>
          <a:p>
            <a:r>
              <a:rPr lang="he-IL" b="0" i="0" dirty="0">
                <a:solidFill>
                  <a:srgbClr val="111111"/>
                </a:solidFill>
                <a:effectLst/>
                <a:latin typeface="-apple-system"/>
              </a:rPr>
              <a:t>הנה הסיבה שהגישה ל-</a:t>
            </a:r>
            <a:r>
              <a:rPr lang="en-US" b="0" i="0" dirty="0">
                <a:solidFill>
                  <a:srgbClr val="111111"/>
                </a:solidFill>
                <a:effectLst/>
                <a:latin typeface="-apple-system"/>
              </a:rPr>
              <a:t>Virtual DOM </a:t>
            </a:r>
            <a:r>
              <a:rPr lang="he-IL" b="0" i="0" dirty="0">
                <a:solidFill>
                  <a:srgbClr val="111111"/>
                </a:solidFill>
                <a:effectLst/>
                <a:latin typeface="-apple-system"/>
              </a:rPr>
              <a:t>מהירה יותר:</a:t>
            </a:r>
          </a:p>
          <a:p>
            <a:r>
              <a:rPr lang="he-IL" b="0" i="0" dirty="0">
                <a:solidFill>
                  <a:srgbClr val="111111"/>
                </a:solidFill>
                <a:effectLst/>
                <a:latin typeface="-apple-system"/>
              </a:rPr>
              <a:t> 1. מניפולציה מופחתת של </a:t>
            </a:r>
            <a:r>
              <a:rPr lang="en-US" b="0" i="0" dirty="0">
                <a:solidFill>
                  <a:srgbClr val="111111"/>
                </a:solidFill>
                <a:effectLst/>
                <a:latin typeface="-apple-system"/>
              </a:rPr>
              <a:t>DOM: </a:t>
            </a:r>
            <a:r>
              <a:rPr lang="he-IL" b="0" i="0" dirty="0">
                <a:solidFill>
                  <a:srgbClr val="111111"/>
                </a:solidFill>
                <a:effectLst/>
                <a:latin typeface="-apple-system"/>
              </a:rPr>
              <a:t>ה- </a:t>
            </a:r>
            <a:r>
              <a:rPr lang="en-US" b="0" i="0" dirty="0">
                <a:solidFill>
                  <a:srgbClr val="111111"/>
                </a:solidFill>
                <a:effectLst/>
                <a:latin typeface="-apple-system"/>
              </a:rPr>
              <a:t>DOM </a:t>
            </a:r>
            <a:r>
              <a:rPr lang="he-IL" b="0" i="0" dirty="0">
                <a:solidFill>
                  <a:srgbClr val="111111"/>
                </a:solidFill>
                <a:effectLst/>
                <a:latin typeface="-apple-system"/>
              </a:rPr>
              <a:t> הווירטואלי מאפשר עדכוני מערכת יעילים. במקום לשנות ישירות את ה-</a:t>
            </a:r>
            <a:r>
              <a:rPr lang="en-US" b="0" i="0" dirty="0">
                <a:solidFill>
                  <a:srgbClr val="111111"/>
                </a:solidFill>
                <a:effectLst/>
                <a:latin typeface="-apple-system"/>
              </a:rPr>
              <a:t>DOM </a:t>
            </a:r>
            <a:r>
              <a:rPr lang="he-IL" b="0" i="0" dirty="0">
                <a:solidFill>
                  <a:srgbClr val="111111"/>
                </a:solidFill>
                <a:effectLst/>
                <a:latin typeface="-apple-system"/>
              </a:rPr>
              <a:t>עבור כל שינוי, ה-</a:t>
            </a:r>
            <a:r>
              <a:rPr lang="en-US" b="0" i="0" dirty="0">
                <a:solidFill>
                  <a:srgbClr val="111111"/>
                </a:solidFill>
                <a:effectLst/>
                <a:latin typeface="-apple-system"/>
              </a:rPr>
              <a:t>Virtual DOM </a:t>
            </a:r>
            <a:r>
              <a:rPr lang="he-IL" b="0" i="0" dirty="0">
                <a:solidFill>
                  <a:srgbClr val="111111"/>
                </a:solidFill>
                <a:effectLst/>
                <a:latin typeface="-apple-system"/>
              </a:rPr>
              <a:t>מחשב את קבוצת השינויים המינימלית הדרושה ומעדכן אותם במכה אחת. זה מפחית את מספר מניפולציות ה-</a:t>
            </a:r>
            <a:r>
              <a:rPr lang="en-US" b="0" i="0" dirty="0">
                <a:solidFill>
                  <a:srgbClr val="111111"/>
                </a:solidFill>
                <a:effectLst/>
                <a:latin typeface="-apple-system"/>
              </a:rPr>
              <a:t>DOM </a:t>
            </a:r>
            <a:r>
              <a:rPr lang="he-IL" b="0" i="0" dirty="0">
                <a:solidFill>
                  <a:srgbClr val="111111"/>
                </a:solidFill>
                <a:effectLst/>
                <a:latin typeface="-apple-system"/>
              </a:rPr>
              <a:t>בפועל, שעלולות להיות יקרות מבחינת ביצועים. </a:t>
            </a:r>
          </a:p>
          <a:p>
            <a:endParaRPr lang="he-IL" dirty="0">
              <a:solidFill>
                <a:srgbClr val="111111"/>
              </a:solidFill>
              <a:latin typeface="-apple-system"/>
            </a:endParaRPr>
          </a:p>
          <a:p>
            <a:r>
              <a:rPr lang="he-IL" dirty="0"/>
              <a:t>2. אלגוריתם הבדל יעיל: ה-</a:t>
            </a:r>
            <a:r>
              <a:rPr lang="en-US" dirty="0"/>
              <a:t>Virtual DOM </a:t>
            </a:r>
            <a:r>
              <a:rPr lang="he-IL" dirty="0"/>
              <a:t>משתמש באלגוריתם הבדל כדי להשוות את המצב הקודם והנוכחי של עץ ה-</a:t>
            </a:r>
            <a:r>
              <a:rPr lang="en-US" dirty="0"/>
              <a:t>Virtual DOM. </a:t>
            </a:r>
            <a:r>
              <a:rPr lang="he-IL" dirty="0"/>
              <a:t>הוא קובע את השינויים המינימליים הנדרשים כדי לסנכרן את ה- </a:t>
            </a:r>
            <a:r>
              <a:rPr lang="en-US" dirty="0"/>
              <a:t>DOM </a:t>
            </a:r>
            <a:r>
              <a:rPr lang="he-IL" dirty="0"/>
              <a:t>הווירטואלי עם ה-</a:t>
            </a:r>
            <a:r>
              <a:rPr lang="en-US" dirty="0"/>
              <a:t>DOM </a:t>
            </a:r>
            <a:r>
              <a:rPr lang="he-IL" dirty="0"/>
              <a:t>בפועל. תהליך זה מהיר יותר מכיוון שהוא פועל על </a:t>
            </a:r>
            <a:r>
              <a:rPr lang="he-IL" dirty="0" err="1"/>
              <a:t>אובייקטי</a:t>
            </a:r>
            <a:r>
              <a:rPr lang="he-IL" dirty="0"/>
              <a:t> </a:t>
            </a:r>
            <a:r>
              <a:rPr lang="en-US" dirty="0"/>
              <a:t>JavaScript </a:t>
            </a:r>
            <a:r>
              <a:rPr lang="he-IL" dirty="0"/>
              <a:t>קלים ולא באינטראקציה ישירה עם מנוע העיבוד של הדפדפן. </a:t>
            </a:r>
            <a:br>
              <a:rPr lang="he-IL" dirty="0"/>
            </a:br>
            <a:endParaRPr lang="he-IL" dirty="0"/>
          </a:p>
          <a:p>
            <a:r>
              <a:rPr lang="he-IL" dirty="0"/>
              <a:t>3. עדכונים במערכת: בעת שימוש ב-</a:t>
            </a:r>
            <a:r>
              <a:rPr lang="en-US" dirty="0"/>
              <a:t>Virtual DOM, </a:t>
            </a:r>
            <a:r>
              <a:rPr lang="he-IL" dirty="0"/>
              <a:t>ניתן לקבץ עדכונים יחד ולהחיל אותם בפעולה אחת. זה ממזער את מספר </a:t>
            </a:r>
            <a:r>
              <a:rPr lang="he-IL" dirty="0" err="1"/>
              <a:t>ההזרמות</a:t>
            </a:r>
            <a:r>
              <a:rPr lang="he-IL" dirty="0"/>
              <a:t> והצבעים מחדש המופעלים על ידי שינוי ה-</a:t>
            </a:r>
            <a:r>
              <a:rPr lang="en-US" dirty="0"/>
              <a:t>DOM </a:t>
            </a:r>
            <a:r>
              <a:rPr lang="he-IL" dirty="0"/>
              <a:t>בפועל, וכתוצאה מכך ביצועים טובים יותר. </a:t>
            </a:r>
            <a:br>
              <a:rPr lang="he-IL" dirty="0"/>
            </a:br>
            <a:br>
              <a:rPr lang="he-IL" dirty="0"/>
            </a:br>
            <a:r>
              <a:rPr lang="he-IL" dirty="0"/>
              <a:t>4. תיאום </a:t>
            </a:r>
            <a:r>
              <a:rPr lang="en-US" dirty="0"/>
              <a:t>DOM </a:t>
            </a:r>
            <a:r>
              <a:rPr lang="he-IL" dirty="0"/>
              <a:t>וירטואלי: ה- </a:t>
            </a:r>
            <a:r>
              <a:rPr lang="en-US" dirty="0"/>
              <a:t>DOM </a:t>
            </a:r>
            <a:r>
              <a:rPr lang="he-IL" dirty="0"/>
              <a:t>הווירטואלי מיישב ביעילות את השינויים בין המצב הקודם והנוכחי על ידי עדכון רק החלקים הדרושים של ה-</a:t>
            </a:r>
            <a:r>
              <a:rPr lang="en-US" dirty="0"/>
              <a:t>DOM. </a:t>
            </a:r>
            <a:r>
              <a:rPr lang="he-IL" dirty="0"/>
              <a:t>העדכון הסלקטיבי הזה מהיר יותר משינוי עץ ה-</a:t>
            </a:r>
            <a:r>
              <a:rPr lang="en-US" dirty="0"/>
              <a:t>DOM </a:t>
            </a:r>
            <a:r>
              <a:rPr lang="he-IL" dirty="0"/>
              <a:t>כולו. </a:t>
            </a:r>
            <a:br>
              <a:rPr lang="he-IL" dirty="0"/>
            </a:br>
            <a:endParaRPr lang="he-IL" dirty="0"/>
          </a:p>
          <a:p>
            <a:r>
              <a:rPr lang="he-IL" dirty="0"/>
              <a:t>5. יעילות זיכרון: ה-</a:t>
            </a:r>
            <a:r>
              <a:rPr lang="en-US" dirty="0"/>
              <a:t>DOM </a:t>
            </a:r>
            <a:r>
              <a:rPr lang="he-IL" dirty="0" err="1"/>
              <a:t>הוירטואלי</a:t>
            </a:r>
            <a:r>
              <a:rPr lang="he-IL" dirty="0"/>
              <a:t> שוכן בזיכרון וניתן לתמרן ולעדכן מהר יותר בהשוואה ל-</a:t>
            </a:r>
            <a:r>
              <a:rPr lang="en-US" dirty="0"/>
              <a:t>DOM </a:t>
            </a:r>
            <a:r>
              <a:rPr lang="he-IL" dirty="0"/>
              <a:t>בפועל, הכרוך באינטראקציה עם מנוע העיבוד של הדפדפן. </a:t>
            </a:r>
            <a:br>
              <a:rPr lang="he-IL" dirty="0"/>
            </a:br>
            <a:endParaRPr lang="he-IL" dirty="0"/>
          </a:p>
        </p:txBody>
      </p:sp>
    </p:spTree>
    <p:extLst>
      <p:ext uri="{BB962C8B-B14F-4D97-AF65-F5344CB8AC3E}">
        <p14:creationId xmlns:p14="http://schemas.microsoft.com/office/powerpoint/2010/main" val="41727842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8180C52A-CCD5-4437-B0BE-7F80F7AF19EB}"/>
              </a:ext>
            </a:extLst>
          </p:cNvPr>
          <p:cNvSpPr/>
          <p:nvPr/>
        </p:nvSpPr>
        <p:spPr>
          <a:xfrm>
            <a:off x="396240" y="277614"/>
            <a:ext cx="11052299" cy="2862322"/>
          </a:xfrm>
          <a:prstGeom prst="rect">
            <a:avLst/>
          </a:prstGeom>
        </p:spPr>
        <p:txBody>
          <a:bodyPr wrap="square">
            <a:spAutoFit/>
          </a:bodyPr>
          <a:lstStyle/>
          <a:p>
            <a:r>
              <a:rPr lang="en-US" b="0" i="0" dirty="0">
                <a:solidFill>
                  <a:srgbClr val="111111"/>
                </a:solidFill>
                <a:effectLst/>
                <a:latin typeface="-apple-system"/>
              </a:rPr>
              <a:t>DOM </a:t>
            </a:r>
            <a:r>
              <a:rPr lang="he-IL" b="0" i="0" dirty="0">
                <a:solidFill>
                  <a:srgbClr val="111111"/>
                </a:solidFill>
                <a:effectLst/>
                <a:latin typeface="-apple-system"/>
              </a:rPr>
              <a:t>הווירטואלי (</a:t>
            </a:r>
            <a:r>
              <a:rPr lang="en-US" b="0" i="0" dirty="0">
                <a:solidFill>
                  <a:srgbClr val="111111"/>
                </a:solidFill>
                <a:effectLst/>
                <a:latin typeface="-apple-system"/>
              </a:rPr>
              <a:t>VDOM) </a:t>
            </a:r>
            <a:r>
              <a:rPr lang="he-IL" b="0" i="0" dirty="0">
                <a:solidFill>
                  <a:srgbClr val="111111"/>
                </a:solidFill>
                <a:effectLst/>
                <a:latin typeface="-apple-system"/>
              </a:rPr>
              <a:t>נמצא בזיכרון.</a:t>
            </a:r>
          </a:p>
          <a:p>
            <a:endParaRPr lang="he-IL" dirty="0">
              <a:solidFill>
                <a:srgbClr val="111111"/>
              </a:solidFill>
              <a:latin typeface="-apple-system"/>
            </a:endParaRPr>
          </a:p>
          <a:p>
            <a:r>
              <a:rPr lang="he-IL" dirty="0"/>
              <a:t>ה-</a:t>
            </a:r>
            <a:r>
              <a:rPr lang="en-US" dirty="0"/>
              <a:t>DOM (Document Object Model) </a:t>
            </a:r>
            <a:r>
              <a:rPr lang="he-IL" dirty="0"/>
              <a:t>הוא ייצוג של מבנה ה-</a:t>
            </a:r>
            <a:r>
              <a:rPr lang="en-US" dirty="0"/>
              <a:t>HTML </a:t>
            </a:r>
            <a:r>
              <a:rPr lang="he-IL" dirty="0"/>
              <a:t>של דף אינטרנט ומהווה חלק בלתי נפרד ממנוע העיבוד של דפדפן האינטרנט. הוא מייצג את המצב הנוכחי של דף האינטרנט ומספק ממשק לתוכניות וסקריפטים לאינטראקציה עם התוכן, המבנה והסגנון של דף האינטרנט ולתפעל אותו. ה-</a:t>
            </a:r>
            <a:r>
              <a:rPr lang="en-US" dirty="0"/>
              <a:t>DOM </a:t>
            </a:r>
            <a:r>
              <a:rPr lang="he-IL" dirty="0"/>
              <a:t>נוצר על ידי הדפדפן כאשר הוא מנתח ומעבד מסמך </a:t>
            </a:r>
            <a:r>
              <a:rPr lang="en-US" dirty="0"/>
              <a:t>HTML. </a:t>
            </a:r>
            <a:r>
              <a:rPr lang="he-IL" dirty="0"/>
              <a:t>הוא בנוי כמבנה דמוי עץ עם צמתים המייצגים אלמנטים שונים (למשל, תגיות </a:t>
            </a:r>
            <a:r>
              <a:rPr lang="en-US" dirty="0"/>
              <a:t>HTML) </a:t>
            </a:r>
            <a:r>
              <a:rPr lang="he-IL" dirty="0"/>
              <a:t>והיחסים ביניהם (הורה, ילד, אח). כל צומת בעץ ה-</a:t>
            </a:r>
            <a:r>
              <a:rPr lang="en-US" dirty="0"/>
              <a:t>DOM </a:t>
            </a:r>
            <a:r>
              <a:rPr lang="he-IL" dirty="0"/>
              <a:t>מייצג אלמנט או פיסת תוכן בדף האינטרנט. ה-</a:t>
            </a:r>
            <a:r>
              <a:rPr lang="en-US" dirty="0"/>
              <a:t>DOM </a:t>
            </a:r>
            <a:r>
              <a:rPr lang="he-IL" dirty="0"/>
              <a:t>משולב היטב עם מנוע </a:t>
            </a:r>
            <a:r>
              <a:rPr lang="he-IL" dirty="0" err="1"/>
              <a:t>הרינדור</a:t>
            </a:r>
            <a:r>
              <a:rPr lang="he-IL" dirty="0"/>
              <a:t> של הדפדפן ואחראי על עיבוד הייצוג החזותי של דף האינטרנט בחלון הדפדפן. הוא מטפל במשימות כמו פריסה, </a:t>
            </a:r>
            <a:r>
              <a:rPr lang="he-IL" dirty="0" err="1"/>
              <a:t>סטיילינג</a:t>
            </a:r>
            <a:r>
              <a:rPr lang="he-IL" dirty="0"/>
              <a:t> וטיפול באירועים. בניגוד ל-</a:t>
            </a:r>
            <a:r>
              <a:rPr lang="en-US" dirty="0"/>
              <a:t>Virtual DOM, </a:t>
            </a:r>
            <a:r>
              <a:rPr lang="he-IL" dirty="0"/>
              <a:t>השוכן בזיכרון כאובייקט </a:t>
            </a:r>
            <a:r>
              <a:rPr lang="en-US" dirty="0"/>
              <a:t>JavaScript, </a:t>
            </a:r>
            <a:r>
              <a:rPr lang="he-IL" dirty="0"/>
              <a:t>ה-</a:t>
            </a:r>
            <a:r>
              <a:rPr lang="en-US" dirty="0"/>
              <a:t>DOM </a:t>
            </a:r>
            <a:r>
              <a:rPr lang="he-IL" dirty="0"/>
              <a:t>בפועל קיים בזיכרון של הדפדפן, מיושם כמבנה נתונים. הוא נוצר ומנוהל על ידי הדפדפן כחלק מתהליך העיבוד שלו.</a:t>
            </a:r>
          </a:p>
        </p:txBody>
      </p:sp>
    </p:spTree>
    <p:extLst>
      <p:ext uri="{BB962C8B-B14F-4D97-AF65-F5344CB8AC3E}">
        <p14:creationId xmlns:p14="http://schemas.microsoft.com/office/powerpoint/2010/main" val="3113264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9FFFAC-4490-4F08-83D2-A7E582219400}"/>
              </a:ext>
            </a:extLst>
          </p:cNvPr>
          <p:cNvSpPr txBox="1"/>
          <p:nvPr/>
        </p:nvSpPr>
        <p:spPr>
          <a:xfrm>
            <a:off x="1148080" y="162560"/>
            <a:ext cx="10901680" cy="4616648"/>
          </a:xfrm>
          <a:prstGeom prst="rect">
            <a:avLst/>
          </a:prstGeom>
          <a:noFill/>
        </p:spPr>
        <p:txBody>
          <a:bodyPr wrap="square" rtlCol="1">
            <a:spAutoFit/>
          </a:bodyPr>
          <a:lstStyle/>
          <a:p>
            <a:r>
              <a:rPr lang="en-US" sz="2400" b="1" u="sng" dirty="0"/>
              <a:t>One Way </a:t>
            </a:r>
            <a:r>
              <a:rPr lang="en-US" sz="2400" b="1" u="sng" dirty="0" err="1"/>
              <a:t>DataFlow</a:t>
            </a:r>
            <a:endParaRPr lang="he-IL" sz="2400" b="1" u="sng" dirty="0"/>
          </a:p>
          <a:p>
            <a:endParaRPr lang="he-IL" dirty="0"/>
          </a:p>
          <a:p>
            <a:r>
              <a:rPr lang="he-IL" dirty="0"/>
              <a:t>אחד הדברים שהופכים אפליקציה למורכבת זה ניהול משתנים.</a:t>
            </a:r>
          </a:p>
          <a:p>
            <a:endParaRPr lang="he-IL" dirty="0"/>
          </a:p>
          <a:p>
            <a:r>
              <a:rPr lang="he-IL" dirty="0"/>
              <a:t>בעבר השתמשו בארכיטקטורות כמו </a:t>
            </a:r>
            <a:r>
              <a:rPr lang="en-US" dirty="0"/>
              <a:t>MVC</a:t>
            </a:r>
            <a:r>
              <a:rPr lang="he-IL" dirty="0"/>
              <a:t> שזה אומר שיש שר דו כיווני בין צד לקוח (</a:t>
            </a:r>
            <a:r>
              <a:rPr lang="en-US" dirty="0"/>
              <a:t>UI</a:t>
            </a:r>
            <a:r>
              <a:rPr lang="he-IL" dirty="0"/>
              <a:t>)</a:t>
            </a:r>
          </a:p>
          <a:p>
            <a:r>
              <a:rPr lang="he-IL" dirty="0"/>
              <a:t>לצד שרת(</a:t>
            </a:r>
            <a:r>
              <a:rPr lang="en-US" dirty="0"/>
              <a:t>BL</a:t>
            </a:r>
            <a:r>
              <a:rPr lang="he-IL" dirty="0"/>
              <a:t>).</a:t>
            </a:r>
          </a:p>
          <a:p>
            <a:r>
              <a:rPr lang="he-IL" dirty="0"/>
              <a:t>זה אומר שכל שינוי שאני עושה ב</a:t>
            </a:r>
            <a:r>
              <a:rPr lang="en-US" dirty="0"/>
              <a:t>UI</a:t>
            </a:r>
            <a:r>
              <a:rPr lang="he-IL" dirty="0"/>
              <a:t>- זה ישר משתנה בקוד.</a:t>
            </a:r>
          </a:p>
          <a:p>
            <a:r>
              <a:rPr lang="he-IL" dirty="0"/>
              <a:t>זו צורת עבודה מאד נוחה, אבל ככל שהאפליקציה גדלה נהיה יותר קשה לעקוב אחר השינויים ולראות מאיפה כל דבר מגיע.</a:t>
            </a:r>
          </a:p>
          <a:p>
            <a:endParaRPr lang="he-IL" dirty="0"/>
          </a:p>
          <a:p>
            <a:r>
              <a:rPr lang="he-IL" dirty="0"/>
              <a:t>בשיטה של </a:t>
            </a:r>
            <a:r>
              <a:rPr lang="en-US" dirty="0"/>
              <a:t>One Way </a:t>
            </a:r>
            <a:r>
              <a:rPr lang="en-US" dirty="0" err="1"/>
              <a:t>DataFlow</a:t>
            </a:r>
            <a:r>
              <a:rPr lang="he-IL" dirty="0"/>
              <a:t> יש משתנים.</a:t>
            </a:r>
          </a:p>
          <a:p>
            <a:r>
              <a:rPr lang="he-IL" dirty="0"/>
              <a:t>ויש האזנה לאירוע מסוים- משנים את המשתנה בהתאם ואח"כ מודיעים ל</a:t>
            </a:r>
            <a:r>
              <a:rPr lang="en-US" dirty="0"/>
              <a:t>UI</a:t>
            </a:r>
            <a:endParaRPr lang="he-IL" dirty="0"/>
          </a:p>
          <a:p>
            <a:r>
              <a:rPr lang="he-IL" dirty="0"/>
              <a:t>וכל דבר באפליקציה שקשור למשתנה הזה- משנה את התצוגה שעל המסך.</a:t>
            </a:r>
          </a:p>
          <a:p>
            <a:endParaRPr lang="he-IL" dirty="0"/>
          </a:p>
          <a:p>
            <a:endParaRPr lang="he-IL" dirty="0"/>
          </a:p>
          <a:p>
            <a:endParaRPr lang="he-IL" dirty="0"/>
          </a:p>
          <a:p>
            <a:endParaRPr lang="en-US" dirty="0"/>
          </a:p>
        </p:txBody>
      </p:sp>
    </p:spTree>
    <p:extLst>
      <p:ext uri="{BB962C8B-B14F-4D97-AF65-F5344CB8AC3E}">
        <p14:creationId xmlns:p14="http://schemas.microsoft.com/office/powerpoint/2010/main" val="1416564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4493BE-A011-4599-8911-130D0CC250E7}"/>
              </a:ext>
            </a:extLst>
          </p:cNvPr>
          <p:cNvSpPr txBox="1"/>
          <p:nvPr/>
        </p:nvSpPr>
        <p:spPr>
          <a:xfrm>
            <a:off x="345440" y="223520"/>
            <a:ext cx="11724640" cy="4247317"/>
          </a:xfrm>
          <a:prstGeom prst="rect">
            <a:avLst/>
          </a:prstGeom>
          <a:noFill/>
        </p:spPr>
        <p:txBody>
          <a:bodyPr wrap="square" rtlCol="1">
            <a:spAutoFit/>
          </a:bodyPr>
          <a:lstStyle/>
          <a:p>
            <a:r>
              <a:rPr lang="he-IL" dirty="0"/>
              <a:t>סביבת העבודה הבסיסית:</a:t>
            </a:r>
          </a:p>
          <a:p>
            <a:r>
              <a:rPr lang="he-IL" dirty="0" err="1"/>
              <a:t>ריאקט</a:t>
            </a:r>
            <a:r>
              <a:rPr lang="he-IL" dirty="0"/>
              <a:t> מורכבת מכמה חלקים – כולם </a:t>
            </a:r>
            <a:r>
              <a:rPr lang="en-US" dirty="0"/>
              <a:t>JS</a:t>
            </a:r>
            <a:r>
              <a:rPr lang="he-IL" dirty="0"/>
              <a:t>.</a:t>
            </a:r>
          </a:p>
          <a:p>
            <a:r>
              <a:rPr lang="he-IL" dirty="0"/>
              <a:t> החלק הראשון הוא הספרייה עצמה: </a:t>
            </a:r>
            <a:r>
              <a:rPr lang="he-IL" dirty="0" err="1"/>
              <a:t>ריאקט</a:t>
            </a:r>
            <a:r>
              <a:rPr lang="he-IL" dirty="0"/>
              <a:t>. מדובר בקובץ </a:t>
            </a:r>
            <a:r>
              <a:rPr lang="en-US" dirty="0"/>
              <a:t>JS</a:t>
            </a:r>
            <a:r>
              <a:rPr lang="he-IL" dirty="0"/>
              <a:t> מרכזי המכיל את כל הפונקציונליות של הספרייה. הקובץ מכיל מודולים של </a:t>
            </a:r>
            <a:r>
              <a:rPr lang="en-US" dirty="0"/>
              <a:t>JS</a:t>
            </a:r>
            <a:r>
              <a:rPr lang="he-IL" dirty="0"/>
              <a:t> וגם משתנים גלובליים ואחרים – ובלעדיו אי-אפשר להשתמש </a:t>
            </a:r>
            <a:r>
              <a:rPr lang="he-IL" dirty="0" err="1"/>
              <a:t>בריאקט</a:t>
            </a:r>
            <a:r>
              <a:rPr lang="he-IL" dirty="0"/>
              <a:t>. כשאנו בונים סביבת עבודה בסיסית, אנו נזקקים </a:t>
            </a:r>
            <a:r>
              <a:rPr lang="he-IL" dirty="0" err="1"/>
              <a:t>לריאקט</a:t>
            </a:r>
            <a:r>
              <a:rPr lang="he-IL" dirty="0"/>
              <a:t>. </a:t>
            </a:r>
            <a:endParaRPr lang="en-US" dirty="0"/>
          </a:p>
          <a:p>
            <a:endParaRPr lang="en-US" dirty="0"/>
          </a:p>
          <a:p>
            <a:r>
              <a:rPr lang="he-IL" dirty="0"/>
              <a:t>החלק השני הוא </a:t>
            </a:r>
            <a:r>
              <a:rPr lang="en-US" dirty="0" err="1"/>
              <a:t>dom</a:t>
            </a:r>
            <a:r>
              <a:rPr lang="en-US" dirty="0"/>
              <a:t>-react. </a:t>
            </a:r>
            <a:r>
              <a:rPr lang="he-IL" dirty="0"/>
              <a:t> גם הוא חלק מהספרייה וגם הוא כתוב </a:t>
            </a:r>
            <a:r>
              <a:rPr lang="en-US" dirty="0"/>
              <a:t>JS</a:t>
            </a:r>
            <a:r>
              <a:rPr lang="he-IL" dirty="0"/>
              <a:t>. הוא מכיל את הפונקציות הקושרות בין </a:t>
            </a:r>
            <a:r>
              <a:rPr lang="he-IL" dirty="0" err="1"/>
              <a:t>ריאקט</a:t>
            </a:r>
            <a:r>
              <a:rPr lang="he-IL" dirty="0"/>
              <a:t> ל-</a:t>
            </a:r>
            <a:r>
              <a:rPr lang="en-US" dirty="0"/>
              <a:t>DOM. </a:t>
            </a:r>
            <a:r>
              <a:rPr lang="he-IL" dirty="0"/>
              <a:t>ראשי התיבות של </a:t>
            </a:r>
            <a:r>
              <a:rPr lang="en-US" dirty="0"/>
              <a:t>DOM </a:t>
            </a:r>
            <a:r>
              <a:rPr lang="he-IL" dirty="0"/>
              <a:t>הם </a:t>
            </a:r>
            <a:r>
              <a:rPr lang="en-US" dirty="0"/>
              <a:t>Object Document Model</a:t>
            </a:r>
          </a:p>
          <a:p>
            <a:endParaRPr lang="en-US" dirty="0"/>
          </a:p>
          <a:p>
            <a:r>
              <a:rPr lang="he-IL" dirty="0"/>
              <a:t>החלק השלישי הוא </a:t>
            </a:r>
            <a:r>
              <a:rPr lang="en-US" dirty="0"/>
              <a:t>babel. </a:t>
            </a:r>
            <a:r>
              <a:rPr lang="he-IL" dirty="0"/>
              <a:t>מה זה? מדובר בספריית </a:t>
            </a:r>
            <a:r>
              <a:rPr lang="en-US" dirty="0"/>
              <a:t>JS</a:t>
            </a:r>
            <a:r>
              <a:rPr lang="he-IL" dirty="0"/>
              <a:t> שימושית ופופולרית מאוד. יש לה כמה תפקידים חשובים. במקור </a:t>
            </a:r>
            <a:r>
              <a:rPr lang="en-US" dirty="0"/>
              <a:t>babel </a:t>
            </a:r>
            <a:r>
              <a:rPr lang="he-IL" dirty="0"/>
              <a:t>סייעה למתכנתים שרצו להתאים את קוד ה</a:t>
            </a:r>
            <a:r>
              <a:rPr lang="en-US" dirty="0"/>
              <a:t>JS</a:t>
            </a:r>
            <a:r>
              <a:rPr lang="he-IL" dirty="0"/>
              <a:t> שלהם לדפדפנים ישנים שלא תמכו בפיצ'רים החדשים של השפה, למשל דפדפנים שלא ידעו מה זה </a:t>
            </a:r>
            <a:r>
              <a:rPr lang="en-US" dirty="0"/>
              <a:t>let </a:t>
            </a:r>
            <a:r>
              <a:rPr lang="he-IL" dirty="0"/>
              <a:t>או </a:t>
            </a:r>
            <a:r>
              <a:rPr lang="en-US" dirty="0"/>
              <a:t>const. </a:t>
            </a:r>
            <a:r>
              <a:rPr lang="he-IL" dirty="0"/>
              <a:t>הספרייה הזו לקחה את כל הקוד המודרני של </a:t>
            </a:r>
            <a:r>
              <a:rPr lang="en-US" dirty="0"/>
              <a:t>JS</a:t>
            </a:r>
            <a:r>
              <a:rPr lang="he-IL" dirty="0"/>
              <a:t> והעבירה אותו תהליך, שבמסגרתו הוא הפך לקוד שתואם גם דפדפנים ישנים. למשל, היא המירה את </a:t>
            </a:r>
            <a:r>
              <a:rPr lang="en-US" dirty="0"/>
              <a:t>let </a:t>
            </a:r>
            <a:r>
              <a:rPr lang="he-IL" dirty="0"/>
              <a:t>ל-</a:t>
            </a:r>
            <a:r>
              <a:rPr lang="en-US" dirty="0"/>
              <a:t>var, </a:t>
            </a:r>
            <a:r>
              <a:rPr lang="he-IL" dirty="0"/>
              <a:t>כך שדפדפן ישן יוכל לעבוד </a:t>
            </a:r>
            <a:r>
              <a:rPr lang="he-IL" dirty="0" err="1"/>
              <a:t>איתו</a:t>
            </a:r>
            <a:r>
              <a:rPr lang="he-IL" dirty="0"/>
              <a:t>.</a:t>
            </a:r>
          </a:p>
          <a:p>
            <a:endParaRPr lang="he-IL" dirty="0"/>
          </a:p>
          <a:p>
            <a:r>
              <a:rPr lang="he-IL" dirty="0"/>
              <a:t>במקרה שלנו, ל-</a:t>
            </a:r>
            <a:r>
              <a:rPr lang="en-US" dirty="0"/>
              <a:t>babel </a:t>
            </a:r>
            <a:r>
              <a:rPr lang="he-IL" dirty="0"/>
              <a:t>יש תפקיד משמעותי בהמרת ה-</a:t>
            </a:r>
            <a:r>
              <a:rPr lang="en-US" dirty="0"/>
              <a:t>JSX </a:t>
            </a:r>
            <a:r>
              <a:rPr lang="he-IL" dirty="0"/>
              <a:t>שלנו, שהוא הסינטקס שבו אנו כותבים </a:t>
            </a:r>
            <a:r>
              <a:rPr lang="he-IL" dirty="0" err="1"/>
              <a:t>בריאקט</a:t>
            </a:r>
            <a:r>
              <a:rPr lang="he-IL" dirty="0"/>
              <a:t> </a:t>
            </a:r>
            <a:r>
              <a:rPr lang="he-IL" dirty="0" err="1"/>
              <a:t>קומפוננטות</a:t>
            </a:r>
            <a:r>
              <a:rPr lang="he-IL" dirty="0"/>
              <a:t> לקוד </a:t>
            </a:r>
            <a:r>
              <a:rPr lang="en-US" dirty="0"/>
              <a:t>HTML </a:t>
            </a:r>
            <a:r>
              <a:rPr lang="he-IL" dirty="0"/>
              <a:t>שהדפדפן יודע לעבוד </a:t>
            </a:r>
            <a:r>
              <a:rPr lang="he-IL" dirty="0" err="1"/>
              <a:t>איתו</a:t>
            </a:r>
            <a:r>
              <a:rPr lang="he-IL" dirty="0"/>
              <a:t>. על </a:t>
            </a:r>
            <a:r>
              <a:rPr lang="en-US" dirty="0"/>
              <a:t>JSX </a:t>
            </a:r>
            <a:r>
              <a:rPr lang="he-IL" dirty="0"/>
              <a:t>נלמד בהרחבה בהמשך</a:t>
            </a:r>
          </a:p>
        </p:txBody>
      </p:sp>
    </p:spTree>
    <p:extLst>
      <p:ext uri="{BB962C8B-B14F-4D97-AF65-F5344CB8AC3E}">
        <p14:creationId xmlns:p14="http://schemas.microsoft.com/office/powerpoint/2010/main" val="2859923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D7931E-7AAF-4D40-84FF-550B9AB3E2EB}"/>
              </a:ext>
            </a:extLst>
          </p:cNvPr>
          <p:cNvSpPr txBox="1"/>
          <p:nvPr/>
        </p:nvSpPr>
        <p:spPr>
          <a:xfrm>
            <a:off x="3017520" y="3105834"/>
            <a:ext cx="4876800" cy="646331"/>
          </a:xfrm>
          <a:prstGeom prst="rect">
            <a:avLst/>
          </a:prstGeom>
          <a:noFill/>
        </p:spPr>
        <p:txBody>
          <a:bodyPr wrap="square" rtlCol="1">
            <a:spAutoFit/>
          </a:bodyPr>
          <a:lstStyle/>
          <a:p>
            <a:r>
              <a:rPr lang="he-IL" sz="3600" dirty="0"/>
              <a:t>מבנה</a:t>
            </a:r>
            <a:r>
              <a:rPr lang="he-IL" dirty="0"/>
              <a:t> </a:t>
            </a:r>
            <a:r>
              <a:rPr lang="he-IL" sz="3600" dirty="0"/>
              <a:t>הפרויקט</a:t>
            </a:r>
            <a:endParaRPr lang="he-IL" dirty="0"/>
          </a:p>
        </p:txBody>
      </p:sp>
      <p:pic>
        <p:nvPicPr>
          <p:cNvPr id="3" name="תמונה 2">
            <a:extLst>
              <a:ext uri="{FF2B5EF4-FFF2-40B4-BE49-F238E27FC236}">
                <a16:creationId xmlns:a16="http://schemas.microsoft.com/office/drawing/2014/main" id="{0ADE4B78-278E-4F2E-A0B5-DDF300CA9FCF}"/>
              </a:ext>
            </a:extLst>
          </p:cNvPr>
          <p:cNvPicPr>
            <a:picLocks noChangeAspect="1"/>
          </p:cNvPicPr>
          <p:nvPr/>
        </p:nvPicPr>
        <p:blipFill>
          <a:blip r:embed="rId2"/>
          <a:stretch>
            <a:fillRect/>
          </a:stretch>
        </p:blipFill>
        <p:spPr>
          <a:xfrm>
            <a:off x="2362678" y="709895"/>
            <a:ext cx="8417081" cy="1850877"/>
          </a:xfrm>
          <a:prstGeom prst="rect">
            <a:avLst/>
          </a:prstGeom>
        </p:spPr>
      </p:pic>
    </p:spTree>
    <p:extLst>
      <p:ext uri="{BB962C8B-B14F-4D97-AF65-F5344CB8AC3E}">
        <p14:creationId xmlns:p14="http://schemas.microsoft.com/office/powerpoint/2010/main" val="1306500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AA8C5E-4E97-476B-89E0-4170235DFED0}"/>
              </a:ext>
            </a:extLst>
          </p:cNvPr>
          <p:cNvSpPr txBox="1"/>
          <p:nvPr/>
        </p:nvSpPr>
        <p:spPr>
          <a:xfrm>
            <a:off x="2164080" y="477520"/>
            <a:ext cx="9712960" cy="2308324"/>
          </a:xfrm>
          <a:prstGeom prst="rect">
            <a:avLst/>
          </a:prstGeom>
          <a:noFill/>
        </p:spPr>
        <p:txBody>
          <a:bodyPr wrap="square" rtlCol="1">
            <a:spAutoFit/>
          </a:bodyPr>
          <a:lstStyle/>
          <a:p>
            <a:r>
              <a:rPr lang="he-IL" dirty="0"/>
              <a:t>בשביל לעבוד עם </a:t>
            </a:r>
            <a:r>
              <a:rPr lang="he-IL" dirty="0" err="1"/>
              <a:t>ריאקט</a:t>
            </a:r>
            <a:r>
              <a:rPr lang="he-IL" dirty="0"/>
              <a:t> נצטרך להתקין קודם </a:t>
            </a:r>
            <a:r>
              <a:rPr lang="en-US" dirty="0"/>
              <a:t>NODE.JS</a:t>
            </a:r>
            <a:endParaRPr lang="he-IL" dirty="0"/>
          </a:p>
          <a:p>
            <a:endParaRPr lang="he-IL" dirty="0"/>
          </a:p>
          <a:p>
            <a:endParaRPr lang="he-IL" dirty="0"/>
          </a:p>
          <a:p>
            <a:r>
              <a:rPr lang="he-IL" dirty="0"/>
              <a:t>יצירת פרויקט חדש היא ע"י הפקודה: </a:t>
            </a:r>
            <a:r>
              <a:rPr lang="en-US" dirty="0" err="1"/>
              <a:t>npx</a:t>
            </a:r>
            <a:r>
              <a:rPr lang="en-US" dirty="0"/>
              <a:t> create-react-app my-app</a:t>
            </a:r>
            <a:br>
              <a:rPr lang="en-US" dirty="0"/>
            </a:br>
            <a:endParaRPr lang="en-US" dirty="0"/>
          </a:p>
          <a:p>
            <a:r>
              <a:rPr lang="he-IL" dirty="0"/>
              <a:t>ה</a:t>
            </a:r>
            <a:r>
              <a:rPr lang="en-US" dirty="0"/>
              <a:t>NPX</a:t>
            </a:r>
            <a:r>
              <a:rPr lang="he-IL" dirty="0"/>
              <a:t>- כלי להרצת חבילות קטנות שמגיע עם </a:t>
            </a:r>
            <a:r>
              <a:rPr lang="en-US" dirty="0"/>
              <a:t>NPM</a:t>
            </a:r>
            <a:r>
              <a:rPr lang="he-IL" dirty="0"/>
              <a:t>, הוא מוריד את החבילה באופן זמני ומריץ אותה פעם אחת.</a:t>
            </a:r>
          </a:p>
          <a:p>
            <a:r>
              <a:rPr lang="he-IL" dirty="0"/>
              <a:t>הרצת הפקודה תיצור תיקייה עם שם הפרויקט שלנו ובתוכו פרויקט התחלתי </a:t>
            </a:r>
            <a:r>
              <a:rPr lang="he-IL" dirty="0" err="1"/>
              <a:t>בריאקט</a:t>
            </a:r>
            <a:endParaRPr lang="he-IL" dirty="0"/>
          </a:p>
          <a:p>
            <a:endParaRPr lang="he-IL" dirty="0"/>
          </a:p>
        </p:txBody>
      </p:sp>
    </p:spTree>
    <p:extLst>
      <p:ext uri="{BB962C8B-B14F-4D97-AF65-F5344CB8AC3E}">
        <p14:creationId xmlns:p14="http://schemas.microsoft.com/office/powerpoint/2010/main" val="157666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1C7D11-5005-4DC8-BC11-F4A6BF78140A}"/>
              </a:ext>
            </a:extLst>
          </p:cNvPr>
          <p:cNvSpPr txBox="1"/>
          <p:nvPr/>
        </p:nvSpPr>
        <p:spPr>
          <a:xfrm>
            <a:off x="711200" y="670560"/>
            <a:ext cx="8971280" cy="646331"/>
          </a:xfrm>
          <a:prstGeom prst="rect">
            <a:avLst/>
          </a:prstGeom>
          <a:noFill/>
        </p:spPr>
        <p:txBody>
          <a:bodyPr wrap="square" rtlCol="1">
            <a:spAutoFit/>
          </a:bodyPr>
          <a:lstStyle/>
          <a:p>
            <a:r>
              <a:rPr lang="en-US" dirty="0" err="1"/>
              <a:t>Packege.json</a:t>
            </a:r>
            <a:r>
              <a:rPr lang="he-IL" dirty="0"/>
              <a:t>- קובץ </a:t>
            </a:r>
            <a:r>
              <a:rPr lang="en-US" dirty="0"/>
              <a:t>JSON</a:t>
            </a:r>
            <a:r>
              <a:rPr lang="he-IL" dirty="0"/>
              <a:t> שמתאר את הפרויקט ומשמש לניהול התלויות של הפרויקט</a:t>
            </a:r>
          </a:p>
          <a:p>
            <a:endParaRPr lang="he-IL" dirty="0"/>
          </a:p>
        </p:txBody>
      </p:sp>
      <p:pic>
        <p:nvPicPr>
          <p:cNvPr id="3" name="תמונה 2">
            <a:extLst>
              <a:ext uri="{FF2B5EF4-FFF2-40B4-BE49-F238E27FC236}">
                <a16:creationId xmlns:a16="http://schemas.microsoft.com/office/drawing/2014/main" id="{2A3A3042-1536-4D39-8B11-5A76C8A4392B}"/>
              </a:ext>
            </a:extLst>
          </p:cNvPr>
          <p:cNvPicPr>
            <a:picLocks noChangeAspect="1"/>
          </p:cNvPicPr>
          <p:nvPr/>
        </p:nvPicPr>
        <p:blipFill>
          <a:blip r:embed="rId2"/>
          <a:stretch>
            <a:fillRect/>
          </a:stretch>
        </p:blipFill>
        <p:spPr>
          <a:xfrm>
            <a:off x="2095294" y="1150588"/>
            <a:ext cx="6174946" cy="1921094"/>
          </a:xfrm>
          <a:prstGeom prst="rect">
            <a:avLst/>
          </a:prstGeom>
        </p:spPr>
      </p:pic>
      <p:sp>
        <p:nvSpPr>
          <p:cNvPr id="4" name="TextBox 3">
            <a:extLst>
              <a:ext uri="{FF2B5EF4-FFF2-40B4-BE49-F238E27FC236}">
                <a16:creationId xmlns:a16="http://schemas.microsoft.com/office/drawing/2014/main" id="{64ECA834-8DB5-4EF5-90FA-74139DB5279E}"/>
              </a:ext>
            </a:extLst>
          </p:cNvPr>
          <p:cNvSpPr txBox="1"/>
          <p:nvPr/>
        </p:nvSpPr>
        <p:spPr>
          <a:xfrm>
            <a:off x="873760" y="3820160"/>
            <a:ext cx="9083040" cy="369332"/>
          </a:xfrm>
          <a:prstGeom prst="rect">
            <a:avLst/>
          </a:prstGeom>
          <a:noFill/>
        </p:spPr>
        <p:txBody>
          <a:bodyPr wrap="square" rtlCol="1">
            <a:spAutoFit/>
          </a:bodyPr>
          <a:lstStyle/>
          <a:p>
            <a:r>
              <a:rPr lang="en-US" dirty="0"/>
              <a:t>Index.js</a:t>
            </a:r>
            <a:r>
              <a:rPr lang="he-IL" dirty="0"/>
              <a:t>- הוא הקובץ הראשון שרץ והוא </a:t>
            </a:r>
            <a:r>
              <a:rPr lang="he-IL" dirty="0" err="1"/>
              <a:t>מרנדר</a:t>
            </a:r>
            <a:r>
              <a:rPr lang="he-IL" dirty="0"/>
              <a:t> את הקובץ </a:t>
            </a:r>
            <a:r>
              <a:rPr lang="en-US" dirty="0"/>
              <a:t>APP</a:t>
            </a:r>
            <a:endParaRPr lang="he-IL" dirty="0"/>
          </a:p>
        </p:txBody>
      </p:sp>
      <p:pic>
        <p:nvPicPr>
          <p:cNvPr id="5" name="תמונה 4">
            <a:extLst>
              <a:ext uri="{FF2B5EF4-FFF2-40B4-BE49-F238E27FC236}">
                <a16:creationId xmlns:a16="http://schemas.microsoft.com/office/drawing/2014/main" id="{DC9C060D-AF02-4F75-8CC8-935C164D952F}"/>
              </a:ext>
            </a:extLst>
          </p:cNvPr>
          <p:cNvPicPr>
            <a:picLocks noChangeAspect="1"/>
          </p:cNvPicPr>
          <p:nvPr/>
        </p:nvPicPr>
        <p:blipFill>
          <a:blip r:embed="rId3"/>
          <a:stretch>
            <a:fillRect/>
          </a:stretch>
        </p:blipFill>
        <p:spPr>
          <a:xfrm>
            <a:off x="1663592" y="4324089"/>
            <a:ext cx="6383128" cy="2368672"/>
          </a:xfrm>
          <a:prstGeom prst="rect">
            <a:avLst/>
          </a:prstGeom>
        </p:spPr>
      </p:pic>
    </p:spTree>
    <p:extLst>
      <p:ext uri="{BB962C8B-B14F-4D97-AF65-F5344CB8AC3E}">
        <p14:creationId xmlns:p14="http://schemas.microsoft.com/office/powerpoint/2010/main" val="30360481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74E8DB-3EB6-43AD-8589-349B7537CF19}"/>
              </a:ext>
            </a:extLst>
          </p:cNvPr>
          <p:cNvSpPr txBox="1"/>
          <p:nvPr/>
        </p:nvSpPr>
        <p:spPr>
          <a:xfrm>
            <a:off x="2143760" y="254000"/>
            <a:ext cx="9743440" cy="5078313"/>
          </a:xfrm>
          <a:prstGeom prst="rect">
            <a:avLst/>
          </a:prstGeom>
          <a:noFill/>
        </p:spPr>
        <p:txBody>
          <a:bodyPr wrap="square" rtlCol="1">
            <a:spAutoFit/>
          </a:bodyPr>
          <a:lstStyle/>
          <a:p>
            <a:r>
              <a:rPr lang="en-US" b="1" u="sng" dirty="0"/>
              <a:t>JSX</a:t>
            </a:r>
          </a:p>
          <a:p>
            <a:endParaRPr lang="en-US" dirty="0"/>
          </a:p>
          <a:p>
            <a:r>
              <a:rPr lang="he-IL" dirty="0"/>
              <a:t>אז מה זה </a:t>
            </a:r>
            <a:r>
              <a:rPr lang="en-US" dirty="0"/>
              <a:t>JSX</a:t>
            </a:r>
            <a:r>
              <a:rPr lang="he-IL" dirty="0"/>
              <a:t>?</a:t>
            </a:r>
          </a:p>
          <a:p>
            <a:endParaRPr lang="he-IL" dirty="0"/>
          </a:p>
          <a:p>
            <a:r>
              <a:rPr lang="he-IL" dirty="0" err="1"/>
              <a:t>בריאקט</a:t>
            </a:r>
            <a:r>
              <a:rPr lang="he-IL" dirty="0"/>
              <a:t> משתמשים בתגיות </a:t>
            </a:r>
            <a:r>
              <a:rPr lang="en-US" dirty="0"/>
              <a:t>HTML</a:t>
            </a:r>
            <a:r>
              <a:rPr lang="he-IL" dirty="0"/>
              <a:t> כדי לראות נתונים על המסך.</a:t>
            </a:r>
          </a:p>
          <a:p>
            <a:r>
              <a:rPr lang="he-IL" dirty="0"/>
              <a:t>למעשה זה לא </a:t>
            </a:r>
            <a:r>
              <a:rPr lang="en-US" dirty="0"/>
              <a:t>HTML</a:t>
            </a:r>
            <a:r>
              <a:rPr lang="he-IL" dirty="0"/>
              <a:t> אלא </a:t>
            </a:r>
            <a:r>
              <a:rPr lang="en-US" dirty="0"/>
              <a:t>JSX</a:t>
            </a:r>
            <a:r>
              <a:rPr lang="he-IL" dirty="0"/>
              <a:t> , אמנם זה נראה כמו </a:t>
            </a:r>
            <a:r>
              <a:rPr lang="en-US" dirty="0"/>
              <a:t>HTML </a:t>
            </a:r>
            <a:r>
              <a:rPr lang="he-IL" dirty="0"/>
              <a:t>אך למעשה </a:t>
            </a:r>
            <a:r>
              <a:rPr lang="en-US" dirty="0"/>
              <a:t>JSX </a:t>
            </a:r>
            <a:r>
              <a:rPr lang="he-IL" dirty="0"/>
              <a:t> זו קריאה לפונקציה.</a:t>
            </a:r>
          </a:p>
          <a:p>
            <a:endParaRPr lang="he-IL" dirty="0"/>
          </a:p>
          <a:p>
            <a:r>
              <a:rPr lang="he-IL" dirty="0" err="1"/>
              <a:t>קומפוננטה</a:t>
            </a:r>
            <a:r>
              <a:rPr lang="he-IL" dirty="0"/>
              <a:t> זה פונקציה והתפקיד שלה זה להחזיר ערך למסך,</a:t>
            </a:r>
          </a:p>
          <a:p>
            <a:r>
              <a:rPr lang="he-IL" dirty="0"/>
              <a:t>איך אומרים לדפדפן מה להציג על המסך? ע"י פקודות </a:t>
            </a:r>
            <a:r>
              <a:rPr lang="en-US" dirty="0"/>
              <a:t>HTML</a:t>
            </a:r>
            <a:r>
              <a:rPr lang="he-IL" dirty="0"/>
              <a:t>.</a:t>
            </a:r>
          </a:p>
          <a:p>
            <a:r>
              <a:rPr lang="he-IL" dirty="0"/>
              <a:t>אבל </a:t>
            </a:r>
            <a:r>
              <a:rPr lang="he-IL" dirty="0" err="1"/>
              <a:t>ריאקט</a:t>
            </a:r>
            <a:r>
              <a:rPr lang="he-IL" dirty="0"/>
              <a:t> זו ספריה ב</a:t>
            </a:r>
            <a:r>
              <a:rPr lang="en-US" dirty="0"/>
              <a:t>JS</a:t>
            </a:r>
            <a:r>
              <a:rPr lang="he-IL" dirty="0"/>
              <a:t>. </a:t>
            </a:r>
          </a:p>
          <a:p>
            <a:r>
              <a:rPr lang="he-IL" dirty="0"/>
              <a:t>אז איך אפשר לכתוב </a:t>
            </a:r>
            <a:r>
              <a:rPr lang="en-US" dirty="0"/>
              <a:t>HTML</a:t>
            </a:r>
            <a:r>
              <a:rPr lang="he-IL" dirty="0"/>
              <a:t> ב</a:t>
            </a:r>
            <a:r>
              <a:rPr lang="en-US" dirty="0"/>
              <a:t>JS</a:t>
            </a:r>
            <a:r>
              <a:rPr lang="he-IL" dirty="0"/>
              <a:t>?</a:t>
            </a:r>
          </a:p>
          <a:p>
            <a:endParaRPr lang="he-IL" dirty="0"/>
          </a:p>
          <a:p>
            <a:r>
              <a:rPr lang="he-IL" dirty="0"/>
              <a:t>אחת הדרכים להחזיר </a:t>
            </a:r>
            <a:r>
              <a:rPr lang="en-US" dirty="0"/>
              <a:t>HTML </a:t>
            </a:r>
            <a:r>
              <a:rPr lang="he-IL" dirty="0"/>
              <a:t>ב</a:t>
            </a:r>
            <a:r>
              <a:rPr lang="en-US" dirty="0"/>
              <a:t>JS</a:t>
            </a:r>
            <a:r>
              <a:rPr lang="he-IL" dirty="0"/>
              <a:t> זה בתוך מחרוזת, אבל </a:t>
            </a:r>
            <a:r>
              <a:rPr lang="he-IL" dirty="0" err="1"/>
              <a:t>ריאקט</a:t>
            </a:r>
            <a:r>
              <a:rPr lang="he-IL" dirty="0"/>
              <a:t> בחרו שלא להציג נתונים בדרך הזאת כי זה מסרבל את הקוד וגם אפשר לאבד יכולות של </a:t>
            </a:r>
            <a:r>
              <a:rPr lang="en-US" dirty="0"/>
              <a:t>JS</a:t>
            </a:r>
            <a:r>
              <a:rPr lang="he-IL" dirty="0"/>
              <a:t>.</a:t>
            </a:r>
          </a:p>
          <a:p>
            <a:endParaRPr lang="he-IL" dirty="0"/>
          </a:p>
          <a:p>
            <a:r>
              <a:rPr lang="he-IL" dirty="0"/>
              <a:t>לכן </a:t>
            </a:r>
            <a:r>
              <a:rPr lang="he-IL" dirty="0" err="1"/>
              <a:t>ריאקט</a:t>
            </a:r>
            <a:r>
              <a:rPr lang="he-IL" dirty="0"/>
              <a:t> בחרו ב</a:t>
            </a:r>
            <a:r>
              <a:rPr lang="en-US" dirty="0"/>
              <a:t>JSX </a:t>
            </a:r>
            <a:r>
              <a:rPr lang="he-IL" dirty="0"/>
              <a:t> שזה ר"ת של </a:t>
            </a:r>
            <a:r>
              <a:rPr lang="en-US" dirty="0"/>
              <a:t>JavaScript XML</a:t>
            </a:r>
          </a:p>
          <a:p>
            <a:endParaRPr lang="he-IL" dirty="0"/>
          </a:p>
          <a:p>
            <a:endParaRPr lang="he-IL" dirty="0"/>
          </a:p>
        </p:txBody>
      </p:sp>
    </p:spTree>
    <p:extLst>
      <p:ext uri="{BB962C8B-B14F-4D97-AF65-F5344CB8AC3E}">
        <p14:creationId xmlns:p14="http://schemas.microsoft.com/office/powerpoint/2010/main" val="1891728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B17D6F-4599-4A60-9C9D-91709D1E0BAF}"/>
              </a:ext>
            </a:extLst>
          </p:cNvPr>
          <p:cNvSpPr txBox="1"/>
          <p:nvPr/>
        </p:nvSpPr>
        <p:spPr>
          <a:xfrm>
            <a:off x="1483360" y="1137920"/>
            <a:ext cx="10292080" cy="646331"/>
          </a:xfrm>
          <a:prstGeom prst="rect">
            <a:avLst/>
          </a:prstGeom>
          <a:noFill/>
        </p:spPr>
        <p:txBody>
          <a:bodyPr wrap="square" rtlCol="1">
            <a:spAutoFit/>
          </a:bodyPr>
          <a:lstStyle/>
          <a:p>
            <a:r>
              <a:rPr lang="he-IL" dirty="0"/>
              <a:t>מה שבפועל זה אומר בשבילנו זה שנמשיך לכתוב ב</a:t>
            </a:r>
            <a:r>
              <a:rPr lang="en-US" dirty="0"/>
              <a:t>HTML</a:t>
            </a:r>
            <a:r>
              <a:rPr lang="he-IL" dirty="0"/>
              <a:t> כמו שאנחנו יודעות ומאחורי הקלעים פועלות פונקציות של </a:t>
            </a:r>
            <a:r>
              <a:rPr lang="en-US" dirty="0"/>
              <a:t>JS</a:t>
            </a:r>
            <a:r>
              <a:rPr lang="he-IL" dirty="0"/>
              <a:t> שממירות את הקוד ל</a:t>
            </a:r>
            <a:r>
              <a:rPr lang="en-US" dirty="0"/>
              <a:t>HTML</a:t>
            </a:r>
            <a:r>
              <a:rPr lang="he-IL" dirty="0"/>
              <a:t> תקין באמצעות ספריה שנקראת </a:t>
            </a:r>
            <a:r>
              <a:rPr lang="en-US" dirty="0"/>
              <a:t>BABEL</a:t>
            </a:r>
            <a:r>
              <a:rPr lang="he-IL" dirty="0"/>
              <a:t> </a:t>
            </a:r>
          </a:p>
        </p:txBody>
      </p:sp>
      <p:sp>
        <p:nvSpPr>
          <p:cNvPr id="3" name="TextBox 2">
            <a:extLst>
              <a:ext uri="{FF2B5EF4-FFF2-40B4-BE49-F238E27FC236}">
                <a16:creationId xmlns:a16="http://schemas.microsoft.com/office/drawing/2014/main" id="{6EBBFFF9-397E-431F-9509-8FC7020CF0F7}"/>
              </a:ext>
            </a:extLst>
          </p:cNvPr>
          <p:cNvSpPr txBox="1"/>
          <p:nvPr/>
        </p:nvSpPr>
        <p:spPr>
          <a:xfrm>
            <a:off x="2773680" y="2194560"/>
            <a:ext cx="8747760" cy="1200329"/>
          </a:xfrm>
          <a:prstGeom prst="rect">
            <a:avLst/>
          </a:prstGeom>
          <a:noFill/>
        </p:spPr>
        <p:txBody>
          <a:bodyPr wrap="square" rtlCol="1">
            <a:spAutoFit/>
          </a:bodyPr>
          <a:lstStyle/>
          <a:p>
            <a:r>
              <a:rPr lang="en-US" dirty="0"/>
              <a:t>BABEL</a:t>
            </a:r>
            <a:endParaRPr lang="he-IL" dirty="0"/>
          </a:p>
          <a:p>
            <a:endParaRPr lang="he-IL" dirty="0"/>
          </a:p>
          <a:p>
            <a:r>
              <a:rPr lang="he-IL" dirty="0"/>
              <a:t>זאת ספריה ב</a:t>
            </a:r>
            <a:r>
              <a:rPr lang="en-US" dirty="0"/>
              <a:t>JS</a:t>
            </a:r>
            <a:r>
              <a:rPr lang="he-IL" dirty="0"/>
              <a:t> שהופכת </a:t>
            </a:r>
            <a:r>
              <a:rPr lang="en-US" dirty="0"/>
              <a:t>JS </a:t>
            </a:r>
            <a:r>
              <a:rPr lang="he-IL" dirty="0"/>
              <a:t>ל </a:t>
            </a:r>
            <a:r>
              <a:rPr lang="en-US" dirty="0"/>
              <a:t>JS </a:t>
            </a:r>
            <a:r>
              <a:rPr lang="he-IL" dirty="0"/>
              <a:t> אחר</a:t>
            </a:r>
          </a:p>
          <a:p>
            <a:r>
              <a:rPr lang="he-IL" dirty="0"/>
              <a:t>הסבר: </a:t>
            </a:r>
          </a:p>
        </p:txBody>
      </p:sp>
      <p:pic>
        <p:nvPicPr>
          <p:cNvPr id="4" name="תמונה 3">
            <a:extLst>
              <a:ext uri="{FF2B5EF4-FFF2-40B4-BE49-F238E27FC236}">
                <a16:creationId xmlns:a16="http://schemas.microsoft.com/office/drawing/2014/main" id="{D2DA3F04-22D3-44AD-B69E-1DE5CBB06B29}"/>
              </a:ext>
            </a:extLst>
          </p:cNvPr>
          <p:cNvPicPr>
            <a:picLocks noChangeAspect="1"/>
          </p:cNvPicPr>
          <p:nvPr/>
        </p:nvPicPr>
        <p:blipFill>
          <a:blip r:embed="rId2"/>
          <a:stretch>
            <a:fillRect/>
          </a:stretch>
        </p:blipFill>
        <p:spPr>
          <a:xfrm>
            <a:off x="859273" y="3654426"/>
            <a:ext cx="4071650" cy="2065654"/>
          </a:xfrm>
          <a:prstGeom prst="rect">
            <a:avLst/>
          </a:prstGeom>
        </p:spPr>
      </p:pic>
      <p:pic>
        <p:nvPicPr>
          <p:cNvPr id="5" name="תמונה 4">
            <a:extLst>
              <a:ext uri="{FF2B5EF4-FFF2-40B4-BE49-F238E27FC236}">
                <a16:creationId xmlns:a16="http://schemas.microsoft.com/office/drawing/2014/main" id="{940D1F04-503F-4FDF-9B5C-723768363B04}"/>
              </a:ext>
            </a:extLst>
          </p:cNvPr>
          <p:cNvPicPr>
            <a:picLocks noChangeAspect="1"/>
          </p:cNvPicPr>
          <p:nvPr/>
        </p:nvPicPr>
        <p:blipFill>
          <a:blip r:embed="rId3"/>
          <a:stretch>
            <a:fillRect/>
          </a:stretch>
        </p:blipFill>
        <p:spPr>
          <a:xfrm>
            <a:off x="6096000" y="3743474"/>
            <a:ext cx="4321323" cy="1976606"/>
          </a:xfrm>
          <a:prstGeom prst="rect">
            <a:avLst/>
          </a:prstGeom>
        </p:spPr>
      </p:pic>
    </p:spTree>
    <p:extLst>
      <p:ext uri="{BB962C8B-B14F-4D97-AF65-F5344CB8AC3E}">
        <p14:creationId xmlns:p14="http://schemas.microsoft.com/office/powerpoint/2010/main" val="5743514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3912D6-93CE-452B-A105-E833A29F3005}"/>
              </a:ext>
            </a:extLst>
          </p:cNvPr>
          <p:cNvSpPr txBox="1"/>
          <p:nvPr/>
        </p:nvSpPr>
        <p:spPr>
          <a:xfrm>
            <a:off x="274320" y="518160"/>
            <a:ext cx="10830560" cy="2308324"/>
          </a:xfrm>
          <a:prstGeom prst="rect">
            <a:avLst/>
          </a:prstGeom>
          <a:noFill/>
        </p:spPr>
        <p:txBody>
          <a:bodyPr wrap="square" rtlCol="1">
            <a:spAutoFit/>
          </a:bodyPr>
          <a:lstStyle/>
          <a:p>
            <a:r>
              <a:rPr lang="he-IL" dirty="0"/>
              <a:t>הזרקת קוד </a:t>
            </a:r>
            <a:r>
              <a:rPr lang="en-US" dirty="0"/>
              <a:t>JavaScript </a:t>
            </a:r>
            <a:r>
              <a:rPr lang="he-IL" dirty="0"/>
              <a:t>בתוך קוד פקד</a:t>
            </a:r>
          </a:p>
          <a:p>
            <a:endParaRPr lang="he-IL" dirty="0"/>
          </a:p>
          <a:p>
            <a:r>
              <a:rPr lang="he-IL" dirty="0"/>
              <a:t>בתוך סוגריים מסולסלים אנחנו יכולים לכתוב קוד </a:t>
            </a:r>
            <a:r>
              <a:rPr lang="en-US" dirty="0"/>
              <a:t>JavaScript </a:t>
            </a:r>
            <a:r>
              <a:rPr lang="he-IL" dirty="0"/>
              <a:t>ובאופן אוטומטי </a:t>
            </a:r>
            <a:r>
              <a:rPr lang="he-IL" dirty="0" err="1"/>
              <a:t>ריאקט</a:t>
            </a:r>
            <a:r>
              <a:rPr lang="he-IL" dirty="0"/>
              <a:t> יריץ את הקוד הזה וישלב את התוצאה ב </a:t>
            </a:r>
            <a:r>
              <a:rPr lang="en-US" dirty="0"/>
              <a:t>Virtual DOM </a:t>
            </a:r>
            <a:r>
              <a:rPr lang="he-IL" dirty="0"/>
              <a:t>שהפונקציה מחזירה.</a:t>
            </a:r>
          </a:p>
          <a:p>
            <a:r>
              <a:rPr lang="he-IL" dirty="0"/>
              <a:t>הרבה פעמים נראה שימוש בפקודות </a:t>
            </a:r>
            <a:r>
              <a:rPr lang="en-US" dirty="0"/>
              <a:t>JavaScript </a:t>
            </a:r>
            <a:r>
              <a:rPr lang="he-IL" dirty="0"/>
              <a:t>כדי להכניס או להוריד אלמנטים לעמוד לפי תנאי מסוים, או לבצע דברים בלולאה או כל רעיון יצירתי אחר. לדוגמא הקוד הבא מגריל מספר ולפי המספר מחליט איזה טקסט להציג:</a:t>
            </a:r>
          </a:p>
          <a:p>
            <a:br>
              <a:rPr lang="he-IL" dirty="0"/>
            </a:br>
            <a:endParaRPr lang="he-IL" dirty="0"/>
          </a:p>
        </p:txBody>
      </p:sp>
      <p:pic>
        <p:nvPicPr>
          <p:cNvPr id="3" name="תמונה 2">
            <a:extLst>
              <a:ext uri="{FF2B5EF4-FFF2-40B4-BE49-F238E27FC236}">
                <a16:creationId xmlns:a16="http://schemas.microsoft.com/office/drawing/2014/main" id="{FF37AD3D-40F9-4B05-9C90-FE9CE29A3BA4}"/>
              </a:ext>
            </a:extLst>
          </p:cNvPr>
          <p:cNvPicPr>
            <a:picLocks noChangeAspect="1"/>
          </p:cNvPicPr>
          <p:nvPr/>
        </p:nvPicPr>
        <p:blipFill>
          <a:blip r:embed="rId2"/>
          <a:stretch>
            <a:fillRect/>
          </a:stretch>
        </p:blipFill>
        <p:spPr>
          <a:xfrm>
            <a:off x="2075960" y="2743200"/>
            <a:ext cx="7545560" cy="3756517"/>
          </a:xfrm>
          <a:prstGeom prst="rect">
            <a:avLst/>
          </a:prstGeom>
        </p:spPr>
      </p:pic>
    </p:spTree>
    <p:extLst>
      <p:ext uri="{BB962C8B-B14F-4D97-AF65-F5344CB8AC3E}">
        <p14:creationId xmlns:p14="http://schemas.microsoft.com/office/powerpoint/2010/main" val="36724835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3136B7-3661-4062-A427-F11A5FD397C2}"/>
              </a:ext>
            </a:extLst>
          </p:cNvPr>
          <p:cNvSpPr txBox="1"/>
          <p:nvPr/>
        </p:nvSpPr>
        <p:spPr>
          <a:xfrm>
            <a:off x="3545840" y="609600"/>
            <a:ext cx="7477760" cy="1200329"/>
          </a:xfrm>
          <a:prstGeom prst="rect">
            <a:avLst/>
          </a:prstGeom>
          <a:noFill/>
        </p:spPr>
        <p:txBody>
          <a:bodyPr wrap="square" rtlCol="1">
            <a:spAutoFit/>
          </a:bodyPr>
          <a:lstStyle/>
          <a:p>
            <a:r>
              <a:rPr lang="he-IL" dirty="0"/>
              <a:t>תרגיל:</a:t>
            </a:r>
          </a:p>
          <a:p>
            <a:endParaRPr lang="he-IL" dirty="0"/>
          </a:p>
          <a:p>
            <a:r>
              <a:rPr lang="he-IL" dirty="0"/>
              <a:t>הציגי </a:t>
            </a:r>
            <a:r>
              <a:rPr lang="he-IL" dirty="0" err="1"/>
              <a:t>בקומפוננטת</a:t>
            </a:r>
            <a:r>
              <a:rPr lang="he-IL" dirty="0"/>
              <a:t> </a:t>
            </a:r>
            <a:r>
              <a:rPr lang="en-US" dirty="0"/>
              <a:t>APP</a:t>
            </a:r>
            <a:r>
              <a:rPr lang="he-IL" dirty="0"/>
              <a:t> את המסך הבא:</a:t>
            </a:r>
          </a:p>
          <a:p>
            <a:endParaRPr lang="he-IL" dirty="0"/>
          </a:p>
        </p:txBody>
      </p:sp>
      <p:pic>
        <p:nvPicPr>
          <p:cNvPr id="3" name="תמונה 2">
            <a:extLst>
              <a:ext uri="{FF2B5EF4-FFF2-40B4-BE49-F238E27FC236}">
                <a16:creationId xmlns:a16="http://schemas.microsoft.com/office/drawing/2014/main" id="{8D87B62F-0A4C-4965-B7B4-78954170E1F4}"/>
              </a:ext>
            </a:extLst>
          </p:cNvPr>
          <p:cNvPicPr>
            <a:picLocks noChangeAspect="1"/>
          </p:cNvPicPr>
          <p:nvPr/>
        </p:nvPicPr>
        <p:blipFill>
          <a:blip r:embed="rId2"/>
          <a:stretch>
            <a:fillRect/>
          </a:stretch>
        </p:blipFill>
        <p:spPr>
          <a:xfrm>
            <a:off x="4914839" y="2044628"/>
            <a:ext cx="3802441" cy="4456625"/>
          </a:xfrm>
          <a:prstGeom prst="rect">
            <a:avLst/>
          </a:prstGeom>
        </p:spPr>
      </p:pic>
    </p:spTree>
    <p:extLst>
      <p:ext uri="{BB962C8B-B14F-4D97-AF65-F5344CB8AC3E}">
        <p14:creationId xmlns:p14="http://schemas.microsoft.com/office/powerpoint/2010/main" val="7127521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05530A-FB96-4202-A166-F8F7ED220230}"/>
              </a:ext>
            </a:extLst>
          </p:cNvPr>
          <p:cNvSpPr txBox="1"/>
          <p:nvPr/>
        </p:nvSpPr>
        <p:spPr>
          <a:xfrm>
            <a:off x="4043680" y="721360"/>
            <a:ext cx="7416800" cy="2585323"/>
          </a:xfrm>
          <a:prstGeom prst="rect">
            <a:avLst/>
          </a:prstGeom>
          <a:noFill/>
        </p:spPr>
        <p:txBody>
          <a:bodyPr wrap="square" rtlCol="1">
            <a:spAutoFit/>
          </a:bodyPr>
          <a:lstStyle/>
          <a:p>
            <a:r>
              <a:rPr lang="he-IL" dirty="0"/>
              <a:t>תרגיל:</a:t>
            </a:r>
          </a:p>
          <a:p>
            <a:endParaRPr lang="he-IL" dirty="0"/>
          </a:p>
          <a:p>
            <a:r>
              <a:rPr lang="he-IL" dirty="0"/>
              <a:t>תצרי 2 כפתורים על המסך.</a:t>
            </a:r>
          </a:p>
          <a:p>
            <a:r>
              <a:rPr lang="he-IL" dirty="0"/>
              <a:t>כפתור אחד בצבע אדום, אחד בצבע ירוק.</a:t>
            </a:r>
          </a:p>
          <a:p>
            <a:r>
              <a:rPr lang="he-IL" dirty="0"/>
              <a:t>עצבי כרצונך</a:t>
            </a:r>
            <a:r>
              <a:rPr lang="he-IL" dirty="0">
                <a:sym typeface="Wingdings" panose="05000000000000000000" pitchFamily="2" charset="2"/>
              </a:rPr>
              <a:t> (מינימום 2 עיצובים)</a:t>
            </a:r>
          </a:p>
          <a:p>
            <a:endParaRPr lang="he-IL" dirty="0">
              <a:sym typeface="Wingdings" panose="05000000000000000000" pitchFamily="2" charset="2"/>
            </a:endParaRPr>
          </a:p>
          <a:p>
            <a:r>
              <a:rPr lang="he-IL" dirty="0"/>
              <a:t>בלחיצה על הכפתור הירוק יוצג </a:t>
            </a:r>
            <a:r>
              <a:rPr lang="en-US" dirty="0"/>
              <a:t>alert</a:t>
            </a:r>
            <a:r>
              <a:rPr lang="he-IL" dirty="0"/>
              <a:t> עם המחרוזת שלום.</a:t>
            </a:r>
          </a:p>
          <a:p>
            <a:r>
              <a:rPr lang="he-IL" dirty="0"/>
              <a:t>בלחיצה על הכפתור הירוק יוצג </a:t>
            </a:r>
            <a:r>
              <a:rPr lang="en-US" dirty="0"/>
              <a:t>alert</a:t>
            </a:r>
            <a:r>
              <a:rPr lang="he-IL" dirty="0"/>
              <a:t> עם המחרוזת להתראות.</a:t>
            </a:r>
          </a:p>
          <a:p>
            <a:endParaRPr lang="he-IL" dirty="0"/>
          </a:p>
        </p:txBody>
      </p:sp>
    </p:spTree>
    <p:extLst>
      <p:ext uri="{BB962C8B-B14F-4D97-AF65-F5344CB8AC3E}">
        <p14:creationId xmlns:p14="http://schemas.microsoft.com/office/powerpoint/2010/main" val="42717644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3D2993-BB51-447A-9B7F-1E80E76D722F}"/>
              </a:ext>
            </a:extLst>
          </p:cNvPr>
          <p:cNvSpPr txBox="1"/>
          <p:nvPr/>
        </p:nvSpPr>
        <p:spPr>
          <a:xfrm>
            <a:off x="1239520" y="558800"/>
            <a:ext cx="7904480" cy="1477328"/>
          </a:xfrm>
          <a:prstGeom prst="rect">
            <a:avLst/>
          </a:prstGeom>
          <a:noFill/>
        </p:spPr>
        <p:txBody>
          <a:bodyPr wrap="square" rtlCol="1">
            <a:spAutoFit/>
          </a:bodyPr>
          <a:lstStyle/>
          <a:p>
            <a:r>
              <a:rPr lang="en-US" dirty="0"/>
              <a:t>Virtual DOM</a:t>
            </a:r>
          </a:p>
          <a:p>
            <a:endParaRPr lang="en-US" dirty="0"/>
          </a:p>
          <a:p>
            <a:r>
              <a:rPr lang="he-IL" dirty="0"/>
              <a:t>כל אתר </a:t>
            </a:r>
            <a:r>
              <a:rPr lang="he-IL" dirty="0" err="1"/>
              <a:t>בריאקט</a:t>
            </a:r>
            <a:r>
              <a:rPr lang="he-IL" dirty="0"/>
              <a:t> מכיל לפחות </a:t>
            </a:r>
            <a:r>
              <a:rPr lang="he-IL" dirty="0" err="1"/>
              <a:t>קומפ</a:t>
            </a:r>
            <a:r>
              <a:rPr lang="he-IL" dirty="0"/>
              <a:t>' אחת שהיא ה</a:t>
            </a:r>
            <a:r>
              <a:rPr lang="en-US" dirty="0"/>
              <a:t>root-component</a:t>
            </a:r>
            <a:endParaRPr lang="he-IL" dirty="0"/>
          </a:p>
          <a:p>
            <a:endParaRPr lang="en-US" dirty="0"/>
          </a:p>
          <a:p>
            <a:endParaRPr lang="he-IL" dirty="0"/>
          </a:p>
        </p:txBody>
      </p:sp>
      <p:pic>
        <p:nvPicPr>
          <p:cNvPr id="3" name="תמונה 2">
            <a:extLst>
              <a:ext uri="{FF2B5EF4-FFF2-40B4-BE49-F238E27FC236}">
                <a16:creationId xmlns:a16="http://schemas.microsoft.com/office/drawing/2014/main" id="{B2D781BD-517D-4B09-A2CC-B3FBB6C829E4}"/>
              </a:ext>
            </a:extLst>
          </p:cNvPr>
          <p:cNvPicPr>
            <a:picLocks noChangeAspect="1"/>
          </p:cNvPicPr>
          <p:nvPr/>
        </p:nvPicPr>
        <p:blipFill>
          <a:blip r:embed="rId2"/>
          <a:stretch>
            <a:fillRect/>
          </a:stretch>
        </p:blipFill>
        <p:spPr>
          <a:xfrm>
            <a:off x="3221284" y="1590973"/>
            <a:ext cx="4617140" cy="1284307"/>
          </a:xfrm>
          <a:prstGeom prst="rect">
            <a:avLst/>
          </a:prstGeom>
        </p:spPr>
      </p:pic>
      <p:sp>
        <p:nvSpPr>
          <p:cNvPr id="4" name="TextBox 3">
            <a:extLst>
              <a:ext uri="{FF2B5EF4-FFF2-40B4-BE49-F238E27FC236}">
                <a16:creationId xmlns:a16="http://schemas.microsoft.com/office/drawing/2014/main" id="{4ACE53B6-394A-4CBB-AF1A-366753F7078C}"/>
              </a:ext>
            </a:extLst>
          </p:cNvPr>
          <p:cNvSpPr txBox="1"/>
          <p:nvPr/>
        </p:nvSpPr>
        <p:spPr>
          <a:xfrm>
            <a:off x="1371600" y="3357880"/>
            <a:ext cx="7772400" cy="369332"/>
          </a:xfrm>
          <a:prstGeom prst="rect">
            <a:avLst/>
          </a:prstGeom>
          <a:noFill/>
        </p:spPr>
        <p:txBody>
          <a:bodyPr wrap="square" rtlCol="1">
            <a:spAutoFit/>
          </a:bodyPr>
          <a:lstStyle/>
          <a:p>
            <a:r>
              <a:rPr lang="he-IL" dirty="0"/>
              <a:t>וכל </a:t>
            </a:r>
            <a:r>
              <a:rPr lang="he-IL" dirty="0" err="1"/>
              <a:t>קומפ</a:t>
            </a:r>
            <a:r>
              <a:rPr lang="he-IL" dirty="0"/>
              <a:t>' יכולה להכיל עוד </a:t>
            </a:r>
            <a:r>
              <a:rPr lang="he-IL" dirty="0" err="1"/>
              <a:t>קומפ</a:t>
            </a:r>
            <a:r>
              <a:rPr lang="he-IL" dirty="0"/>
              <a:t>', בסופו של דבר כל המערכת זה עץ של </a:t>
            </a:r>
            <a:r>
              <a:rPr lang="he-IL" dirty="0" err="1"/>
              <a:t>קומפוננטות</a:t>
            </a:r>
            <a:endParaRPr lang="he-IL" dirty="0"/>
          </a:p>
        </p:txBody>
      </p:sp>
      <p:pic>
        <p:nvPicPr>
          <p:cNvPr id="5" name="תמונה 4">
            <a:extLst>
              <a:ext uri="{FF2B5EF4-FFF2-40B4-BE49-F238E27FC236}">
                <a16:creationId xmlns:a16="http://schemas.microsoft.com/office/drawing/2014/main" id="{9606D934-BBF5-44EE-9304-3AB62EE212C2}"/>
              </a:ext>
            </a:extLst>
          </p:cNvPr>
          <p:cNvPicPr>
            <a:picLocks noChangeAspect="1"/>
          </p:cNvPicPr>
          <p:nvPr/>
        </p:nvPicPr>
        <p:blipFill>
          <a:blip r:embed="rId3"/>
          <a:stretch>
            <a:fillRect/>
          </a:stretch>
        </p:blipFill>
        <p:spPr>
          <a:xfrm>
            <a:off x="3756604" y="3907453"/>
            <a:ext cx="3324916" cy="2826178"/>
          </a:xfrm>
          <a:prstGeom prst="rect">
            <a:avLst/>
          </a:prstGeom>
        </p:spPr>
      </p:pic>
    </p:spTree>
    <p:extLst>
      <p:ext uri="{BB962C8B-B14F-4D97-AF65-F5344CB8AC3E}">
        <p14:creationId xmlns:p14="http://schemas.microsoft.com/office/powerpoint/2010/main" val="3968888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C81356-6A0C-4CE1-9437-1D9669CB094C}"/>
              </a:ext>
            </a:extLst>
          </p:cNvPr>
          <p:cNvSpPr txBox="1"/>
          <p:nvPr/>
        </p:nvSpPr>
        <p:spPr>
          <a:xfrm>
            <a:off x="3017520" y="1036320"/>
            <a:ext cx="7853680" cy="369332"/>
          </a:xfrm>
          <a:prstGeom prst="rect">
            <a:avLst/>
          </a:prstGeom>
          <a:noFill/>
        </p:spPr>
        <p:txBody>
          <a:bodyPr wrap="square" rtlCol="1">
            <a:spAutoFit/>
          </a:bodyPr>
          <a:lstStyle/>
          <a:p>
            <a:r>
              <a:rPr lang="he-IL" dirty="0"/>
              <a:t>העץ </a:t>
            </a:r>
            <a:r>
              <a:rPr lang="he-IL" dirty="0" err="1"/>
              <a:t>שריאקט</a:t>
            </a:r>
            <a:r>
              <a:rPr lang="he-IL" dirty="0"/>
              <a:t> יוצרת נקראת </a:t>
            </a:r>
            <a:r>
              <a:rPr lang="en-US" dirty="0"/>
              <a:t>virtual </a:t>
            </a:r>
            <a:r>
              <a:rPr lang="en-US" dirty="0" err="1"/>
              <a:t>dom</a:t>
            </a:r>
            <a:endParaRPr lang="he-IL" dirty="0"/>
          </a:p>
        </p:txBody>
      </p:sp>
      <p:pic>
        <p:nvPicPr>
          <p:cNvPr id="3" name="תמונה 2">
            <a:extLst>
              <a:ext uri="{FF2B5EF4-FFF2-40B4-BE49-F238E27FC236}">
                <a16:creationId xmlns:a16="http://schemas.microsoft.com/office/drawing/2014/main" id="{9D9C9E90-3138-4BF4-9633-EC780BA1FA1A}"/>
              </a:ext>
            </a:extLst>
          </p:cNvPr>
          <p:cNvPicPr>
            <a:picLocks noChangeAspect="1"/>
          </p:cNvPicPr>
          <p:nvPr/>
        </p:nvPicPr>
        <p:blipFill>
          <a:blip r:embed="rId2"/>
          <a:stretch>
            <a:fillRect/>
          </a:stretch>
        </p:blipFill>
        <p:spPr>
          <a:xfrm>
            <a:off x="2675829" y="357848"/>
            <a:ext cx="3277931" cy="2923560"/>
          </a:xfrm>
          <a:prstGeom prst="rect">
            <a:avLst/>
          </a:prstGeom>
        </p:spPr>
      </p:pic>
      <p:sp>
        <p:nvSpPr>
          <p:cNvPr id="4" name="TextBox 3">
            <a:extLst>
              <a:ext uri="{FF2B5EF4-FFF2-40B4-BE49-F238E27FC236}">
                <a16:creationId xmlns:a16="http://schemas.microsoft.com/office/drawing/2014/main" id="{331DF1E2-9917-423B-A43A-9865F54165AE}"/>
              </a:ext>
            </a:extLst>
          </p:cNvPr>
          <p:cNvSpPr txBox="1"/>
          <p:nvPr/>
        </p:nvSpPr>
        <p:spPr>
          <a:xfrm>
            <a:off x="5140960" y="4023360"/>
            <a:ext cx="5405120" cy="369332"/>
          </a:xfrm>
          <a:prstGeom prst="rect">
            <a:avLst/>
          </a:prstGeom>
          <a:noFill/>
        </p:spPr>
        <p:txBody>
          <a:bodyPr wrap="square" rtlCol="1">
            <a:spAutoFit/>
          </a:bodyPr>
          <a:lstStyle/>
          <a:p>
            <a:r>
              <a:rPr lang="he-IL" dirty="0"/>
              <a:t>שהוא </a:t>
            </a:r>
            <a:r>
              <a:rPr lang="he-IL" dirty="0" err="1"/>
              <a:t>אוביקט</a:t>
            </a:r>
            <a:r>
              <a:rPr lang="he-IL" dirty="0"/>
              <a:t> ב</a:t>
            </a:r>
            <a:r>
              <a:rPr lang="en-US" dirty="0"/>
              <a:t>JS </a:t>
            </a:r>
            <a:r>
              <a:rPr lang="he-IL" dirty="0"/>
              <a:t> שמייצג את ה</a:t>
            </a:r>
            <a:r>
              <a:rPr lang="en-US" dirty="0" err="1"/>
              <a:t>dom</a:t>
            </a:r>
            <a:r>
              <a:rPr lang="en-US" dirty="0"/>
              <a:t>  </a:t>
            </a:r>
            <a:r>
              <a:rPr lang="he-IL" dirty="0"/>
              <a:t> </a:t>
            </a:r>
            <a:r>
              <a:rPr lang="he-IL" dirty="0" err="1"/>
              <a:t>האמיתי</a:t>
            </a:r>
            <a:r>
              <a:rPr lang="he-IL" dirty="0"/>
              <a:t>:</a:t>
            </a:r>
          </a:p>
        </p:txBody>
      </p:sp>
      <p:pic>
        <p:nvPicPr>
          <p:cNvPr id="5" name="תמונה 4">
            <a:extLst>
              <a:ext uri="{FF2B5EF4-FFF2-40B4-BE49-F238E27FC236}">
                <a16:creationId xmlns:a16="http://schemas.microsoft.com/office/drawing/2014/main" id="{E370DDBF-AE0D-40E2-9D75-13AA436131CF}"/>
              </a:ext>
            </a:extLst>
          </p:cNvPr>
          <p:cNvPicPr>
            <a:picLocks noChangeAspect="1"/>
          </p:cNvPicPr>
          <p:nvPr/>
        </p:nvPicPr>
        <p:blipFill>
          <a:blip r:embed="rId3"/>
          <a:stretch>
            <a:fillRect/>
          </a:stretch>
        </p:blipFill>
        <p:spPr>
          <a:xfrm>
            <a:off x="799828" y="3959880"/>
            <a:ext cx="5296172" cy="2025754"/>
          </a:xfrm>
          <a:prstGeom prst="rect">
            <a:avLst/>
          </a:prstGeom>
        </p:spPr>
      </p:pic>
    </p:spTree>
    <p:extLst>
      <p:ext uri="{BB962C8B-B14F-4D97-AF65-F5344CB8AC3E}">
        <p14:creationId xmlns:p14="http://schemas.microsoft.com/office/powerpoint/2010/main" val="40534003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732F097C-D4C8-454B-8B52-523C5E8EF92E}"/>
              </a:ext>
            </a:extLst>
          </p:cNvPr>
          <p:cNvPicPr>
            <a:picLocks noChangeAspect="1"/>
          </p:cNvPicPr>
          <p:nvPr/>
        </p:nvPicPr>
        <p:blipFill>
          <a:blip r:embed="rId2"/>
          <a:stretch>
            <a:fillRect/>
          </a:stretch>
        </p:blipFill>
        <p:spPr>
          <a:xfrm>
            <a:off x="3978166" y="434327"/>
            <a:ext cx="4235668" cy="482625"/>
          </a:xfrm>
          <a:prstGeom prst="rect">
            <a:avLst/>
          </a:prstGeom>
        </p:spPr>
      </p:pic>
      <p:pic>
        <p:nvPicPr>
          <p:cNvPr id="3" name="תמונה 2">
            <a:extLst>
              <a:ext uri="{FF2B5EF4-FFF2-40B4-BE49-F238E27FC236}">
                <a16:creationId xmlns:a16="http://schemas.microsoft.com/office/drawing/2014/main" id="{1E1DAF02-5658-4BC6-A10A-E03BC5D756F4}"/>
              </a:ext>
            </a:extLst>
          </p:cNvPr>
          <p:cNvPicPr>
            <a:picLocks noChangeAspect="1"/>
          </p:cNvPicPr>
          <p:nvPr/>
        </p:nvPicPr>
        <p:blipFill>
          <a:blip r:embed="rId3"/>
          <a:stretch>
            <a:fillRect/>
          </a:stretch>
        </p:blipFill>
        <p:spPr>
          <a:xfrm>
            <a:off x="6284600" y="1492826"/>
            <a:ext cx="5161983" cy="4095174"/>
          </a:xfrm>
          <a:prstGeom prst="rect">
            <a:avLst/>
          </a:prstGeom>
        </p:spPr>
      </p:pic>
      <p:sp>
        <p:nvSpPr>
          <p:cNvPr id="4" name="TextBox 3">
            <a:extLst>
              <a:ext uri="{FF2B5EF4-FFF2-40B4-BE49-F238E27FC236}">
                <a16:creationId xmlns:a16="http://schemas.microsoft.com/office/drawing/2014/main" id="{07FC37F6-6926-4647-8A0F-29C7CB6ABCA1}"/>
              </a:ext>
            </a:extLst>
          </p:cNvPr>
          <p:cNvSpPr txBox="1"/>
          <p:nvPr/>
        </p:nvSpPr>
        <p:spPr>
          <a:xfrm>
            <a:off x="2590800" y="1137920"/>
            <a:ext cx="7833360" cy="369332"/>
          </a:xfrm>
          <a:prstGeom prst="rect">
            <a:avLst/>
          </a:prstGeom>
          <a:noFill/>
        </p:spPr>
        <p:txBody>
          <a:bodyPr wrap="square" rtlCol="1">
            <a:spAutoFit/>
          </a:bodyPr>
          <a:lstStyle/>
          <a:p>
            <a:r>
              <a:rPr lang="he-IL" dirty="0"/>
              <a:t>תבנית סטנדרטית של </a:t>
            </a:r>
            <a:r>
              <a:rPr lang="he-IL" dirty="0" err="1"/>
              <a:t>אוביקט</a:t>
            </a:r>
            <a:r>
              <a:rPr lang="he-IL" dirty="0"/>
              <a:t> </a:t>
            </a:r>
            <a:r>
              <a:rPr lang="he-IL" dirty="0" err="1"/>
              <a:t>יחודי</a:t>
            </a:r>
            <a:r>
              <a:rPr lang="he-IL" dirty="0"/>
              <a:t> שמייצג את ה</a:t>
            </a:r>
            <a:r>
              <a:rPr lang="en-US" dirty="0"/>
              <a:t>HTML</a:t>
            </a:r>
            <a:endParaRPr lang="he-IL" dirty="0"/>
          </a:p>
        </p:txBody>
      </p:sp>
      <p:pic>
        <p:nvPicPr>
          <p:cNvPr id="5" name="תמונה 4">
            <a:extLst>
              <a:ext uri="{FF2B5EF4-FFF2-40B4-BE49-F238E27FC236}">
                <a16:creationId xmlns:a16="http://schemas.microsoft.com/office/drawing/2014/main" id="{2DE1FED6-1A6C-4588-912E-A9D9D390239A}"/>
              </a:ext>
            </a:extLst>
          </p:cNvPr>
          <p:cNvPicPr>
            <a:picLocks noChangeAspect="1"/>
          </p:cNvPicPr>
          <p:nvPr/>
        </p:nvPicPr>
        <p:blipFill>
          <a:blip r:embed="rId4"/>
          <a:stretch>
            <a:fillRect/>
          </a:stretch>
        </p:blipFill>
        <p:spPr>
          <a:xfrm>
            <a:off x="1063346" y="1492826"/>
            <a:ext cx="4911874" cy="4095174"/>
          </a:xfrm>
          <a:prstGeom prst="rect">
            <a:avLst/>
          </a:prstGeom>
        </p:spPr>
      </p:pic>
    </p:spTree>
    <p:extLst>
      <p:ext uri="{BB962C8B-B14F-4D97-AF65-F5344CB8AC3E}">
        <p14:creationId xmlns:p14="http://schemas.microsoft.com/office/powerpoint/2010/main" val="13548028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3D5EF7-419C-452C-9D5D-CBDAEDAD528F}"/>
              </a:ext>
            </a:extLst>
          </p:cNvPr>
          <p:cNvSpPr txBox="1"/>
          <p:nvPr/>
        </p:nvSpPr>
        <p:spPr>
          <a:xfrm>
            <a:off x="1072448" y="523417"/>
            <a:ext cx="9580880" cy="646331"/>
          </a:xfrm>
          <a:prstGeom prst="rect">
            <a:avLst/>
          </a:prstGeom>
          <a:noFill/>
        </p:spPr>
        <p:txBody>
          <a:bodyPr wrap="square" rtlCol="1">
            <a:spAutoFit/>
          </a:bodyPr>
          <a:lstStyle/>
          <a:p>
            <a:r>
              <a:rPr lang="he-IL" dirty="0"/>
              <a:t>בכל פעם שמשהו משתנה לי בעמוד</a:t>
            </a:r>
            <a:r>
              <a:rPr lang="en-US" dirty="0"/>
              <a:t> </a:t>
            </a:r>
            <a:r>
              <a:rPr lang="he-IL" dirty="0"/>
              <a:t> </a:t>
            </a:r>
            <a:r>
              <a:rPr lang="he-IL" dirty="0" err="1"/>
              <a:t>ריאקט</a:t>
            </a:r>
            <a:r>
              <a:rPr lang="he-IL" dirty="0"/>
              <a:t> יוצרת עוד </a:t>
            </a:r>
            <a:r>
              <a:rPr lang="en-US" dirty="0"/>
              <a:t>VD</a:t>
            </a:r>
            <a:r>
              <a:rPr lang="he-IL" dirty="0"/>
              <a:t> ומשווה בין ה</a:t>
            </a:r>
            <a:r>
              <a:rPr lang="en-US" dirty="0"/>
              <a:t>VD</a:t>
            </a:r>
            <a:r>
              <a:rPr lang="he-IL" dirty="0"/>
              <a:t> הקודם לנוכחי.</a:t>
            </a:r>
            <a:br>
              <a:rPr lang="en-US" dirty="0"/>
            </a:br>
            <a:r>
              <a:rPr lang="he-IL" dirty="0"/>
              <a:t>ומוצאת את החלק שהשתנה ומעדכנת את ה</a:t>
            </a:r>
            <a:r>
              <a:rPr lang="en-US" dirty="0"/>
              <a:t>DOM</a:t>
            </a:r>
            <a:r>
              <a:rPr lang="he-IL" dirty="0"/>
              <a:t> רק בחלק שהשתנה.</a:t>
            </a:r>
          </a:p>
        </p:txBody>
      </p:sp>
      <p:pic>
        <p:nvPicPr>
          <p:cNvPr id="3" name="תמונה 2">
            <a:extLst>
              <a:ext uri="{FF2B5EF4-FFF2-40B4-BE49-F238E27FC236}">
                <a16:creationId xmlns:a16="http://schemas.microsoft.com/office/drawing/2014/main" id="{96239A1D-142D-46B4-BBB7-88F51A8655B8}"/>
              </a:ext>
            </a:extLst>
          </p:cNvPr>
          <p:cNvPicPr>
            <a:picLocks noChangeAspect="1"/>
          </p:cNvPicPr>
          <p:nvPr/>
        </p:nvPicPr>
        <p:blipFill>
          <a:blip r:embed="rId2"/>
          <a:stretch>
            <a:fillRect/>
          </a:stretch>
        </p:blipFill>
        <p:spPr>
          <a:xfrm>
            <a:off x="1072448" y="1666165"/>
            <a:ext cx="4231072" cy="4694329"/>
          </a:xfrm>
          <a:prstGeom prst="rect">
            <a:avLst/>
          </a:prstGeom>
        </p:spPr>
      </p:pic>
      <p:pic>
        <p:nvPicPr>
          <p:cNvPr id="4" name="תמונה 3">
            <a:extLst>
              <a:ext uri="{FF2B5EF4-FFF2-40B4-BE49-F238E27FC236}">
                <a16:creationId xmlns:a16="http://schemas.microsoft.com/office/drawing/2014/main" id="{935F7928-EFA5-4599-AD52-212B3668E33B}"/>
              </a:ext>
            </a:extLst>
          </p:cNvPr>
          <p:cNvPicPr>
            <a:picLocks noChangeAspect="1"/>
          </p:cNvPicPr>
          <p:nvPr/>
        </p:nvPicPr>
        <p:blipFill>
          <a:blip r:embed="rId3"/>
          <a:stretch>
            <a:fillRect/>
          </a:stretch>
        </p:blipFill>
        <p:spPr>
          <a:xfrm>
            <a:off x="6888482" y="1666165"/>
            <a:ext cx="4622798" cy="4668418"/>
          </a:xfrm>
          <a:prstGeom prst="rect">
            <a:avLst/>
          </a:prstGeom>
        </p:spPr>
      </p:pic>
      <p:pic>
        <p:nvPicPr>
          <p:cNvPr id="5" name="תמונה 4">
            <a:extLst>
              <a:ext uri="{FF2B5EF4-FFF2-40B4-BE49-F238E27FC236}">
                <a16:creationId xmlns:a16="http://schemas.microsoft.com/office/drawing/2014/main" id="{1B406E28-A12B-4928-861E-F092D39D4F07}"/>
              </a:ext>
            </a:extLst>
          </p:cNvPr>
          <p:cNvPicPr>
            <a:picLocks noChangeAspect="1"/>
          </p:cNvPicPr>
          <p:nvPr/>
        </p:nvPicPr>
        <p:blipFill>
          <a:blip r:embed="rId4"/>
          <a:stretch>
            <a:fillRect/>
          </a:stretch>
        </p:blipFill>
        <p:spPr>
          <a:xfrm>
            <a:off x="5387938" y="3308323"/>
            <a:ext cx="1416123" cy="1054154"/>
          </a:xfrm>
          <a:prstGeom prst="rect">
            <a:avLst/>
          </a:prstGeom>
        </p:spPr>
      </p:pic>
    </p:spTree>
    <p:extLst>
      <p:ext uri="{BB962C8B-B14F-4D97-AF65-F5344CB8AC3E}">
        <p14:creationId xmlns:p14="http://schemas.microsoft.com/office/powerpoint/2010/main" val="6540809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6B5F7E-75A0-4466-98EC-C7CAFD833774}"/>
              </a:ext>
            </a:extLst>
          </p:cNvPr>
          <p:cNvSpPr txBox="1"/>
          <p:nvPr/>
        </p:nvSpPr>
        <p:spPr>
          <a:xfrm>
            <a:off x="2540000" y="822960"/>
            <a:ext cx="8341360" cy="3416320"/>
          </a:xfrm>
          <a:prstGeom prst="rect">
            <a:avLst/>
          </a:prstGeom>
          <a:noFill/>
        </p:spPr>
        <p:txBody>
          <a:bodyPr wrap="square" rtlCol="1">
            <a:spAutoFit/>
          </a:bodyPr>
          <a:lstStyle/>
          <a:p>
            <a:r>
              <a:rPr lang="he-IL" dirty="0"/>
              <a:t>עיצוב </a:t>
            </a:r>
            <a:r>
              <a:rPr lang="he-IL" dirty="0" err="1"/>
              <a:t>בריאקט</a:t>
            </a:r>
            <a:endParaRPr lang="he-IL" dirty="0"/>
          </a:p>
          <a:p>
            <a:endParaRPr lang="he-IL" dirty="0"/>
          </a:p>
          <a:p>
            <a:endParaRPr lang="he-IL" dirty="0"/>
          </a:p>
          <a:p>
            <a:r>
              <a:rPr lang="he-IL" dirty="0"/>
              <a:t>ע"י הוספת עמוד </a:t>
            </a:r>
            <a:r>
              <a:rPr lang="en-US" dirty="0"/>
              <a:t>CSS</a:t>
            </a:r>
            <a:endParaRPr lang="he-IL" dirty="0"/>
          </a:p>
          <a:p>
            <a:endParaRPr lang="he-IL" dirty="0"/>
          </a:p>
          <a:p>
            <a:r>
              <a:rPr lang="he-IL" dirty="0"/>
              <a:t>ניצור עמוד </a:t>
            </a:r>
            <a:r>
              <a:rPr lang="en-US" dirty="0"/>
              <a:t>CSS</a:t>
            </a:r>
            <a:r>
              <a:rPr lang="he-IL" dirty="0"/>
              <a:t> חדש ונייבא אותו לדף </a:t>
            </a:r>
            <a:r>
              <a:rPr lang="en-US" dirty="0"/>
              <a:t>JS </a:t>
            </a:r>
            <a:r>
              <a:rPr lang="he-IL" dirty="0"/>
              <a:t>שלנו.</a:t>
            </a:r>
          </a:p>
          <a:p>
            <a:endParaRPr lang="he-IL" dirty="0"/>
          </a:p>
          <a:p>
            <a:endParaRPr lang="he-IL" dirty="0"/>
          </a:p>
          <a:p>
            <a:endParaRPr lang="he-IL" dirty="0"/>
          </a:p>
          <a:p>
            <a:endParaRPr lang="he-IL" dirty="0"/>
          </a:p>
          <a:p>
            <a:r>
              <a:rPr lang="he-IL" dirty="0"/>
              <a:t>ע"י הוספת תגית </a:t>
            </a:r>
            <a:r>
              <a:rPr lang="en-US" dirty="0"/>
              <a:t>STYLE</a:t>
            </a:r>
            <a:endParaRPr lang="he-IL" dirty="0"/>
          </a:p>
          <a:p>
            <a:endParaRPr lang="he-IL" dirty="0"/>
          </a:p>
        </p:txBody>
      </p:sp>
    </p:spTree>
    <p:extLst>
      <p:ext uri="{BB962C8B-B14F-4D97-AF65-F5344CB8AC3E}">
        <p14:creationId xmlns:p14="http://schemas.microsoft.com/office/powerpoint/2010/main" val="19458355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60008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28ED191F-DB87-42FB-B104-5D3E8A30924A}"/>
              </a:ext>
            </a:extLst>
          </p:cNvPr>
          <p:cNvPicPr>
            <a:picLocks noChangeAspect="1"/>
          </p:cNvPicPr>
          <p:nvPr/>
        </p:nvPicPr>
        <p:blipFill>
          <a:blip r:embed="rId2"/>
          <a:stretch>
            <a:fillRect/>
          </a:stretch>
        </p:blipFill>
        <p:spPr>
          <a:xfrm>
            <a:off x="3857510" y="425405"/>
            <a:ext cx="4476980" cy="1739989"/>
          </a:xfrm>
          <a:prstGeom prst="rect">
            <a:avLst/>
          </a:prstGeom>
        </p:spPr>
      </p:pic>
      <p:pic>
        <p:nvPicPr>
          <p:cNvPr id="3" name="תמונה 2">
            <a:extLst>
              <a:ext uri="{FF2B5EF4-FFF2-40B4-BE49-F238E27FC236}">
                <a16:creationId xmlns:a16="http://schemas.microsoft.com/office/drawing/2014/main" id="{1EF2E69C-7ABC-4FA1-95A2-D42D24209F15}"/>
              </a:ext>
            </a:extLst>
          </p:cNvPr>
          <p:cNvPicPr>
            <a:picLocks noChangeAspect="1"/>
          </p:cNvPicPr>
          <p:nvPr/>
        </p:nvPicPr>
        <p:blipFill>
          <a:blip r:embed="rId3"/>
          <a:stretch>
            <a:fillRect/>
          </a:stretch>
        </p:blipFill>
        <p:spPr>
          <a:xfrm>
            <a:off x="6791846" y="2694836"/>
            <a:ext cx="4419827" cy="2349621"/>
          </a:xfrm>
          <a:prstGeom prst="rect">
            <a:avLst/>
          </a:prstGeom>
        </p:spPr>
      </p:pic>
      <p:pic>
        <p:nvPicPr>
          <p:cNvPr id="4" name="תמונה 3">
            <a:extLst>
              <a:ext uri="{FF2B5EF4-FFF2-40B4-BE49-F238E27FC236}">
                <a16:creationId xmlns:a16="http://schemas.microsoft.com/office/drawing/2014/main" id="{C61BD2A6-3A4A-4C01-B1B3-C6DCBE19EC5D}"/>
              </a:ext>
            </a:extLst>
          </p:cNvPr>
          <p:cNvPicPr>
            <a:picLocks noChangeAspect="1"/>
          </p:cNvPicPr>
          <p:nvPr/>
        </p:nvPicPr>
        <p:blipFill>
          <a:blip r:embed="rId4"/>
          <a:stretch>
            <a:fillRect/>
          </a:stretch>
        </p:blipFill>
        <p:spPr>
          <a:xfrm>
            <a:off x="508000" y="2725315"/>
            <a:ext cx="5630152" cy="2349621"/>
          </a:xfrm>
          <a:prstGeom prst="rect">
            <a:avLst/>
          </a:prstGeom>
        </p:spPr>
      </p:pic>
    </p:spTree>
    <p:extLst>
      <p:ext uri="{BB962C8B-B14F-4D97-AF65-F5344CB8AC3E}">
        <p14:creationId xmlns:p14="http://schemas.microsoft.com/office/powerpoint/2010/main" val="40247252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תמונה 4">
            <a:extLst>
              <a:ext uri="{FF2B5EF4-FFF2-40B4-BE49-F238E27FC236}">
                <a16:creationId xmlns:a16="http://schemas.microsoft.com/office/drawing/2014/main" id="{AE7A302C-D324-4D52-BDAD-335DB3B5E952}"/>
              </a:ext>
            </a:extLst>
          </p:cNvPr>
          <p:cNvPicPr>
            <a:picLocks noChangeAspect="1"/>
          </p:cNvPicPr>
          <p:nvPr/>
        </p:nvPicPr>
        <p:blipFill>
          <a:blip r:embed="rId2"/>
          <a:stretch>
            <a:fillRect/>
          </a:stretch>
        </p:blipFill>
        <p:spPr>
          <a:xfrm>
            <a:off x="1920240" y="401261"/>
            <a:ext cx="9113520" cy="3633023"/>
          </a:xfrm>
          <a:prstGeom prst="rect">
            <a:avLst/>
          </a:prstGeom>
        </p:spPr>
      </p:pic>
    </p:spTree>
    <p:extLst>
      <p:ext uri="{BB962C8B-B14F-4D97-AF65-F5344CB8AC3E}">
        <p14:creationId xmlns:p14="http://schemas.microsoft.com/office/powerpoint/2010/main" val="3041081387"/>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5582</TotalTime>
  <Words>1767</Words>
  <Application>Microsoft Office PowerPoint</Application>
  <PresentationFormat>מסך רחב</PresentationFormat>
  <Paragraphs>163</Paragraphs>
  <Slides>29</Slides>
  <Notes>0</Notes>
  <HiddenSlides>0</HiddenSlides>
  <MMClips>0</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29</vt:i4>
      </vt:variant>
    </vt:vector>
  </HeadingPairs>
  <TitlesOfParts>
    <vt:vector size="35" baseType="lpstr">
      <vt:lpstr>-apple-system</vt:lpstr>
      <vt:lpstr>Arial</vt:lpstr>
      <vt:lpstr>Calibri</vt:lpstr>
      <vt:lpstr>Calibri Light</vt:lpstr>
      <vt:lpstr>Wingdings</vt:lpstr>
      <vt:lpstr>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חווי שפיעצקי</dc:creator>
  <cp:lastModifiedBy>שרי הירשמן</cp:lastModifiedBy>
  <cp:revision>30</cp:revision>
  <dcterms:created xsi:type="dcterms:W3CDTF">2023-08-31T16:18:54Z</dcterms:created>
  <dcterms:modified xsi:type="dcterms:W3CDTF">2025-10-22T16:40:09Z</dcterms:modified>
</cp:coreProperties>
</file>